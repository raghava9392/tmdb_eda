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86" r:id="rId4"/>
    <p:sldId id="259" r:id="rId5"/>
    <p:sldId id="260" r:id="rId6"/>
    <p:sldId id="264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89" r:id="rId19"/>
    <p:sldId id="274" r:id="rId20"/>
    <p:sldId id="275" r:id="rId21"/>
    <p:sldId id="276" r:id="rId22"/>
    <p:sldId id="277" r:id="rId23"/>
    <p:sldId id="288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E75DD6-35CD-43C5-A524-923CD135289D}" v="1300" dt="2025-11-20T19:21:12.525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3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391077" y="6220922"/>
            <a:ext cx="2472138" cy="40793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7013" y="1131909"/>
            <a:ext cx="8521005" cy="10551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48116" y="2572854"/>
            <a:ext cx="8362167" cy="29762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7" Type="http://schemas.openxmlformats.org/officeDocument/2006/relationships/image" Target="../media/image11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jpg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57656"/>
            <a:ext cx="10058400" cy="50672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560022" y="5228274"/>
            <a:ext cx="6872605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b="1" dirty="0">
                <a:latin typeface="Times New Roman"/>
                <a:cs typeface="Times New Roman"/>
              </a:rPr>
              <a:t>Title:</a:t>
            </a:r>
            <a:r>
              <a:rPr sz="1950" b="1" spc="40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Web</a:t>
            </a:r>
            <a:r>
              <a:rPr sz="1950" spc="60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Scraping</a:t>
            </a:r>
            <a:r>
              <a:rPr sz="1950" spc="35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and</a:t>
            </a:r>
            <a:r>
              <a:rPr sz="1950" spc="40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Exploratory</a:t>
            </a:r>
            <a:r>
              <a:rPr sz="1950" spc="15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Data</a:t>
            </a:r>
            <a:r>
              <a:rPr sz="1950" spc="45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Analysis</a:t>
            </a:r>
            <a:r>
              <a:rPr sz="1950" spc="60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of</a:t>
            </a:r>
            <a:r>
              <a:rPr sz="1950" spc="55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TMDB</a:t>
            </a:r>
            <a:r>
              <a:rPr sz="1950" spc="40" dirty="0">
                <a:latin typeface="Times New Roman"/>
                <a:cs typeface="Times New Roman"/>
              </a:rPr>
              <a:t> </a:t>
            </a:r>
            <a:r>
              <a:rPr sz="1950" spc="-20" dirty="0">
                <a:latin typeface="Times New Roman"/>
                <a:cs typeface="Times New Roman"/>
              </a:rPr>
              <a:t>Data</a:t>
            </a:r>
            <a:endParaRPr sz="195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47388" y="3502152"/>
            <a:ext cx="1565147" cy="156667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8165" rIns="0" bIns="0" rtlCol="0">
            <a:spAutoFit/>
          </a:bodyPr>
          <a:lstStyle/>
          <a:p>
            <a:pPr marL="257810">
              <a:lnSpc>
                <a:spcPct val="100000"/>
              </a:lnSpc>
              <a:spcBef>
                <a:spcPts val="135"/>
              </a:spcBef>
            </a:pPr>
            <a:r>
              <a:rPr b="1" dirty="0">
                <a:latin typeface="Times New Roman"/>
                <a:cs typeface="Times New Roman"/>
              </a:rPr>
              <a:t>About</a:t>
            </a:r>
            <a:r>
              <a:rPr b="1" spc="25" dirty="0">
                <a:latin typeface="Times New Roman"/>
                <a:cs typeface="Times New Roman"/>
              </a:rPr>
              <a:t> </a:t>
            </a:r>
            <a:r>
              <a:rPr b="1" spc="-25" dirty="0">
                <a:latin typeface="Times New Roman"/>
                <a:cs typeface="Times New Roman"/>
              </a:rPr>
              <a:t>Us: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9873" y="2783823"/>
            <a:ext cx="6801713" cy="1650452"/>
          </a:xfrm>
          <a:prstGeom prst="rect">
            <a:avLst/>
          </a:prstGeom>
        </p:spPr>
        <p:txBody>
          <a:bodyPr vert="horz" wrap="square" lIns="0" tIns="16510" rIns="0" bIns="0" rtlCol="0" anchor="t">
            <a:spAutoFit/>
          </a:bodyPr>
          <a:lstStyle/>
          <a:p>
            <a:pPr marL="295910" indent="-283210">
              <a:lnSpc>
                <a:spcPct val="100000"/>
              </a:lnSpc>
              <a:spcBef>
                <a:spcPts val="130"/>
              </a:spcBef>
              <a:buSzPct val="74358"/>
              <a:buFont typeface="Arial MT"/>
              <a:buChar char="•"/>
              <a:tabLst>
                <a:tab pos="295910" algn="l"/>
              </a:tabLst>
            </a:pPr>
            <a:r>
              <a:rPr sz="2400" dirty="0">
                <a:latin typeface="Times New Roman"/>
                <a:cs typeface="Calibri"/>
              </a:rPr>
              <a:t>Sai</a:t>
            </a:r>
            <a:r>
              <a:rPr sz="2400" spc="30" dirty="0">
                <a:latin typeface="Times New Roman"/>
                <a:cs typeface="Calibri"/>
              </a:rPr>
              <a:t> </a:t>
            </a:r>
            <a:r>
              <a:rPr sz="2400" dirty="0">
                <a:latin typeface="Times New Roman"/>
                <a:cs typeface="Calibri"/>
              </a:rPr>
              <a:t>Deepak</a:t>
            </a:r>
            <a:r>
              <a:rPr sz="2400" spc="25" dirty="0">
                <a:latin typeface="Times New Roman"/>
                <a:cs typeface="Calibri"/>
              </a:rPr>
              <a:t> </a:t>
            </a:r>
            <a:r>
              <a:rPr sz="2400" dirty="0">
                <a:latin typeface="Times New Roman"/>
                <a:cs typeface="Calibri"/>
              </a:rPr>
              <a:t>Vanga</a:t>
            </a:r>
            <a:r>
              <a:rPr sz="2400" spc="30" dirty="0">
                <a:latin typeface="Times New Roman"/>
                <a:cs typeface="Calibri"/>
              </a:rPr>
              <a:t> </a:t>
            </a:r>
            <a:r>
              <a:rPr sz="2400" dirty="0">
                <a:latin typeface="Times New Roman"/>
                <a:cs typeface="Calibri"/>
              </a:rPr>
              <a:t>-</a:t>
            </a:r>
            <a:r>
              <a:rPr sz="2400" spc="40" dirty="0">
                <a:latin typeface="Times New Roman"/>
                <a:cs typeface="Calibri"/>
              </a:rPr>
              <a:t> </a:t>
            </a:r>
            <a:r>
              <a:rPr sz="2400" dirty="0">
                <a:latin typeface="Times New Roman"/>
                <a:cs typeface="Calibri"/>
              </a:rPr>
              <a:t>B.Tech</a:t>
            </a:r>
            <a:r>
              <a:rPr sz="2400" spc="35" dirty="0">
                <a:latin typeface="Times New Roman"/>
                <a:cs typeface="Calibri"/>
              </a:rPr>
              <a:t> </a:t>
            </a:r>
            <a:r>
              <a:rPr sz="2400" spc="-25" dirty="0">
                <a:latin typeface="Times New Roman"/>
                <a:cs typeface="Calibri"/>
              </a:rPr>
              <a:t>CSE</a:t>
            </a:r>
            <a:endParaRPr sz="2400" dirty="0">
              <a:latin typeface="Times New Roman"/>
              <a:cs typeface="Calibri"/>
            </a:endParaRPr>
          </a:p>
          <a:p>
            <a:pPr marL="295910" indent="-283210">
              <a:lnSpc>
                <a:spcPct val="100000"/>
              </a:lnSpc>
              <a:spcBef>
                <a:spcPts val="2039"/>
              </a:spcBef>
              <a:buSzPct val="74358"/>
              <a:buFont typeface="Arial MT"/>
              <a:buChar char="•"/>
              <a:tabLst>
                <a:tab pos="295910" algn="l"/>
              </a:tabLst>
            </a:pPr>
            <a:r>
              <a:rPr sz="2400" dirty="0">
                <a:latin typeface="Times New Roman"/>
                <a:cs typeface="Calibri"/>
              </a:rPr>
              <a:t>Govardhan</a:t>
            </a:r>
            <a:r>
              <a:rPr sz="2400" spc="35" dirty="0">
                <a:latin typeface="Times New Roman"/>
                <a:cs typeface="Calibri"/>
              </a:rPr>
              <a:t> </a:t>
            </a:r>
            <a:r>
              <a:rPr sz="2400" dirty="0">
                <a:latin typeface="Times New Roman"/>
                <a:cs typeface="Calibri"/>
              </a:rPr>
              <a:t>Yapamanu</a:t>
            </a:r>
            <a:r>
              <a:rPr sz="2400" spc="35" dirty="0">
                <a:latin typeface="Times New Roman"/>
                <a:cs typeface="Calibri"/>
              </a:rPr>
              <a:t> </a:t>
            </a:r>
            <a:r>
              <a:rPr sz="2400" dirty="0">
                <a:latin typeface="Times New Roman"/>
                <a:cs typeface="Calibri"/>
              </a:rPr>
              <a:t>-</a:t>
            </a:r>
            <a:r>
              <a:rPr sz="2400" spc="80" dirty="0">
                <a:latin typeface="Times New Roman"/>
                <a:cs typeface="Calibri"/>
              </a:rPr>
              <a:t> </a:t>
            </a:r>
            <a:r>
              <a:rPr sz="2400" dirty="0">
                <a:latin typeface="Times New Roman"/>
                <a:cs typeface="Calibri"/>
              </a:rPr>
              <a:t>B.Tech</a:t>
            </a:r>
            <a:r>
              <a:rPr sz="2400" spc="60" dirty="0">
                <a:latin typeface="Times New Roman"/>
                <a:cs typeface="Calibri"/>
              </a:rPr>
              <a:t> </a:t>
            </a:r>
            <a:r>
              <a:rPr sz="2400" spc="-25" dirty="0">
                <a:latin typeface="Times New Roman"/>
                <a:cs typeface="Calibri"/>
              </a:rPr>
              <a:t>CSE</a:t>
            </a:r>
            <a:endParaRPr sz="2400" dirty="0">
              <a:latin typeface="Times New Roman"/>
              <a:cs typeface="Calibri"/>
            </a:endParaRPr>
          </a:p>
          <a:p>
            <a:pPr marL="295910" indent="-283210">
              <a:lnSpc>
                <a:spcPct val="100000"/>
              </a:lnSpc>
              <a:spcBef>
                <a:spcPts val="2050"/>
              </a:spcBef>
              <a:buSzPct val="74358"/>
              <a:buFont typeface="Arial MT"/>
              <a:buChar char="•"/>
              <a:tabLst>
                <a:tab pos="295910" algn="l"/>
              </a:tabLst>
            </a:pPr>
            <a:r>
              <a:rPr sz="2400" dirty="0">
                <a:latin typeface="Times New Roman"/>
                <a:cs typeface="Calibri"/>
              </a:rPr>
              <a:t>Pothula</a:t>
            </a:r>
            <a:r>
              <a:rPr sz="2400" spc="45" dirty="0">
                <a:latin typeface="Times New Roman"/>
                <a:cs typeface="Calibri"/>
              </a:rPr>
              <a:t> </a:t>
            </a:r>
            <a:r>
              <a:rPr sz="2400" dirty="0">
                <a:latin typeface="Times New Roman"/>
                <a:cs typeface="Calibri"/>
              </a:rPr>
              <a:t>Raghavendra</a:t>
            </a:r>
            <a:r>
              <a:rPr sz="2400" spc="25" dirty="0">
                <a:latin typeface="Times New Roman"/>
                <a:cs typeface="Calibri"/>
              </a:rPr>
              <a:t> </a:t>
            </a:r>
            <a:r>
              <a:rPr sz="2400" dirty="0">
                <a:latin typeface="Times New Roman"/>
                <a:cs typeface="Calibri"/>
              </a:rPr>
              <a:t>Reddy</a:t>
            </a:r>
            <a:r>
              <a:rPr sz="2400" spc="40" dirty="0">
                <a:latin typeface="Times New Roman"/>
                <a:cs typeface="Calibri"/>
              </a:rPr>
              <a:t> </a:t>
            </a:r>
            <a:r>
              <a:rPr sz="2400" dirty="0">
                <a:latin typeface="Times New Roman"/>
                <a:cs typeface="Calibri"/>
              </a:rPr>
              <a:t>–</a:t>
            </a:r>
            <a:r>
              <a:rPr sz="2400" spc="70" dirty="0">
                <a:latin typeface="Times New Roman"/>
                <a:cs typeface="Calibri"/>
              </a:rPr>
              <a:t> </a:t>
            </a:r>
            <a:r>
              <a:rPr sz="2400" dirty="0">
                <a:latin typeface="Times New Roman"/>
                <a:cs typeface="Calibri"/>
              </a:rPr>
              <a:t>B.Tech</a:t>
            </a:r>
            <a:r>
              <a:rPr sz="2400" spc="55" dirty="0">
                <a:latin typeface="Times New Roman"/>
                <a:cs typeface="Calibri"/>
              </a:rPr>
              <a:t> </a:t>
            </a:r>
            <a:r>
              <a:rPr sz="2400" spc="-25" dirty="0">
                <a:latin typeface="Times New Roman"/>
                <a:cs typeface="Calibri"/>
              </a:rPr>
              <a:t>ECE</a:t>
            </a:r>
            <a:endParaRPr sz="2400" dirty="0">
              <a:latin typeface="Times New Roman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FACE7-AC18-1804-2E20-8A82DFB9D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216" y="296666"/>
            <a:ext cx="3207572" cy="1061829"/>
          </a:xfrm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3300" b="1"/>
              <a:t>Introduction:</a:t>
            </a:r>
            <a:endParaRPr lang="en-GB" sz="3300"/>
          </a:p>
          <a:p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8A6994-CAC0-DB3F-CC48-82168DDCB2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6871" y="821164"/>
            <a:ext cx="9278676" cy="5527154"/>
          </a:xfrm>
          <a:noFill/>
        </p:spPr>
        <p:txBody>
          <a:bodyPr wrap="square" lIns="0" tIns="0" rIns="0" bIns="0" anchor="t">
            <a:spAutoFit/>
          </a:bodyPr>
          <a:lstStyle/>
          <a:p>
            <a:pPr marL="295910" marR="566420" indent="-283845" algn="l">
              <a:spcBef>
                <a:spcPts val="695"/>
              </a:spcBef>
              <a:buFont typeface="Arial MT,Sans-Serif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Movies generate massive global audience data across platforms like OTT,</a:t>
            </a:r>
            <a:endParaRPr lang="en-US" dirty="0">
              <a:ea typeface="Calibri"/>
            </a:endParaRPr>
          </a:p>
          <a:p>
            <a:pPr marL="295910" marR="566420" indent="-283845" algn="l">
              <a:spcBef>
                <a:spcPts val="695"/>
              </a:spcBef>
              <a:buFont typeface="Arial MT,Sans-Serif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Theaters, Social Media, and Review Sites.</a:t>
            </a:r>
            <a:endParaRPr lang="en-US" dirty="0">
              <a:ea typeface="Calibri"/>
            </a:endParaRPr>
          </a:p>
          <a:p>
            <a:pPr marL="295910" marR="245745" indent="-283845" algn="l">
              <a:spcBef>
                <a:spcPts val="815"/>
              </a:spcBef>
              <a:buFont typeface="Arial MT,Sans-Serif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Understanding movie performance is important for production houses, streaming </a:t>
            </a:r>
            <a:endParaRPr lang="en-US" dirty="0">
              <a:ea typeface="Calibri"/>
            </a:endParaRPr>
          </a:p>
          <a:p>
            <a:pPr marL="295910" marR="245745" indent="-283845" algn="l">
              <a:spcBef>
                <a:spcPts val="815"/>
              </a:spcBef>
              <a:buFont typeface="Arial MT,Sans-Serif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platforms, and marketing teams.</a:t>
            </a:r>
            <a:endParaRPr lang="en-US" dirty="0"/>
          </a:p>
          <a:p>
            <a:pPr marL="295910" marR="368300" indent="-283845" algn="l">
              <a:spcBef>
                <a:spcPts val="825"/>
              </a:spcBef>
              <a:buFont typeface="Arial MT,Sans-Serif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TMDB (The Movie Database) is one of most reliable public sources for movie metadata, ratings, and user popularity metrics.</a:t>
            </a:r>
          </a:p>
          <a:p>
            <a:pPr marL="295910" marR="260985" indent="-283845" algn="l">
              <a:spcBef>
                <a:spcPts val="840"/>
              </a:spcBef>
              <a:buFont typeface="Arial MT,Sans-Serif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This project extracts real world movie data using the TMDB API instead of</a:t>
            </a:r>
          </a:p>
          <a:p>
            <a:pPr marL="295910" marR="260985" indent="-283845" algn="l">
              <a:spcBef>
                <a:spcPts val="840"/>
              </a:spcBef>
              <a:buFont typeface="Arial MT,Sans-Serif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unreliable manual web scraping  ensuring accuracy.</a:t>
            </a:r>
            <a:endParaRPr lang="en-US" dirty="0"/>
          </a:p>
          <a:p>
            <a:pPr marL="295910" marR="57150" indent="-283845" algn="l">
              <a:spcBef>
                <a:spcPts val="819"/>
              </a:spcBef>
              <a:buFont typeface="Arial MT,Sans-Serif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The goal is to analyze trends in ratings, popularity, genres, languages, and release years among top-rated movies.</a:t>
            </a:r>
          </a:p>
          <a:p>
            <a:pPr marL="295910" marR="219075" indent="-283845" algn="l">
              <a:spcBef>
                <a:spcPts val="815"/>
              </a:spcBef>
              <a:buFont typeface="Arial MT,Sans-Serif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Insights from this dataset help identify audience preferences, content performance patterns, and long-term rating </a:t>
            </a:r>
            <a:r>
              <a:rPr lang="en-US" sz="2000" dirty="0" err="1">
                <a:latin typeface="Times New Roman"/>
                <a:cs typeface="Times New Roman"/>
              </a:rPr>
              <a:t>behaviour</a:t>
            </a:r>
            <a:r>
              <a:rPr lang="en-US" sz="2000" dirty="0">
                <a:latin typeface="Times New Roman"/>
                <a:cs typeface="Times New Roman"/>
              </a:rPr>
              <a:t>.</a:t>
            </a:r>
          </a:p>
          <a:p>
            <a:pPr marL="295910" marR="152400" indent="-283845" algn="l">
              <a:spcBef>
                <a:spcPts val="840"/>
              </a:spcBef>
              <a:buFont typeface="Arial MT,Sans-Serif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All analysis is based on </a:t>
            </a:r>
            <a:r>
              <a:rPr lang="en-US" sz="2000" b="1" dirty="0">
                <a:latin typeface="Times New Roman"/>
                <a:cs typeface="Times New Roman"/>
              </a:rPr>
              <a:t>2000+ movies</a:t>
            </a:r>
            <a:r>
              <a:rPr lang="en-US" sz="2000" dirty="0">
                <a:latin typeface="Times New Roman"/>
                <a:cs typeface="Times New Roman"/>
              </a:rPr>
              <a:t>, cleaned, structured, and visualized to draw data-driven conclusions.</a:t>
            </a:r>
          </a:p>
          <a:p>
            <a:pPr algn="l"/>
            <a:endParaRPr lang="en-GB" sz="2000" dirty="0">
              <a:latin typeface="Times New Roman"/>
              <a:ea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07691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0607" y="772290"/>
            <a:ext cx="8521005" cy="1055177"/>
          </a:xfrm>
          <a:prstGeom prst="rect">
            <a:avLst/>
          </a:prstGeom>
        </p:spPr>
        <p:txBody>
          <a:bodyPr vert="horz" wrap="square" lIns="0" tIns="283981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100"/>
              </a:spcBef>
            </a:pPr>
            <a:r>
              <a:rPr sz="3300" b="1" dirty="0">
                <a:latin typeface="Times New Roman"/>
                <a:cs typeface="Times New Roman"/>
              </a:rPr>
              <a:t>Problem</a:t>
            </a:r>
            <a:r>
              <a:rPr sz="3300" b="1" spc="-55" dirty="0">
                <a:latin typeface="Times New Roman"/>
                <a:cs typeface="Times New Roman"/>
              </a:rPr>
              <a:t> </a:t>
            </a:r>
            <a:r>
              <a:rPr sz="3300" b="1" spc="-10" dirty="0">
                <a:latin typeface="Times New Roman"/>
                <a:cs typeface="Times New Roman"/>
              </a:rPr>
              <a:t>Statement:</a:t>
            </a:r>
            <a:endParaRPr sz="33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6528" y="2105603"/>
            <a:ext cx="9044012" cy="3202608"/>
          </a:xfrm>
          <a:prstGeom prst="rect">
            <a:avLst/>
          </a:prstGeom>
        </p:spPr>
        <p:txBody>
          <a:bodyPr vert="horz" wrap="square" lIns="0" tIns="13335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/>
              <a:buChar char="•"/>
              <a:tabLst>
                <a:tab pos="295910" algn="l"/>
                <a:tab pos="297180" algn="l"/>
              </a:tabLst>
            </a:pPr>
            <a:r>
              <a:rPr lang="en-US" sz="2000" spc="-10" dirty="0">
                <a:latin typeface="Times New Roman"/>
                <a:cs typeface="Times New Roman"/>
              </a:rPr>
              <a:t>The goal of this project is to analyze top-rated movies from The Movie Database</a:t>
            </a:r>
            <a:endParaRPr lang="en-US" sz="2000" dirty="0">
              <a:latin typeface="Times New Roman"/>
              <a:cs typeface="Times New Roman"/>
            </a:endParaRPr>
          </a:p>
          <a:p>
            <a:pPr algn="just">
              <a:lnSpc>
                <a:spcPct val="150000"/>
              </a:lnSpc>
              <a:tabLst>
                <a:tab pos="295910" algn="l"/>
                <a:tab pos="297180" algn="l"/>
              </a:tabLst>
            </a:pPr>
            <a:r>
              <a:rPr lang="en-US" sz="2000" spc="-10" dirty="0">
                <a:latin typeface="Times New Roman"/>
                <a:cs typeface="Times New Roman"/>
              </a:rPr>
              <a:t>     (TMDB) to uncover the key factors that drive movie quality (ratings) and audience</a:t>
            </a:r>
            <a:endParaRPr lang="en-US" sz="2000" dirty="0">
              <a:latin typeface="Times New Roman"/>
              <a:cs typeface="Times New Roman"/>
            </a:endParaRPr>
          </a:p>
          <a:p>
            <a:pPr algn="just">
              <a:lnSpc>
                <a:spcPct val="150000"/>
              </a:lnSpc>
              <a:tabLst>
                <a:tab pos="295910" algn="l"/>
                <a:tab pos="297180" algn="l"/>
              </a:tabLst>
            </a:pPr>
            <a:r>
              <a:rPr lang="en-US" sz="2000" spc="-10" dirty="0">
                <a:latin typeface="Times New Roman"/>
                <a:cs typeface="Times New Roman"/>
              </a:rPr>
              <a:t>      engagement (popularity). </a:t>
            </a:r>
            <a:endParaRPr lang="en-US" sz="2000" dirty="0">
              <a:latin typeface="Times New Roman"/>
              <a:cs typeface="Times New Roman"/>
            </a:endParaRPr>
          </a:p>
          <a:p>
            <a:pPr marL="342900" indent="-342900" algn="just">
              <a:lnSpc>
                <a:spcPct val="150000"/>
              </a:lnSpc>
              <a:buFont typeface="Arial"/>
              <a:buChar char="•"/>
              <a:tabLst>
                <a:tab pos="295910" algn="l"/>
                <a:tab pos="297180" algn="l"/>
              </a:tabLst>
            </a:pPr>
            <a:r>
              <a:rPr lang="en-US" sz="2000" spc="-10" dirty="0">
                <a:latin typeface="Times New Roman"/>
                <a:cs typeface="Times New Roman"/>
              </a:rPr>
              <a:t>By exploring trends across genres, languages, and release years, we aim to understand how audience behavior and movie attributes correlate, helping content platforms, producers, and marketers make data-driven decisions. </a:t>
            </a:r>
            <a:endParaRPr lang="en-US" sz="2000">
              <a:latin typeface="Times New Roman"/>
              <a:cs typeface="Times New Roman"/>
            </a:endParaRPr>
          </a:p>
          <a:p>
            <a:pPr marL="354965" marR="5080" indent="-342900" algn="just">
              <a:lnSpc>
                <a:spcPct val="150000"/>
              </a:lnSpc>
              <a:spcBef>
                <a:spcPts val="105"/>
              </a:spcBef>
              <a:buFont typeface="Arial"/>
              <a:buChar char="•"/>
              <a:tabLst>
                <a:tab pos="295910" algn="l"/>
                <a:tab pos="297180" algn="l"/>
              </a:tabLst>
            </a:pPr>
            <a:endParaRPr lang="en-US" sz="2000" spc="-10" dirty="0">
              <a:latin typeface="Times New Roman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6230" y="389471"/>
            <a:ext cx="8521005" cy="923819"/>
          </a:xfrm>
          <a:prstGeom prst="rect">
            <a:avLst/>
          </a:prstGeom>
        </p:spPr>
        <p:txBody>
          <a:bodyPr vert="horz" wrap="square" lIns="0" tIns="366245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10" dirty="0">
                <a:latin typeface="Times New Roman"/>
                <a:cs typeface="Times New Roman"/>
              </a:rPr>
              <a:t>Objectives:</a:t>
            </a:r>
            <a:endParaRPr lang="en-US" b="1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1312" y="1591938"/>
            <a:ext cx="8077834" cy="4127220"/>
          </a:xfrm>
          <a:prstGeom prst="rect">
            <a:avLst/>
          </a:prstGeom>
        </p:spPr>
        <p:txBody>
          <a:bodyPr vert="horz" wrap="square" lIns="0" tIns="52705" rIns="0" bIns="0" rtlCol="0" anchor="t">
            <a:spAutoFit/>
          </a:bodyPr>
          <a:lstStyle/>
          <a:p>
            <a:pPr marL="295910" marR="332105" indent="-283845">
              <a:lnSpc>
                <a:spcPct val="150000"/>
              </a:lnSpc>
              <a:spcBef>
                <a:spcPts val="415"/>
              </a:spcBef>
              <a:buSzPct val="63043"/>
              <a:buFont typeface="Arial MT"/>
              <a:buChar char="•"/>
              <a:tabLst>
                <a:tab pos="295910" algn="l"/>
              </a:tabLst>
            </a:pPr>
            <a:r>
              <a:rPr sz="2000" dirty="0">
                <a:latin typeface="Times New Roman"/>
                <a:cs typeface="Calibri"/>
              </a:rPr>
              <a:t>Primary Objectives</a:t>
            </a:r>
            <a:r>
              <a:rPr sz="2000" spc="-4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:To</a:t>
            </a:r>
            <a:r>
              <a:rPr sz="2000" spc="-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perform</a:t>
            </a:r>
            <a:r>
              <a:rPr sz="2000" spc="-1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EDA</a:t>
            </a:r>
            <a:r>
              <a:rPr sz="2000" spc="-10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on</a:t>
            </a:r>
            <a:r>
              <a:rPr sz="2000" spc="-5" dirty="0">
                <a:latin typeface="Times New Roman"/>
                <a:cs typeface="Calibri"/>
              </a:rPr>
              <a:t> </a:t>
            </a:r>
            <a:r>
              <a:rPr sz="2000" spc="-10" dirty="0">
                <a:latin typeface="Times New Roman"/>
                <a:cs typeface="Calibri"/>
              </a:rPr>
              <a:t>top-</a:t>
            </a:r>
            <a:r>
              <a:rPr sz="2000" dirty="0">
                <a:latin typeface="Times New Roman"/>
                <a:cs typeface="Calibri"/>
              </a:rPr>
              <a:t>rated movies</a:t>
            </a:r>
            <a:r>
              <a:rPr sz="2000" spc="-20" dirty="0">
                <a:latin typeface="Times New Roman"/>
                <a:cs typeface="Calibri"/>
              </a:rPr>
              <a:t> from </a:t>
            </a:r>
            <a:r>
              <a:rPr sz="2000" spc="-10" dirty="0">
                <a:latin typeface="Times New Roman"/>
                <a:cs typeface="Calibri"/>
              </a:rPr>
              <a:t>TMDB.</a:t>
            </a:r>
            <a:endParaRPr sz="2000" dirty="0">
              <a:latin typeface="Times New Roman"/>
              <a:cs typeface="Calibri"/>
            </a:endParaRPr>
          </a:p>
          <a:p>
            <a:pPr marL="295910" indent="-283210">
              <a:lnSpc>
                <a:spcPct val="150000"/>
              </a:lnSpc>
              <a:spcBef>
                <a:spcPts val="505"/>
              </a:spcBef>
              <a:buSzPct val="63043"/>
              <a:buFont typeface="Arial MT"/>
              <a:buChar char="•"/>
              <a:tabLst>
                <a:tab pos="295910" algn="l"/>
              </a:tabLst>
            </a:pPr>
            <a:r>
              <a:rPr sz="2000" dirty="0">
                <a:latin typeface="Times New Roman"/>
                <a:cs typeface="Calibri"/>
              </a:rPr>
              <a:t>To</a:t>
            </a:r>
            <a:r>
              <a:rPr sz="2000" spc="-20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identify</a:t>
            </a:r>
            <a:r>
              <a:rPr sz="2000" spc="-3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trends</a:t>
            </a:r>
            <a:r>
              <a:rPr sz="2000" spc="-2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in</a:t>
            </a:r>
            <a:r>
              <a:rPr sz="2000" spc="-1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genres,</a:t>
            </a:r>
            <a:r>
              <a:rPr sz="2000" spc="-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languages,</a:t>
            </a:r>
            <a:r>
              <a:rPr sz="2000" spc="-2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and</a:t>
            </a:r>
            <a:r>
              <a:rPr sz="2000" spc="-10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release</a:t>
            </a:r>
            <a:r>
              <a:rPr sz="2000" spc="-20" dirty="0">
                <a:latin typeface="Times New Roman"/>
                <a:cs typeface="Calibri"/>
              </a:rPr>
              <a:t> </a:t>
            </a:r>
            <a:r>
              <a:rPr sz="2000" spc="-10" dirty="0">
                <a:latin typeface="Times New Roman"/>
                <a:cs typeface="Calibri"/>
              </a:rPr>
              <a:t>years.</a:t>
            </a:r>
            <a:endParaRPr sz="2000" dirty="0">
              <a:latin typeface="Times New Roman"/>
              <a:cs typeface="Calibri"/>
            </a:endParaRPr>
          </a:p>
          <a:p>
            <a:pPr marL="295910" indent="-283210">
              <a:lnSpc>
                <a:spcPct val="150000"/>
              </a:lnSpc>
              <a:spcBef>
                <a:spcPts val="565"/>
              </a:spcBef>
              <a:buSzPct val="63043"/>
              <a:buFont typeface="Arial MT"/>
              <a:buChar char="•"/>
              <a:tabLst>
                <a:tab pos="295910" algn="l"/>
              </a:tabLst>
            </a:pPr>
            <a:r>
              <a:rPr sz="2000" dirty="0">
                <a:latin typeface="Times New Roman"/>
                <a:cs typeface="Calibri"/>
              </a:rPr>
              <a:t>To</a:t>
            </a:r>
            <a:r>
              <a:rPr sz="2000" spc="-20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understand</a:t>
            </a:r>
            <a:r>
              <a:rPr sz="2000" spc="-1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the</a:t>
            </a:r>
            <a:r>
              <a:rPr sz="2000" spc="-1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factors</a:t>
            </a:r>
            <a:r>
              <a:rPr sz="2000" spc="-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affecting</a:t>
            </a:r>
            <a:r>
              <a:rPr sz="2000" spc="-50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movie</a:t>
            </a:r>
            <a:r>
              <a:rPr sz="2000" spc="-40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ratings</a:t>
            </a:r>
            <a:r>
              <a:rPr sz="2000" spc="-30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and</a:t>
            </a:r>
            <a:r>
              <a:rPr sz="2000" spc="-10" dirty="0">
                <a:latin typeface="Times New Roman"/>
                <a:cs typeface="Calibri"/>
              </a:rPr>
              <a:t> popularity.</a:t>
            </a:r>
            <a:endParaRPr sz="2000" dirty="0">
              <a:latin typeface="Times New Roman"/>
              <a:cs typeface="Calibri"/>
            </a:endParaRPr>
          </a:p>
          <a:p>
            <a:pPr marL="295910" indent="-283210">
              <a:lnSpc>
                <a:spcPct val="150000"/>
              </a:lnSpc>
              <a:spcBef>
                <a:spcPts val="565"/>
              </a:spcBef>
              <a:buSzPct val="63043"/>
              <a:buFont typeface="Arial MT"/>
              <a:buChar char="•"/>
              <a:tabLst>
                <a:tab pos="295910" algn="l"/>
              </a:tabLst>
            </a:pPr>
            <a:r>
              <a:rPr sz="2000" dirty="0">
                <a:latin typeface="Times New Roman"/>
                <a:cs typeface="Calibri"/>
              </a:rPr>
              <a:t>Analytical</a:t>
            </a:r>
            <a:r>
              <a:rPr sz="2000" spc="-4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Objectives</a:t>
            </a:r>
            <a:r>
              <a:rPr sz="2000" spc="-2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:To</a:t>
            </a:r>
            <a:r>
              <a:rPr sz="2000" spc="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clean</a:t>
            </a:r>
            <a:r>
              <a:rPr sz="2000" spc="-10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and</a:t>
            </a:r>
            <a:r>
              <a:rPr sz="2000" spc="-10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preprocess</a:t>
            </a:r>
            <a:r>
              <a:rPr sz="2000" spc="-2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movie</a:t>
            </a:r>
            <a:r>
              <a:rPr sz="2000" spc="-40" dirty="0">
                <a:latin typeface="Times New Roman"/>
                <a:cs typeface="Calibri"/>
              </a:rPr>
              <a:t> </a:t>
            </a:r>
            <a:r>
              <a:rPr sz="2000" spc="-10" dirty="0">
                <a:latin typeface="Times New Roman"/>
                <a:cs typeface="Calibri"/>
              </a:rPr>
              <a:t>metadata.</a:t>
            </a:r>
            <a:endParaRPr sz="2000" dirty="0">
              <a:latin typeface="Times New Roman"/>
              <a:cs typeface="Calibri"/>
            </a:endParaRPr>
          </a:p>
          <a:p>
            <a:pPr marL="295910" marR="279400" indent="-283845">
              <a:lnSpc>
                <a:spcPct val="150000"/>
              </a:lnSpc>
              <a:spcBef>
                <a:spcPts val="850"/>
              </a:spcBef>
              <a:buSzPct val="63043"/>
              <a:buFont typeface="Arial MT"/>
              <a:buChar char="•"/>
              <a:tabLst>
                <a:tab pos="295910" algn="l"/>
              </a:tabLst>
            </a:pPr>
            <a:r>
              <a:rPr sz="2000" dirty="0">
                <a:latin typeface="Times New Roman"/>
                <a:cs typeface="Calibri"/>
              </a:rPr>
              <a:t>To</a:t>
            </a:r>
            <a:r>
              <a:rPr sz="2000" spc="-2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explore</a:t>
            </a:r>
            <a:r>
              <a:rPr sz="2000" spc="-50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numerical</a:t>
            </a:r>
            <a:r>
              <a:rPr sz="2000" spc="-2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feature</a:t>
            </a:r>
            <a:r>
              <a:rPr sz="2000" spc="-50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distributions</a:t>
            </a:r>
            <a:r>
              <a:rPr sz="2000" spc="-10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(ratings,</a:t>
            </a:r>
            <a:r>
              <a:rPr sz="2000" spc="-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vote</a:t>
            </a:r>
            <a:r>
              <a:rPr sz="2000" spc="-25" dirty="0">
                <a:latin typeface="Times New Roman"/>
                <a:cs typeface="Calibri"/>
              </a:rPr>
              <a:t> </a:t>
            </a:r>
            <a:r>
              <a:rPr sz="2000" spc="-10" dirty="0">
                <a:latin typeface="Times New Roman"/>
                <a:cs typeface="Calibri"/>
              </a:rPr>
              <a:t>count, popularity).</a:t>
            </a:r>
            <a:endParaRPr sz="2000" dirty="0">
              <a:latin typeface="Times New Roman"/>
              <a:cs typeface="Calibri"/>
            </a:endParaRPr>
          </a:p>
          <a:p>
            <a:pPr marL="295910" marR="1306830" indent="-283845">
              <a:lnSpc>
                <a:spcPct val="150000"/>
              </a:lnSpc>
              <a:spcBef>
                <a:spcPts val="819"/>
              </a:spcBef>
              <a:buSzPct val="63043"/>
              <a:buFont typeface="Arial MT"/>
              <a:buChar char="•"/>
              <a:tabLst>
                <a:tab pos="295910" algn="l"/>
              </a:tabLst>
            </a:pPr>
            <a:r>
              <a:rPr sz="2000" dirty="0">
                <a:latin typeface="Times New Roman"/>
                <a:cs typeface="Calibri"/>
              </a:rPr>
              <a:t>To</a:t>
            </a:r>
            <a:r>
              <a:rPr sz="2000" spc="-20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analyze</a:t>
            </a:r>
            <a:r>
              <a:rPr sz="2000" spc="-20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correlations</a:t>
            </a:r>
            <a:r>
              <a:rPr sz="2000" spc="-2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and</a:t>
            </a:r>
            <a:r>
              <a:rPr sz="2000" spc="-1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derive</a:t>
            </a:r>
            <a:r>
              <a:rPr sz="2000" spc="-1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insights</a:t>
            </a:r>
            <a:r>
              <a:rPr sz="2000" spc="-30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for</a:t>
            </a:r>
            <a:r>
              <a:rPr sz="2000" spc="-20" dirty="0">
                <a:latin typeface="Times New Roman"/>
                <a:cs typeface="Calibri"/>
              </a:rPr>
              <a:t> </a:t>
            </a:r>
            <a:r>
              <a:rPr sz="2000" spc="-10" dirty="0">
                <a:latin typeface="Times New Roman"/>
                <a:cs typeface="Calibri"/>
              </a:rPr>
              <a:t>content recommendations.</a:t>
            </a:r>
            <a:endParaRPr sz="2000" dirty="0">
              <a:latin typeface="Times New Roman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601" y="319867"/>
            <a:ext cx="8521005" cy="1055177"/>
          </a:xfrm>
          <a:prstGeom prst="rect">
            <a:avLst/>
          </a:prstGeom>
        </p:spPr>
        <p:txBody>
          <a:bodyPr vert="horz" wrap="square" lIns="0" tIns="270066" rIns="0" bIns="0" rtlCol="0">
            <a:spAutoFit/>
          </a:bodyPr>
          <a:lstStyle/>
          <a:p>
            <a:pPr marL="169545">
              <a:lnSpc>
                <a:spcPct val="100000"/>
              </a:lnSpc>
              <a:spcBef>
                <a:spcPts val="100"/>
              </a:spcBef>
            </a:pPr>
            <a:r>
              <a:rPr sz="3300" b="1" dirty="0">
                <a:latin typeface="Times New Roman"/>
                <a:cs typeface="Times New Roman"/>
              </a:rPr>
              <a:t>Web</a:t>
            </a:r>
            <a:r>
              <a:rPr sz="3300" b="1" spc="-25" dirty="0">
                <a:latin typeface="Times New Roman"/>
                <a:cs typeface="Times New Roman"/>
              </a:rPr>
              <a:t> </a:t>
            </a:r>
            <a:r>
              <a:rPr sz="3300" b="1" spc="-10" dirty="0">
                <a:latin typeface="Times New Roman"/>
                <a:cs typeface="Times New Roman"/>
              </a:rPr>
              <a:t>Scraping:</a:t>
            </a:r>
            <a:endParaRPr sz="33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8099" y="1616800"/>
            <a:ext cx="4084954" cy="3702745"/>
          </a:xfrm>
          <a:prstGeom prst="rect">
            <a:avLst/>
          </a:prstGeom>
        </p:spPr>
        <p:txBody>
          <a:bodyPr vert="horz" wrap="square" lIns="0" tIns="13335" rIns="0" bIns="0" rtlCol="0" anchor="t">
            <a:spAutoFit/>
          </a:bodyPr>
          <a:lstStyle/>
          <a:p>
            <a:pPr marL="296545" indent="-283845">
              <a:lnSpc>
                <a:spcPct val="150000"/>
              </a:lnSpc>
              <a:spcBef>
                <a:spcPts val="105"/>
              </a:spcBef>
              <a:buChar char="•"/>
              <a:tabLst>
                <a:tab pos="296545" algn="l"/>
              </a:tabLst>
            </a:pPr>
            <a:r>
              <a:rPr sz="2000" dirty="0">
                <a:latin typeface="Times New Roman"/>
                <a:cs typeface="Arial MT"/>
              </a:rPr>
              <a:t>Generated</a:t>
            </a:r>
            <a:r>
              <a:rPr sz="2000" spc="-50" dirty="0">
                <a:latin typeface="Times New Roman"/>
                <a:cs typeface="Arial MT"/>
              </a:rPr>
              <a:t> </a:t>
            </a:r>
            <a:r>
              <a:rPr sz="2000" dirty="0">
                <a:latin typeface="Times New Roman"/>
                <a:cs typeface="Arial MT"/>
              </a:rPr>
              <a:t>API</a:t>
            </a:r>
            <a:r>
              <a:rPr sz="2000" spc="-50" dirty="0">
                <a:latin typeface="Times New Roman"/>
                <a:cs typeface="Arial MT"/>
              </a:rPr>
              <a:t> </a:t>
            </a:r>
            <a:r>
              <a:rPr sz="2000" spc="-25" dirty="0">
                <a:latin typeface="Times New Roman"/>
                <a:cs typeface="Arial MT"/>
              </a:rPr>
              <a:t>key</a:t>
            </a:r>
            <a:endParaRPr sz="2000" dirty="0">
              <a:latin typeface="Times New Roman"/>
              <a:cs typeface="Arial MT"/>
            </a:endParaRPr>
          </a:p>
          <a:p>
            <a:pPr>
              <a:lnSpc>
                <a:spcPct val="150000"/>
              </a:lnSpc>
              <a:spcBef>
                <a:spcPts val="80"/>
              </a:spcBef>
              <a:buFont typeface="Arial MT"/>
              <a:buChar char="•"/>
            </a:pPr>
            <a:endParaRPr sz="2000" dirty="0">
              <a:latin typeface="Times New Roman"/>
              <a:cs typeface="Arial MT"/>
            </a:endParaRPr>
          </a:p>
          <a:p>
            <a:pPr marL="296545" indent="-283845">
              <a:lnSpc>
                <a:spcPct val="150000"/>
              </a:lnSpc>
              <a:buChar char="•"/>
              <a:tabLst>
                <a:tab pos="296545" algn="l"/>
              </a:tabLst>
            </a:pPr>
            <a:r>
              <a:rPr sz="2000" dirty="0">
                <a:latin typeface="Times New Roman"/>
                <a:cs typeface="Arial MT"/>
              </a:rPr>
              <a:t>Pulled</a:t>
            </a:r>
            <a:r>
              <a:rPr sz="2000" spc="-30" dirty="0">
                <a:latin typeface="Times New Roman"/>
                <a:cs typeface="Arial MT"/>
              </a:rPr>
              <a:t> </a:t>
            </a:r>
            <a:r>
              <a:rPr sz="2000" dirty="0">
                <a:latin typeface="Times New Roman"/>
                <a:cs typeface="Arial MT"/>
              </a:rPr>
              <a:t>paginated</a:t>
            </a:r>
            <a:r>
              <a:rPr sz="2000" spc="-55" dirty="0">
                <a:latin typeface="Times New Roman"/>
                <a:cs typeface="Arial MT"/>
              </a:rPr>
              <a:t> </a:t>
            </a:r>
            <a:r>
              <a:rPr sz="2000" dirty="0">
                <a:latin typeface="Times New Roman"/>
                <a:cs typeface="Arial MT"/>
              </a:rPr>
              <a:t>API</a:t>
            </a:r>
            <a:r>
              <a:rPr sz="2000" spc="-10" dirty="0">
                <a:latin typeface="Times New Roman"/>
                <a:cs typeface="Arial MT"/>
              </a:rPr>
              <a:t> </a:t>
            </a:r>
            <a:r>
              <a:rPr sz="2000" dirty="0">
                <a:latin typeface="Times New Roman"/>
                <a:cs typeface="Arial MT"/>
              </a:rPr>
              <a:t>JSON</a:t>
            </a:r>
            <a:r>
              <a:rPr sz="2000" spc="-35" dirty="0">
                <a:latin typeface="Times New Roman"/>
                <a:cs typeface="Arial MT"/>
              </a:rPr>
              <a:t> </a:t>
            </a:r>
            <a:r>
              <a:rPr sz="2000" spc="-20" dirty="0">
                <a:latin typeface="Times New Roman"/>
                <a:cs typeface="Arial MT"/>
              </a:rPr>
              <a:t>data</a:t>
            </a:r>
            <a:endParaRPr sz="2000" dirty="0">
              <a:latin typeface="Times New Roman"/>
              <a:cs typeface="Arial MT"/>
            </a:endParaRPr>
          </a:p>
          <a:p>
            <a:pPr>
              <a:lnSpc>
                <a:spcPct val="150000"/>
              </a:lnSpc>
              <a:spcBef>
                <a:spcPts val="85"/>
              </a:spcBef>
              <a:buFont typeface="Arial MT"/>
              <a:buChar char="•"/>
            </a:pPr>
            <a:endParaRPr sz="2000" dirty="0">
              <a:latin typeface="Times New Roman"/>
              <a:cs typeface="Arial MT"/>
            </a:endParaRPr>
          </a:p>
          <a:p>
            <a:pPr marL="296545" indent="-283845">
              <a:lnSpc>
                <a:spcPct val="150000"/>
              </a:lnSpc>
              <a:buChar char="•"/>
              <a:tabLst>
                <a:tab pos="296545" algn="l"/>
              </a:tabLst>
            </a:pPr>
            <a:r>
              <a:rPr sz="2000" dirty="0">
                <a:latin typeface="Times New Roman"/>
                <a:cs typeface="Arial MT"/>
              </a:rPr>
              <a:t>Converted</a:t>
            </a:r>
            <a:r>
              <a:rPr sz="2000" spc="-50" dirty="0">
                <a:latin typeface="Times New Roman"/>
                <a:cs typeface="Arial MT"/>
              </a:rPr>
              <a:t> </a:t>
            </a:r>
            <a:r>
              <a:rPr sz="2000" dirty="0">
                <a:latin typeface="Times New Roman"/>
                <a:cs typeface="Arial MT"/>
              </a:rPr>
              <a:t>JSON</a:t>
            </a:r>
            <a:r>
              <a:rPr sz="2000" spc="-25" dirty="0">
                <a:latin typeface="Times New Roman"/>
                <a:cs typeface="Arial MT"/>
              </a:rPr>
              <a:t> </a:t>
            </a:r>
            <a:r>
              <a:rPr sz="2000" dirty="0">
                <a:latin typeface="Times New Roman"/>
                <a:cs typeface="Arial MT"/>
              </a:rPr>
              <a:t>to</a:t>
            </a:r>
            <a:r>
              <a:rPr sz="2000" spc="-35" dirty="0">
                <a:latin typeface="Times New Roman"/>
                <a:cs typeface="Arial MT"/>
              </a:rPr>
              <a:t> </a:t>
            </a:r>
            <a:r>
              <a:rPr sz="2000" spc="-10" dirty="0">
                <a:latin typeface="Times New Roman"/>
                <a:cs typeface="Arial MT"/>
              </a:rPr>
              <a:t>DataFrame</a:t>
            </a:r>
            <a:endParaRPr sz="2000" dirty="0">
              <a:latin typeface="Times New Roman"/>
              <a:cs typeface="Arial MT"/>
            </a:endParaRPr>
          </a:p>
          <a:p>
            <a:pPr>
              <a:lnSpc>
                <a:spcPct val="150000"/>
              </a:lnSpc>
              <a:spcBef>
                <a:spcPts val="155"/>
              </a:spcBef>
              <a:buFont typeface="Arial MT"/>
              <a:buChar char="•"/>
            </a:pPr>
            <a:endParaRPr sz="2000" dirty="0">
              <a:latin typeface="Times New Roman"/>
              <a:cs typeface="Arial MT"/>
            </a:endParaRPr>
          </a:p>
          <a:p>
            <a:pPr marL="295910" marR="5080" indent="-283845">
              <a:lnSpc>
                <a:spcPct val="150000"/>
              </a:lnSpc>
              <a:buChar char="•"/>
              <a:tabLst>
                <a:tab pos="295910" algn="l"/>
              </a:tabLst>
            </a:pPr>
            <a:r>
              <a:rPr sz="2000" dirty="0">
                <a:latin typeface="Times New Roman"/>
                <a:cs typeface="Arial MT"/>
              </a:rPr>
              <a:t>Cleaned,</a:t>
            </a:r>
            <a:r>
              <a:rPr sz="2000" spc="-45" dirty="0">
                <a:latin typeface="Times New Roman"/>
                <a:cs typeface="Arial MT"/>
              </a:rPr>
              <a:t> </a:t>
            </a:r>
            <a:r>
              <a:rPr sz="2000" dirty="0">
                <a:latin typeface="Times New Roman"/>
                <a:cs typeface="Arial MT"/>
              </a:rPr>
              <a:t>parsed</a:t>
            </a:r>
            <a:r>
              <a:rPr sz="2000" spc="-40" dirty="0">
                <a:latin typeface="Times New Roman"/>
                <a:cs typeface="Arial MT"/>
              </a:rPr>
              <a:t> </a:t>
            </a:r>
            <a:r>
              <a:rPr sz="2000" dirty="0">
                <a:latin typeface="Times New Roman"/>
                <a:cs typeface="Arial MT"/>
              </a:rPr>
              <a:t>genres,</a:t>
            </a:r>
            <a:r>
              <a:rPr sz="2000" spc="-40" dirty="0">
                <a:latin typeface="Times New Roman"/>
                <a:cs typeface="Arial MT"/>
              </a:rPr>
              <a:t> </a:t>
            </a:r>
            <a:r>
              <a:rPr sz="2000" dirty="0">
                <a:latin typeface="Times New Roman"/>
                <a:cs typeface="Arial MT"/>
              </a:rPr>
              <a:t>handled</a:t>
            </a:r>
            <a:r>
              <a:rPr sz="2000" spc="-40" dirty="0">
                <a:latin typeface="Times New Roman"/>
                <a:cs typeface="Arial MT"/>
              </a:rPr>
              <a:t> </a:t>
            </a:r>
            <a:r>
              <a:rPr sz="2000" spc="-10" dirty="0">
                <a:latin typeface="Times New Roman"/>
                <a:cs typeface="Arial MT"/>
              </a:rPr>
              <a:t>strings </a:t>
            </a:r>
            <a:r>
              <a:rPr sz="2000" dirty="0">
                <a:latin typeface="Times New Roman"/>
                <a:cs typeface="Arial MT"/>
              </a:rPr>
              <a:t>&amp;</a:t>
            </a:r>
            <a:r>
              <a:rPr sz="2000" spc="-15" dirty="0">
                <a:latin typeface="Times New Roman"/>
                <a:cs typeface="Arial MT"/>
              </a:rPr>
              <a:t> </a:t>
            </a:r>
            <a:r>
              <a:rPr sz="2000" dirty="0">
                <a:latin typeface="Times New Roman"/>
                <a:cs typeface="Arial MT"/>
              </a:rPr>
              <a:t>date</a:t>
            </a:r>
            <a:r>
              <a:rPr sz="2000" spc="-30" dirty="0">
                <a:latin typeface="Times New Roman"/>
                <a:cs typeface="Arial MT"/>
              </a:rPr>
              <a:t> </a:t>
            </a:r>
            <a:r>
              <a:rPr sz="2000" spc="-10" dirty="0">
                <a:latin typeface="Times New Roman"/>
                <a:cs typeface="Arial MT"/>
              </a:rPr>
              <a:t>formats</a:t>
            </a:r>
            <a:endParaRPr sz="2000" dirty="0">
              <a:latin typeface="Times New Roman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53000" y="1493520"/>
            <a:ext cx="5009387" cy="37150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82" y="273465"/>
            <a:ext cx="8521005" cy="1003564"/>
          </a:xfrm>
          <a:prstGeom prst="rect">
            <a:avLst/>
          </a:prstGeom>
        </p:spPr>
        <p:txBody>
          <a:bodyPr vert="horz" wrap="square" lIns="0" tIns="445218" rIns="0" bIns="0" rtlCol="0" anchor="t">
            <a:spAutoFit/>
          </a:bodyPr>
          <a:lstStyle/>
          <a:p>
            <a:pPr marL="511175">
              <a:lnSpc>
                <a:spcPct val="100000"/>
              </a:lnSpc>
              <a:spcBef>
                <a:spcPts val="135"/>
              </a:spcBef>
            </a:pPr>
            <a:r>
              <a:rPr b="1" dirty="0">
                <a:cs typeface="Calibri"/>
              </a:rPr>
              <a:t>DATA</a:t>
            </a:r>
            <a:r>
              <a:rPr b="1" spc="-15" dirty="0">
                <a:cs typeface="Calibri"/>
              </a:rPr>
              <a:t> </a:t>
            </a:r>
            <a:r>
              <a:rPr b="1" spc="-10" dirty="0">
                <a:cs typeface="Calibri"/>
              </a:rPr>
              <a:t>OVERVIEW:</a:t>
            </a:r>
            <a:endParaRPr lang="en-US" b="1" spc="-10" dirty="0"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845" y="1372843"/>
            <a:ext cx="8120380" cy="5668027"/>
          </a:xfrm>
          <a:prstGeom prst="rect">
            <a:avLst/>
          </a:prstGeom>
        </p:spPr>
        <p:txBody>
          <a:bodyPr vert="horz" wrap="square" lIns="0" tIns="16510" rIns="0" bIns="0" rtlCol="0" anchor="t">
            <a:spAutoFit/>
          </a:bodyPr>
          <a:lstStyle/>
          <a:p>
            <a:pPr marL="295910" indent="-283210">
              <a:lnSpc>
                <a:spcPct val="150000"/>
              </a:lnSpc>
              <a:spcBef>
                <a:spcPts val="130"/>
              </a:spcBef>
              <a:buSzPct val="74358"/>
              <a:buFont typeface="Arial MT"/>
              <a:buChar char="•"/>
              <a:tabLst>
                <a:tab pos="295910" algn="l"/>
              </a:tabLst>
            </a:pPr>
            <a:r>
              <a:rPr sz="2000" dirty="0">
                <a:latin typeface="Times New Roman"/>
                <a:cs typeface="Calibri"/>
              </a:rPr>
              <a:t>The</a:t>
            </a:r>
            <a:r>
              <a:rPr sz="2000" spc="6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dataset</a:t>
            </a:r>
            <a:r>
              <a:rPr sz="2000" spc="50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contains</a:t>
            </a:r>
            <a:r>
              <a:rPr sz="2000" spc="40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2000+</a:t>
            </a:r>
            <a:r>
              <a:rPr sz="2000" spc="2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top-rated</a:t>
            </a:r>
            <a:r>
              <a:rPr sz="2000" spc="50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movies,</a:t>
            </a:r>
            <a:r>
              <a:rPr sz="2000" spc="4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collected</a:t>
            </a:r>
            <a:r>
              <a:rPr sz="2000" spc="50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using</a:t>
            </a:r>
            <a:r>
              <a:rPr sz="2000" spc="40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the</a:t>
            </a:r>
            <a:r>
              <a:rPr sz="2000" spc="4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TMDB</a:t>
            </a:r>
            <a:r>
              <a:rPr sz="2000" spc="35" dirty="0">
                <a:latin typeface="Times New Roman"/>
                <a:cs typeface="Calibri"/>
              </a:rPr>
              <a:t> </a:t>
            </a:r>
            <a:r>
              <a:rPr sz="2000" spc="-20" dirty="0">
                <a:latin typeface="Times New Roman"/>
                <a:cs typeface="Calibri"/>
              </a:rPr>
              <a:t>API.</a:t>
            </a:r>
            <a:endParaRPr sz="2000" dirty="0">
              <a:latin typeface="Times New Roman"/>
              <a:cs typeface="Calibri"/>
            </a:endParaRPr>
          </a:p>
          <a:p>
            <a:pPr marL="295910" indent="-283210">
              <a:lnSpc>
                <a:spcPct val="150000"/>
              </a:lnSpc>
              <a:spcBef>
                <a:spcPts val="145"/>
              </a:spcBef>
              <a:buSzPct val="74358"/>
              <a:buFont typeface="Arial MT"/>
              <a:buChar char="•"/>
              <a:tabLst>
                <a:tab pos="295910" algn="l"/>
              </a:tabLst>
            </a:pPr>
            <a:r>
              <a:rPr sz="2000" dirty="0">
                <a:latin typeface="Times New Roman"/>
                <a:cs typeface="Calibri"/>
              </a:rPr>
              <a:t>It</a:t>
            </a:r>
            <a:r>
              <a:rPr sz="2000" spc="4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includes</a:t>
            </a:r>
            <a:r>
              <a:rPr sz="2000" spc="40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11</a:t>
            </a:r>
            <a:r>
              <a:rPr sz="2000" spc="2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key</a:t>
            </a:r>
            <a:r>
              <a:rPr sz="2000" spc="5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features</a:t>
            </a:r>
            <a:r>
              <a:rPr sz="2000" spc="60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covering</a:t>
            </a:r>
            <a:r>
              <a:rPr sz="2000" spc="1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movie</a:t>
            </a:r>
            <a:r>
              <a:rPr sz="2000" spc="4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metadata</a:t>
            </a:r>
            <a:r>
              <a:rPr sz="2000" spc="4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such</a:t>
            </a:r>
            <a:r>
              <a:rPr sz="2000" spc="25" dirty="0">
                <a:latin typeface="Times New Roman"/>
                <a:cs typeface="Calibri"/>
              </a:rPr>
              <a:t> </a:t>
            </a:r>
            <a:r>
              <a:rPr sz="2000" spc="-25" dirty="0">
                <a:latin typeface="Times New Roman"/>
                <a:cs typeface="Calibri"/>
              </a:rPr>
              <a:t>as:</a:t>
            </a:r>
            <a:endParaRPr sz="2000" dirty="0">
              <a:latin typeface="Times New Roman"/>
              <a:cs typeface="Calibri"/>
            </a:endParaRPr>
          </a:p>
          <a:p>
            <a:pPr marL="295910" indent="-283210">
              <a:lnSpc>
                <a:spcPct val="150000"/>
              </a:lnSpc>
              <a:spcBef>
                <a:spcPts val="140"/>
              </a:spcBef>
              <a:buSzPct val="74358"/>
              <a:buFont typeface="Arial MT"/>
              <a:buChar char="•"/>
              <a:tabLst>
                <a:tab pos="295910" algn="l"/>
              </a:tabLst>
            </a:pPr>
            <a:r>
              <a:rPr sz="2000" dirty="0">
                <a:latin typeface="Times New Roman"/>
                <a:cs typeface="Calibri"/>
              </a:rPr>
              <a:t>Title</a:t>
            </a:r>
            <a:r>
              <a:rPr sz="2000" spc="4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&amp;</a:t>
            </a:r>
            <a:r>
              <a:rPr sz="2000" spc="2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Original</a:t>
            </a:r>
            <a:r>
              <a:rPr sz="2000" spc="25" dirty="0">
                <a:latin typeface="Times New Roman"/>
                <a:cs typeface="Calibri"/>
              </a:rPr>
              <a:t> </a:t>
            </a:r>
            <a:r>
              <a:rPr sz="2000" spc="-10" dirty="0">
                <a:latin typeface="Times New Roman"/>
                <a:cs typeface="Calibri"/>
              </a:rPr>
              <a:t>Title</a:t>
            </a:r>
            <a:endParaRPr sz="2000" dirty="0">
              <a:latin typeface="Times New Roman"/>
              <a:cs typeface="Calibri"/>
            </a:endParaRPr>
          </a:p>
          <a:p>
            <a:pPr marL="295910" indent="-283210">
              <a:lnSpc>
                <a:spcPct val="150000"/>
              </a:lnSpc>
              <a:spcBef>
                <a:spcPts val="155"/>
              </a:spcBef>
              <a:buSzPct val="74358"/>
              <a:buFont typeface="Arial MT"/>
              <a:buChar char="•"/>
              <a:tabLst>
                <a:tab pos="295910" algn="l"/>
              </a:tabLst>
            </a:pPr>
            <a:r>
              <a:rPr sz="2000" dirty="0">
                <a:latin typeface="Times New Roman"/>
                <a:cs typeface="Calibri"/>
              </a:rPr>
              <a:t>Overview</a:t>
            </a:r>
            <a:r>
              <a:rPr sz="2000" spc="70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(movie</a:t>
            </a:r>
            <a:r>
              <a:rPr sz="2000" spc="85" dirty="0">
                <a:latin typeface="Times New Roman"/>
                <a:cs typeface="Calibri"/>
              </a:rPr>
              <a:t> </a:t>
            </a:r>
            <a:r>
              <a:rPr sz="2000" spc="-10" dirty="0">
                <a:latin typeface="Times New Roman"/>
                <a:cs typeface="Calibri"/>
              </a:rPr>
              <a:t>description)</a:t>
            </a:r>
            <a:endParaRPr sz="2000" dirty="0">
              <a:latin typeface="Times New Roman"/>
              <a:cs typeface="Calibri"/>
            </a:endParaRPr>
          </a:p>
          <a:p>
            <a:pPr marL="295910" indent="-283210">
              <a:lnSpc>
                <a:spcPct val="150000"/>
              </a:lnSpc>
              <a:spcBef>
                <a:spcPts val="145"/>
              </a:spcBef>
              <a:buSzPct val="74358"/>
              <a:buFont typeface="Arial MT"/>
              <a:buChar char="•"/>
              <a:tabLst>
                <a:tab pos="295910" algn="l"/>
              </a:tabLst>
            </a:pPr>
            <a:r>
              <a:rPr sz="2000" dirty="0">
                <a:latin typeface="Times New Roman"/>
                <a:cs typeface="Calibri"/>
              </a:rPr>
              <a:t>Genres</a:t>
            </a:r>
            <a:r>
              <a:rPr sz="2000" spc="50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(list</a:t>
            </a:r>
            <a:r>
              <a:rPr sz="2000" spc="25" dirty="0">
                <a:latin typeface="Times New Roman"/>
                <a:cs typeface="Calibri"/>
              </a:rPr>
              <a:t> </a:t>
            </a:r>
            <a:r>
              <a:rPr sz="2000" spc="-10" dirty="0">
                <a:latin typeface="Times New Roman"/>
                <a:cs typeface="Calibri"/>
              </a:rPr>
              <a:t>format)</a:t>
            </a:r>
            <a:endParaRPr sz="2000" dirty="0">
              <a:latin typeface="Times New Roman"/>
              <a:cs typeface="Calibri"/>
            </a:endParaRPr>
          </a:p>
          <a:p>
            <a:pPr marL="295910" indent="-283210">
              <a:lnSpc>
                <a:spcPct val="150000"/>
              </a:lnSpc>
              <a:spcBef>
                <a:spcPts val="145"/>
              </a:spcBef>
              <a:buSzPct val="74358"/>
              <a:buFont typeface="Arial MT"/>
              <a:buChar char="•"/>
              <a:tabLst>
                <a:tab pos="295910" algn="l"/>
              </a:tabLst>
            </a:pPr>
            <a:r>
              <a:rPr sz="2000" dirty="0">
                <a:latin typeface="Times New Roman"/>
                <a:cs typeface="Calibri"/>
              </a:rPr>
              <a:t>Release</a:t>
            </a:r>
            <a:r>
              <a:rPr sz="2000" spc="2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Date</a:t>
            </a:r>
            <a:r>
              <a:rPr sz="2000" spc="50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&amp;</a:t>
            </a:r>
            <a:r>
              <a:rPr sz="2000" spc="20" dirty="0">
                <a:latin typeface="Times New Roman"/>
                <a:cs typeface="Calibri"/>
              </a:rPr>
              <a:t> </a:t>
            </a:r>
            <a:r>
              <a:rPr sz="2000" spc="-10" dirty="0">
                <a:latin typeface="Times New Roman"/>
                <a:cs typeface="Calibri"/>
              </a:rPr>
              <a:t>Release</a:t>
            </a:r>
            <a:endParaRPr sz="2000" dirty="0">
              <a:latin typeface="Times New Roman"/>
              <a:cs typeface="Calibri"/>
            </a:endParaRPr>
          </a:p>
          <a:p>
            <a:pPr marL="352425" indent="-339725">
              <a:lnSpc>
                <a:spcPct val="150000"/>
              </a:lnSpc>
              <a:spcBef>
                <a:spcPts val="155"/>
              </a:spcBef>
              <a:buSzPct val="74358"/>
              <a:buFont typeface="Arial MT"/>
              <a:buChar char="•"/>
              <a:tabLst>
                <a:tab pos="352425" algn="l"/>
              </a:tabLst>
            </a:pPr>
            <a:r>
              <a:rPr lang="en-GB" sz="2000" dirty="0">
                <a:latin typeface="Times New Roman"/>
                <a:cs typeface="Calibri"/>
              </a:rPr>
              <a:t>Year Original</a:t>
            </a:r>
            <a:r>
              <a:rPr sz="2000" spc="80" dirty="0">
                <a:latin typeface="Times New Roman"/>
                <a:cs typeface="Calibri"/>
              </a:rPr>
              <a:t> </a:t>
            </a:r>
            <a:r>
              <a:rPr sz="2000" spc="-10" dirty="0">
                <a:latin typeface="Times New Roman"/>
                <a:cs typeface="Calibri"/>
              </a:rPr>
              <a:t>Language</a:t>
            </a:r>
            <a:endParaRPr sz="2000" dirty="0">
              <a:latin typeface="Times New Roman"/>
              <a:cs typeface="Calibri"/>
            </a:endParaRPr>
          </a:p>
          <a:p>
            <a:pPr marL="295910" indent="-283210">
              <a:lnSpc>
                <a:spcPct val="150000"/>
              </a:lnSpc>
              <a:spcBef>
                <a:spcPts val="145"/>
              </a:spcBef>
              <a:buSzPct val="74358"/>
              <a:buFont typeface="Arial MT"/>
              <a:buChar char="•"/>
              <a:tabLst>
                <a:tab pos="295910" algn="l"/>
              </a:tabLst>
            </a:pPr>
            <a:r>
              <a:rPr sz="2000" dirty="0">
                <a:latin typeface="Times New Roman"/>
                <a:cs typeface="Calibri"/>
              </a:rPr>
              <a:t>Vote</a:t>
            </a:r>
            <a:r>
              <a:rPr sz="2000" spc="50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Average</a:t>
            </a:r>
            <a:r>
              <a:rPr sz="2000" spc="50" dirty="0">
                <a:latin typeface="Times New Roman"/>
                <a:cs typeface="Calibri"/>
              </a:rPr>
              <a:t> </a:t>
            </a:r>
            <a:r>
              <a:rPr sz="2000" spc="-10" dirty="0">
                <a:latin typeface="Times New Roman"/>
                <a:cs typeface="Calibri"/>
              </a:rPr>
              <a:t>(rating)</a:t>
            </a:r>
            <a:endParaRPr sz="2000" dirty="0">
              <a:latin typeface="Times New Roman"/>
              <a:cs typeface="Calibri"/>
            </a:endParaRPr>
          </a:p>
          <a:p>
            <a:pPr marL="295910" indent="-283210">
              <a:lnSpc>
                <a:spcPct val="150000"/>
              </a:lnSpc>
              <a:spcBef>
                <a:spcPts val="155"/>
              </a:spcBef>
              <a:buSzPct val="74358"/>
              <a:buFont typeface="Arial MT"/>
              <a:buChar char="•"/>
              <a:tabLst>
                <a:tab pos="295910" algn="l"/>
              </a:tabLst>
            </a:pPr>
            <a:r>
              <a:rPr sz="2000" dirty="0">
                <a:latin typeface="Times New Roman"/>
                <a:cs typeface="Calibri"/>
              </a:rPr>
              <a:t>Vote</a:t>
            </a:r>
            <a:r>
              <a:rPr sz="2000" spc="40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Count</a:t>
            </a:r>
            <a:r>
              <a:rPr sz="2000" spc="30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(audience</a:t>
            </a:r>
            <a:r>
              <a:rPr sz="2000" spc="45" dirty="0">
                <a:latin typeface="Times New Roman"/>
                <a:cs typeface="Calibri"/>
              </a:rPr>
              <a:t> </a:t>
            </a:r>
            <a:r>
              <a:rPr sz="2000" spc="-10" dirty="0">
                <a:latin typeface="Times New Roman"/>
                <a:cs typeface="Calibri"/>
              </a:rPr>
              <a:t>engagement)</a:t>
            </a:r>
            <a:endParaRPr sz="2000" dirty="0">
              <a:latin typeface="Times New Roman"/>
              <a:cs typeface="Calibri"/>
            </a:endParaRPr>
          </a:p>
          <a:p>
            <a:pPr marL="295910" indent="-283210">
              <a:lnSpc>
                <a:spcPct val="150000"/>
              </a:lnSpc>
              <a:spcBef>
                <a:spcPts val="145"/>
              </a:spcBef>
              <a:buSzPct val="74358"/>
              <a:buFont typeface="Arial MT"/>
              <a:buChar char="•"/>
              <a:tabLst>
                <a:tab pos="295910" algn="l"/>
              </a:tabLst>
            </a:pPr>
            <a:r>
              <a:rPr sz="2000" dirty="0">
                <a:latin typeface="Times New Roman"/>
                <a:cs typeface="Calibri"/>
              </a:rPr>
              <a:t>Popularity</a:t>
            </a:r>
            <a:r>
              <a:rPr sz="2000" spc="50" dirty="0">
                <a:latin typeface="Times New Roman"/>
                <a:cs typeface="Calibri"/>
              </a:rPr>
              <a:t> </a:t>
            </a:r>
            <a:r>
              <a:rPr sz="2000" spc="-20" dirty="0">
                <a:latin typeface="Times New Roman"/>
                <a:cs typeface="Calibri"/>
              </a:rPr>
              <a:t>Score</a:t>
            </a:r>
            <a:endParaRPr sz="2000" dirty="0">
              <a:latin typeface="Times New Roman"/>
              <a:cs typeface="Calibri"/>
            </a:endParaRPr>
          </a:p>
          <a:p>
            <a:pPr marL="295910" indent="-283210">
              <a:lnSpc>
                <a:spcPct val="150000"/>
              </a:lnSpc>
              <a:spcBef>
                <a:spcPts val="145"/>
              </a:spcBef>
              <a:buSzPct val="74358"/>
              <a:buFont typeface="Arial MT"/>
              <a:buChar char="•"/>
              <a:tabLst>
                <a:tab pos="295910" algn="l"/>
              </a:tabLst>
            </a:pPr>
            <a:r>
              <a:rPr sz="2000" dirty="0">
                <a:latin typeface="Times New Roman"/>
                <a:cs typeface="Calibri"/>
              </a:rPr>
              <a:t>Overview</a:t>
            </a:r>
            <a:r>
              <a:rPr sz="2000" spc="60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Word</a:t>
            </a:r>
            <a:r>
              <a:rPr sz="2000" spc="85" dirty="0">
                <a:latin typeface="Times New Roman"/>
                <a:cs typeface="Calibri"/>
              </a:rPr>
              <a:t> </a:t>
            </a:r>
            <a:r>
              <a:rPr sz="2000" spc="-20" dirty="0">
                <a:latin typeface="Times New Roman"/>
                <a:cs typeface="Calibri"/>
              </a:rPr>
              <a:t>Count</a:t>
            </a:r>
            <a:endParaRPr sz="2000" dirty="0">
              <a:latin typeface="Times New Roman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00507" y="1194377"/>
            <a:ext cx="2882386" cy="3848489"/>
          </a:xfrm>
          <a:prstGeom prst="rect">
            <a:avLst/>
          </a:prstGeom>
        </p:spPr>
        <p:txBody>
          <a:bodyPr vert="horz" wrap="square" lIns="0" tIns="41910" rIns="0" bIns="0" rtlCol="0" anchor="t">
            <a:spAutoFit/>
          </a:bodyPr>
          <a:lstStyle/>
          <a:p>
            <a:pPr marL="294640" marR="340360" indent="-281940">
              <a:spcBef>
                <a:spcPts val="330"/>
              </a:spcBef>
              <a:buSzPct val="66666"/>
              <a:buFont typeface="Arial MT"/>
              <a:buChar char="•"/>
              <a:tabLst>
                <a:tab pos="294640" algn="l"/>
              </a:tabLst>
            </a:pPr>
            <a:r>
              <a:rPr sz="1950" dirty="0">
                <a:latin typeface="Times New Roman"/>
                <a:cs typeface="Calibri"/>
              </a:rPr>
              <a:t>11</a:t>
            </a:r>
            <a:r>
              <a:rPr sz="1950" spc="25" dirty="0">
                <a:latin typeface="Times New Roman"/>
                <a:cs typeface="Calibri"/>
              </a:rPr>
              <a:t> </a:t>
            </a:r>
            <a:r>
              <a:rPr sz="1950" dirty="0">
                <a:latin typeface="Times New Roman"/>
                <a:cs typeface="Calibri"/>
              </a:rPr>
              <a:t>cleaned</a:t>
            </a:r>
            <a:r>
              <a:rPr sz="1950" spc="30" dirty="0">
                <a:latin typeface="Times New Roman"/>
                <a:cs typeface="Calibri"/>
              </a:rPr>
              <a:t> </a:t>
            </a:r>
            <a:r>
              <a:rPr sz="1950" spc="-25" dirty="0">
                <a:latin typeface="Times New Roman"/>
                <a:cs typeface="Calibri"/>
              </a:rPr>
              <a:t>and </a:t>
            </a:r>
            <a:r>
              <a:rPr sz="1950" dirty="0">
                <a:latin typeface="Times New Roman"/>
                <a:cs typeface="Calibri"/>
              </a:rPr>
              <a:t>structured</a:t>
            </a:r>
            <a:r>
              <a:rPr sz="1950" spc="80" dirty="0">
                <a:latin typeface="Times New Roman"/>
                <a:cs typeface="Calibri"/>
              </a:rPr>
              <a:t> </a:t>
            </a:r>
            <a:r>
              <a:rPr sz="1950" spc="-10" dirty="0">
                <a:latin typeface="Times New Roman"/>
                <a:cs typeface="Calibri"/>
              </a:rPr>
              <a:t>features </a:t>
            </a:r>
            <a:r>
              <a:rPr sz="1950" dirty="0">
                <a:latin typeface="Times New Roman"/>
                <a:cs typeface="Calibri"/>
              </a:rPr>
              <a:t>including</a:t>
            </a:r>
            <a:r>
              <a:rPr sz="1950" spc="40" dirty="0">
                <a:latin typeface="Times New Roman"/>
                <a:cs typeface="Calibri"/>
              </a:rPr>
              <a:t> </a:t>
            </a:r>
            <a:r>
              <a:rPr sz="1950" dirty="0">
                <a:latin typeface="Times New Roman"/>
                <a:cs typeface="Calibri"/>
              </a:rPr>
              <a:t>genre,</a:t>
            </a:r>
            <a:r>
              <a:rPr sz="1950" spc="50" dirty="0">
                <a:latin typeface="Times New Roman"/>
                <a:cs typeface="Calibri"/>
              </a:rPr>
              <a:t> </a:t>
            </a:r>
            <a:r>
              <a:rPr sz="1950" spc="-20" dirty="0">
                <a:latin typeface="Times New Roman"/>
                <a:cs typeface="Calibri"/>
              </a:rPr>
              <a:t>year, </a:t>
            </a:r>
            <a:r>
              <a:rPr sz="1950" dirty="0">
                <a:latin typeface="Times New Roman"/>
                <a:cs typeface="Calibri"/>
              </a:rPr>
              <a:t>rating,</a:t>
            </a:r>
            <a:r>
              <a:rPr sz="1950" spc="65" dirty="0">
                <a:latin typeface="Times New Roman"/>
                <a:cs typeface="Calibri"/>
              </a:rPr>
              <a:t> </a:t>
            </a:r>
            <a:r>
              <a:rPr sz="1950" dirty="0">
                <a:latin typeface="Times New Roman"/>
                <a:cs typeface="Calibri"/>
              </a:rPr>
              <a:t>popularity,</a:t>
            </a:r>
            <a:r>
              <a:rPr sz="1950" spc="45" dirty="0">
                <a:latin typeface="Times New Roman"/>
                <a:cs typeface="Calibri"/>
              </a:rPr>
              <a:t> </a:t>
            </a:r>
            <a:r>
              <a:rPr sz="1950" spc="-25" dirty="0">
                <a:latin typeface="Times New Roman"/>
                <a:cs typeface="Calibri"/>
              </a:rPr>
              <a:t>and </a:t>
            </a:r>
            <a:r>
              <a:rPr sz="1950" spc="-10" dirty="0">
                <a:latin typeface="Times New Roman"/>
                <a:cs typeface="Calibri"/>
              </a:rPr>
              <a:t>language.</a:t>
            </a:r>
            <a:endParaRPr sz="1950" dirty="0">
              <a:latin typeface="Times New Roman"/>
              <a:cs typeface="Calibri"/>
            </a:endParaRPr>
          </a:p>
          <a:p>
            <a:pPr marL="294640" marR="269240" indent="-281940">
              <a:spcBef>
                <a:spcPts val="819"/>
              </a:spcBef>
              <a:buSzPct val="66666"/>
              <a:buFont typeface="Arial MT"/>
              <a:buChar char="•"/>
              <a:tabLst>
                <a:tab pos="294640" algn="l"/>
              </a:tabLst>
            </a:pPr>
            <a:r>
              <a:rPr sz="1950" dirty="0">
                <a:latin typeface="Times New Roman"/>
                <a:cs typeface="Calibri"/>
              </a:rPr>
              <a:t>No</a:t>
            </a:r>
            <a:r>
              <a:rPr sz="1950" spc="30" dirty="0">
                <a:latin typeface="Times New Roman"/>
                <a:cs typeface="Calibri"/>
              </a:rPr>
              <a:t> </a:t>
            </a:r>
            <a:r>
              <a:rPr sz="1950" dirty="0">
                <a:latin typeface="Times New Roman"/>
                <a:cs typeface="Calibri"/>
              </a:rPr>
              <a:t>missing</a:t>
            </a:r>
            <a:r>
              <a:rPr sz="1950" spc="20" dirty="0">
                <a:latin typeface="Times New Roman"/>
                <a:cs typeface="Calibri"/>
              </a:rPr>
              <a:t> </a:t>
            </a:r>
            <a:r>
              <a:rPr sz="1950" spc="-10" dirty="0">
                <a:latin typeface="Times New Roman"/>
                <a:cs typeface="Calibri"/>
              </a:rPr>
              <a:t>values; </a:t>
            </a:r>
            <a:r>
              <a:rPr sz="1950" dirty="0">
                <a:latin typeface="Times New Roman"/>
                <a:cs typeface="Calibri"/>
              </a:rPr>
              <a:t>genres</a:t>
            </a:r>
            <a:r>
              <a:rPr sz="1950" spc="25" dirty="0">
                <a:latin typeface="Times New Roman"/>
                <a:cs typeface="Calibri"/>
              </a:rPr>
              <a:t> </a:t>
            </a:r>
            <a:r>
              <a:rPr sz="1950" dirty="0">
                <a:latin typeface="Times New Roman"/>
                <a:cs typeface="Calibri"/>
              </a:rPr>
              <a:t>stored</a:t>
            </a:r>
            <a:r>
              <a:rPr sz="1950" spc="40" dirty="0">
                <a:latin typeface="Times New Roman"/>
                <a:cs typeface="Calibri"/>
              </a:rPr>
              <a:t> </a:t>
            </a:r>
            <a:r>
              <a:rPr sz="1950" dirty="0">
                <a:latin typeface="Times New Roman"/>
                <a:cs typeface="Calibri"/>
              </a:rPr>
              <a:t>as</a:t>
            </a:r>
            <a:r>
              <a:rPr sz="1950" spc="55" dirty="0">
                <a:latin typeface="Times New Roman"/>
                <a:cs typeface="Calibri"/>
              </a:rPr>
              <a:t> </a:t>
            </a:r>
            <a:r>
              <a:rPr sz="1950" spc="-10" dirty="0">
                <a:latin typeface="Times New Roman"/>
                <a:cs typeface="Calibri"/>
              </a:rPr>
              <a:t>multi- </a:t>
            </a:r>
            <a:r>
              <a:rPr sz="1950" dirty="0">
                <a:latin typeface="Times New Roman"/>
                <a:cs typeface="Calibri"/>
              </a:rPr>
              <a:t>label</a:t>
            </a:r>
            <a:r>
              <a:rPr sz="1950" spc="30" dirty="0">
                <a:latin typeface="Times New Roman"/>
                <a:cs typeface="Calibri"/>
              </a:rPr>
              <a:t> </a:t>
            </a:r>
            <a:r>
              <a:rPr sz="1950" spc="-10" dirty="0">
                <a:latin typeface="Times New Roman"/>
                <a:cs typeface="Calibri"/>
              </a:rPr>
              <a:t>lists.</a:t>
            </a:r>
            <a:endParaRPr sz="1950" dirty="0">
              <a:latin typeface="Times New Roman"/>
              <a:cs typeface="Calibri"/>
            </a:endParaRPr>
          </a:p>
          <a:p>
            <a:pPr marL="294640" marR="5080" indent="-281940">
              <a:spcBef>
                <a:spcPts val="815"/>
              </a:spcBef>
              <a:buSzPct val="66666"/>
              <a:buFont typeface="Arial MT"/>
              <a:buChar char="•"/>
              <a:tabLst>
                <a:tab pos="294640" algn="l"/>
              </a:tabLst>
            </a:pPr>
            <a:r>
              <a:rPr sz="1950" dirty="0">
                <a:latin typeface="Times New Roman"/>
                <a:cs typeface="Calibri"/>
              </a:rPr>
              <a:t>Dataset</a:t>
            </a:r>
            <a:r>
              <a:rPr sz="1950" spc="30" dirty="0">
                <a:latin typeface="Times New Roman"/>
                <a:cs typeface="Calibri"/>
              </a:rPr>
              <a:t> </a:t>
            </a:r>
            <a:r>
              <a:rPr sz="1950" dirty="0">
                <a:latin typeface="Times New Roman"/>
                <a:cs typeface="Calibri"/>
              </a:rPr>
              <a:t>covers</a:t>
            </a:r>
            <a:r>
              <a:rPr sz="1950" spc="40" dirty="0">
                <a:latin typeface="Times New Roman"/>
                <a:cs typeface="Calibri"/>
              </a:rPr>
              <a:t> </a:t>
            </a:r>
            <a:r>
              <a:rPr sz="1950" dirty="0">
                <a:latin typeface="Times New Roman"/>
                <a:cs typeface="Calibri"/>
              </a:rPr>
              <a:t>films</a:t>
            </a:r>
            <a:r>
              <a:rPr sz="1950" spc="40" dirty="0">
                <a:latin typeface="Times New Roman"/>
                <a:cs typeface="Calibri"/>
              </a:rPr>
              <a:t> </a:t>
            </a:r>
            <a:r>
              <a:rPr sz="1950" spc="-20" dirty="0">
                <a:latin typeface="Times New Roman"/>
                <a:cs typeface="Calibri"/>
              </a:rPr>
              <a:t>from </a:t>
            </a:r>
            <a:r>
              <a:rPr sz="1950" dirty="0">
                <a:latin typeface="Times New Roman"/>
                <a:cs typeface="Calibri"/>
              </a:rPr>
              <a:t>1902–2025</a:t>
            </a:r>
            <a:r>
              <a:rPr sz="1950" spc="15" dirty="0">
                <a:latin typeface="Times New Roman"/>
                <a:cs typeface="Calibri"/>
              </a:rPr>
              <a:t> </a:t>
            </a:r>
            <a:r>
              <a:rPr sz="1950" dirty="0">
                <a:latin typeface="Times New Roman"/>
                <a:cs typeface="Calibri"/>
              </a:rPr>
              <a:t>with</a:t>
            </a:r>
            <a:r>
              <a:rPr sz="1950" spc="65" dirty="0">
                <a:latin typeface="Times New Roman"/>
                <a:cs typeface="Calibri"/>
              </a:rPr>
              <a:t> </a:t>
            </a:r>
            <a:r>
              <a:rPr sz="1950" spc="-10" dirty="0">
                <a:latin typeface="Times New Roman"/>
                <a:cs typeface="Calibri"/>
              </a:rPr>
              <a:t>strong </a:t>
            </a:r>
            <a:r>
              <a:rPr sz="1950" dirty="0">
                <a:latin typeface="Times New Roman"/>
                <a:cs typeface="Calibri"/>
              </a:rPr>
              <a:t>distribution</a:t>
            </a:r>
            <a:r>
              <a:rPr sz="1950" spc="70" dirty="0">
                <a:latin typeface="Times New Roman"/>
                <a:cs typeface="Calibri"/>
              </a:rPr>
              <a:t> </a:t>
            </a:r>
            <a:r>
              <a:rPr sz="1950" spc="-10" dirty="0">
                <a:latin typeface="Times New Roman"/>
                <a:cs typeface="Calibri"/>
              </a:rPr>
              <a:t>across </a:t>
            </a:r>
            <a:r>
              <a:rPr sz="1950" dirty="0">
                <a:latin typeface="Times New Roman"/>
                <a:cs typeface="Calibri"/>
              </a:rPr>
              <a:t>languages</a:t>
            </a:r>
            <a:r>
              <a:rPr sz="1950" spc="30" dirty="0">
                <a:latin typeface="Times New Roman"/>
                <a:cs typeface="Calibri"/>
              </a:rPr>
              <a:t> </a:t>
            </a:r>
            <a:r>
              <a:rPr sz="1950" dirty="0">
                <a:latin typeface="Times New Roman"/>
                <a:cs typeface="Calibri"/>
              </a:rPr>
              <a:t>and</a:t>
            </a:r>
            <a:r>
              <a:rPr sz="1950" spc="65" dirty="0">
                <a:latin typeface="Times New Roman"/>
                <a:cs typeface="Calibri"/>
              </a:rPr>
              <a:t> </a:t>
            </a:r>
            <a:r>
              <a:rPr sz="1950" spc="-10" dirty="0">
                <a:latin typeface="Times New Roman"/>
                <a:cs typeface="Calibri"/>
              </a:rPr>
              <a:t>genres.</a:t>
            </a:r>
            <a:endParaRPr sz="1950">
              <a:latin typeface="Times New Roman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84447" y="1042325"/>
            <a:ext cx="6475322" cy="485098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5754" rIns="0" bIns="0" rtlCol="0">
            <a:spAutoFit/>
          </a:bodyPr>
          <a:lstStyle/>
          <a:p>
            <a:pPr marL="216535">
              <a:lnSpc>
                <a:spcPct val="100000"/>
              </a:lnSpc>
              <a:spcBef>
                <a:spcPts val="100"/>
              </a:spcBef>
            </a:pPr>
            <a:r>
              <a:rPr sz="3300" b="1" dirty="0">
                <a:latin typeface="Times New Roman"/>
                <a:cs typeface="Times New Roman"/>
              </a:rPr>
              <a:t>Tools</a:t>
            </a:r>
            <a:r>
              <a:rPr sz="3300" b="1" spc="-5" dirty="0">
                <a:latin typeface="Times New Roman"/>
                <a:cs typeface="Times New Roman"/>
              </a:rPr>
              <a:t> </a:t>
            </a:r>
            <a:r>
              <a:rPr sz="3300" b="1" spc="-20" dirty="0">
                <a:latin typeface="Times New Roman"/>
                <a:cs typeface="Times New Roman"/>
              </a:rPr>
              <a:t>Used:</a:t>
            </a:r>
            <a:endParaRPr sz="33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03737" y="2428200"/>
            <a:ext cx="3160387" cy="89540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12764" y="4944465"/>
            <a:ext cx="2404107" cy="89647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44553" y="3703921"/>
            <a:ext cx="3190490" cy="77060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672328" y="4945380"/>
            <a:ext cx="3277405" cy="88689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603747" y="3624072"/>
            <a:ext cx="3057143" cy="101345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132075" y="2182367"/>
            <a:ext cx="2357627" cy="131978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2121" y="644908"/>
            <a:ext cx="3798570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b="1" dirty="0">
                <a:latin typeface="Times New Roman"/>
                <a:cs typeface="Times New Roman"/>
              </a:rPr>
              <a:t>Data</a:t>
            </a:r>
            <a:r>
              <a:rPr sz="3300" b="1" spc="-60" dirty="0">
                <a:latin typeface="Times New Roman"/>
                <a:cs typeface="Times New Roman"/>
              </a:rPr>
              <a:t> </a:t>
            </a:r>
            <a:r>
              <a:rPr sz="3300" b="1" dirty="0">
                <a:latin typeface="Times New Roman"/>
                <a:cs typeface="Times New Roman"/>
              </a:rPr>
              <a:t>Cleaning</a:t>
            </a:r>
            <a:r>
              <a:rPr sz="3300" b="1" spc="-60" dirty="0">
                <a:latin typeface="Times New Roman"/>
                <a:cs typeface="Times New Roman"/>
              </a:rPr>
              <a:t> </a:t>
            </a:r>
            <a:r>
              <a:rPr sz="3300" b="1" spc="-10" dirty="0">
                <a:latin typeface="Times New Roman"/>
                <a:cs typeface="Times New Roman"/>
              </a:rPr>
              <a:t>Steps:</a:t>
            </a:r>
            <a:endParaRPr sz="33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0812" y="1678141"/>
            <a:ext cx="4311015" cy="33451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99695" indent="-95250">
              <a:lnSpc>
                <a:spcPct val="100000"/>
              </a:lnSpc>
              <a:spcBef>
                <a:spcPts val="130"/>
              </a:spcBef>
              <a:buSzPct val="94871"/>
              <a:buChar char="•"/>
              <a:tabLst>
                <a:tab pos="99695" algn="l"/>
              </a:tabLst>
            </a:pPr>
            <a:r>
              <a:rPr sz="1950" dirty="0">
                <a:latin typeface="Arial MT"/>
                <a:cs typeface="Arial MT"/>
              </a:rPr>
              <a:t>Removed</a:t>
            </a:r>
            <a:r>
              <a:rPr sz="1950" spc="9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unwanted</a:t>
            </a:r>
            <a:r>
              <a:rPr sz="1950" spc="75" dirty="0">
                <a:latin typeface="Arial MT"/>
                <a:cs typeface="Arial MT"/>
              </a:rPr>
              <a:t> </a:t>
            </a:r>
            <a:r>
              <a:rPr sz="1950" spc="-10" dirty="0">
                <a:latin typeface="Arial MT"/>
                <a:cs typeface="Arial MT"/>
              </a:rPr>
              <a:t>columns</a:t>
            </a:r>
            <a:endParaRPr sz="19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65"/>
              </a:spcBef>
              <a:buFont typeface="Arial MT"/>
              <a:buChar char="•"/>
            </a:pPr>
            <a:endParaRPr sz="1950">
              <a:latin typeface="Arial MT"/>
              <a:cs typeface="Arial MT"/>
            </a:endParaRPr>
          </a:p>
          <a:p>
            <a:pPr marL="99695" indent="-95250">
              <a:lnSpc>
                <a:spcPct val="100000"/>
              </a:lnSpc>
              <a:spcBef>
                <a:spcPts val="5"/>
              </a:spcBef>
              <a:buSzPct val="94871"/>
              <a:buChar char="•"/>
              <a:tabLst>
                <a:tab pos="99695" algn="l"/>
              </a:tabLst>
            </a:pPr>
            <a:r>
              <a:rPr sz="1950" dirty="0">
                <a:latin typeface="Arial MT"/>
                <a:cs typeface="Arial MT"/>
              </a:rPr>
              <a:t>Fixed</a:t>
            </a:r>
            <a:r>
              <a:rPr sz="1950" spc="4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datatypes</a:t>
            </a:r>
            <a:r>
              <a:rPr sz="1950" spc="6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(date,</a:t>
            </a:r>
            <a:r>
              <a:rPr sz="1950" spc="4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numeric</a:t>
            </a:r>
            <a:r>
              <a:rPr sz="1950" spc="80" dirty="0">
                <a:latin typeface="Arial MT"/>
                <a:cs typeface="Arial MT"/>
              </a:rPr>
              <a:t> </a:t>
            </a:r>
            <a:r>
              <a:rPr sz="1950" spc="-10" dirty="0">
                <a:latin typeface="Arial MT"/>
                <a:cs typeface="Arial MT"/>
              </a:rPr>
              <a:t>fields)</a:t>
            </a:r>
            <a:endParaRPr sz="19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65"/>
              </a:spcBef>
              <a:buFont typeface="Arial MT"/>
              <a:buChar char="•"/>
            </a:pPr>
            <a:endParaRPr sz="1950">
              <a:latin typeface="Arial MT"/>
              <a:cs typeface="Arial MT"/>
            </a:endParaRPr>
          </a:p>
          <a:p>
            <a:pPr marL="99695" indent="-95250">
              <a:lnSpc>
                <a:spcPct val="100000"/>
              </a:lnSpc>
              <a:buSzPct val="94871"/>
              <a:buChar char="•"/>
              <a:tabLst>
                <a:tab pos="99695" algn="l"/>
              </a:tabLst>
            </a:pPr>
            <a:r>
              <a:rPr sz="1950" dirty="0">
                <a:latin typeface="Arial MT"/>
                <a:cs typeface="Arial MT"/>
              </a:rPr>
              <a:t>Parsed</a:t>
            </a:r>
            <a:r>
              <a:rPr sz="1950" spc="4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genres</a:t>
            </a:r>
            <a:r>
              <a:rPr sz="1950" spc="6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into</a:t>
            </a:r>
            <a:r>
              <a:rPr sz="1950" spc="4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list</a:t>
            </a:r>
            <a:r>
              <a:rPr sz="1950" spc="35" dirty="0">
                <a:latin typeface="Arial MT"/>
                <a:cs typeface="Arial MT"/>
              </a:rPr>
              <a:t> </a:t>
            </a:r>
            <a:r>
              <a:rPr sz="1950" spc="-10" dirty="0">
                <a:latin typeface="Arial MT"/>
                <a:cs typeface="Arial MT"/>
              </a:rPr>
              <a:t>format</a:t>
            </a:r>
            <a:endParaRPr sz="19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70"/>
              </a:spcBef>
              <a:buFont typeface="Arial MT"/>
              <a:buChar char="•"/>
            </a:pPr>
            <a:endParaRPr sz="1950">
              <a:latin typeface="Arial MT"/>
              <a:cs typeface="Arial MT"/>
            </a:endParaRPr>
          </a:p>
          <a:p>
            <a:pPr marL="99695" indent="-95250">
              <a:lnSpc>
                <a:spcPct val="100000"/>
              </a:lnSpc>
              <a:spcBef>
                <a:spcPts val="5"/>
              </a:spcBef>
              <a:buSzPct val="94871"/>
              <a:buChar char="•"/>
              <a:tabLst>
                <a:tab pos="99695" algn="l"/>
              </a:tabLst>
            </a:pPr>
            <a:r>
              <a:rPr sz="1950" dirty="0">
                <a:latin typeface="Arial MT"/>
                <a:cs typeface="Arial MT"/>
              </a:rPr>
              <a:t>Filled</a:t>
            </a:r>
            <a:r>
              <a:rPr sz="1950" spc="6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missing</a:t>
            </a:r>
            <a:r>
              <a:rPr sz="1950" spc="60" dirty="0">
                <a:latin typeface="Arial MT"/>
                <a:cs typeface="Arial MT"/>
              </a:rPr>
              <a:t> </a:t>
            </a:r>
            <a:r>
              <a:rPr sz="1950" spc="-10" dirty="0">
                <a:latin typeface="Arial MT"/>
                <a:cs typeface="Arial MT"/>
              </a:rPr>
              <a:t>descriptions/titles</a:t>
            </a:r>
            <a:endParaRPr sz="19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65"/>
              </a:spcBef>
              <a:buFont typeface="Arial MT"/>
              <a:buChar char="•"/>
            </a:pPr>
            <a:endParaRPr sz="1950">
              <a:latin typeface="Arial MT"/>
              <a:cs typeface="Arial MT"/>
            </a:endParaRPr>
          </a:p>
          <a:p>
            <a:pPr marL="99695" indent="-95250">
              <a:lnSpc>
                <a:spcPct val="100000"/>
              </a:lnSpc>
              <a:buSzPct val="94871"/>
              <a:buChar char="•"/>
              <a:tabLst>
                <a:tab pos="99695" algn="l"/>
              </a:tabLst>
            </a:pPr>
            <a:r>
              <a:rPr sz="1950" dirty="0">
                <a:latin typeface="Arial MT"/>
                <a:cs typeface="Arial MT"/>
              </a:rPr>
              <a:t>Cleaned</a:t>
            </a:r>
            <a:r>
              <a:rPr sz="1950" spc="7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language</a:t>
            </a:r>
            <a:r>
              <a:rPr sz="1950" spc="80" dirty="0">
                <a:latin typeface="Arial MT"/>
                <a:cs typeface="Arial MT"/>
              </a:rPr>
              <a:t> </a:t>
            </a:r>
            <a:r>
              <a:rPr sz="1950" spc="-10" dirty="0">
                <a:latin typeface="Arial MT"/>
                <a:cs typeface="Arial MT"/>
              </a:rPr>
              <a:t>labels</a:t>
            </a:r>
            <a:endParaRPr sz="19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70"/>
              </a:spcBef>
              <a:buFont typeface="Arial MT"/>
              <a:buChar char="•"/>
            </a:pPr>
            <a:endParaRPr sz="1950">
              <a:latin typeface="Arial MT"/>
              <a:cs typeface="Arial MT"/>
            </a:endParaRPr>
          </a:p>
          <a:p>
            <a:pPr marL="99695" indent="-95250">
              <a:lnSpc>
                <a:spcPct val="100000"/>
              </a:lnSpc>
              <a:buSzPct val="94871"/>
              <a:buChar char="•"/>
              <a:tabLst>
                <a:tab pos="99695" algn="l"/>
              </a:tabLst>
            </a:pPr>
            <a:r>
              <a:rPr sz="1950" dirty="0">
                <a:latin typeface="Arial MT"/>
                <a:cs typeface="Arial MT"/>
              </a:rPr>
              <a:t>Removed</a:t>
            </a:r>
            <a:r>
              <a:rPr sz="1950" spc="10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duplicate</a:t>
            </a:r>
            <a:r>
              <a:rPr sz="1950" spc="60" dirty="0">
                <a:latin typeface="Arial MT"/>
                <a:cs typeface="Arial MT"/>
              </a:rPr>
              <a:t> </a:t>
            </a:r>
            <a:r>
              <a:rPr sz="1950" spc="-20" dirty="0">
                <a:latin typeface="Arial MT"/>
                <a:cs typeface="Arial MT"/>
              </a:rPr>
              <a:t>rows</a:t>
            </a:r>
            <a:endParaRPr sz="195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68755" y="1675194"/>
            <a:ext cx="5224271" cy="344271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006" y="331468"/>
            <a:ext cx="8521005" cy="1055177"/>
          </a:xfrm>
          <a:prstGeom prst="rect">
            <a:avLst/>
          </a:prstGeom>
        </p:spPr>
        <p:txBody>
          <a:bodyPr vert="horz" wrap="square" lIns="0" tIns="445218" rIns="0" bIns="0" rtlCol="0">
            <a:spAutoFit/>
          </a:bodyPr>
          <a:lstStyle/>
          <a:p>
            <a:pPr marL="511175">
              <a:lnSpc>
                <a:spcPct val="100000"/>
              </a:lnSpc>
              <a:spcBef>
                <a:spcPts val="135"/>
              </a:spcBef>
            </a:pPr>
            <a:r>
              <a:rPr b="1" dirty="0">
                <a:latin typeface="Calibri"/>
                <a:cs typeface="Calibri"/>
              </a:rPr>
              <a:t>Univariate</a:t>
            </a:r>
            <a:r>
              <a:rPr b="1" spc="60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Analysis: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250" y="1609791"/>
            <a:ext cx="8437245" cy="4829977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295910" indent="-283210">
              <a:lnSpc>
                <a:spcPct val="150000"/>
              </a:lnSpc>
              <a:spcBef>
                <a:spcPts val="95"/>
              </a:spcBef>
              <a:buSzPct val="67441"/>
              <a:buFont typeface="Arial MT"/>
              <a:buChar char="•"/>
              <a:tabLst>
                <a:tab pos="295910" algn="l"/>
              </a:tabLst>
            </a:pPr>
            <a:r>
              <a:rPr sz="2000" dirty="0">
                <a:latin typeface="Times New Roman"/>
                <a:cs typeface="Calibri"/>
              </a:rPr>
              <a:t>Analyzing</a:t>
            </a:r>
            <a:r>
              <a:rPr sz="2000" spc="-4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a</a:t>
            </a:r>
            <a:r>
              <a:rPr sz="2000" spc="-4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single</a:t>
            </a:r>
            <a:r>
              <a:rPr sz="2000" spc="-40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variable</a:t>
            </a:r>
            <a:r>
              <a:rPr sz="2000" spc="-40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to</a:t>
            </a:r>
            <a:r>
              <a:rPr sz="2000" spc="-20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understand</a:t>
            </a:r>
            <a:r>
              <a:rPr sz="2000" spc="-60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its</a:t>
            </a:r>
            <a:r>
              <a:rPr sz="2000" spc="-2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distribution</a:t>
            </a:r>
            <a:r>
              <a:rPr sz="2000" spc="-1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and</a:t>
            </a:r>
            <a:r>
              <a:rPr sz="2000" spc="-60" dirty="0">
                <a:latin typeface="Times New Roman"/>
                <a:cs typeface="Calibri"/>
              </a:rPr>
              <a:t> </a:t>
            </a:r>
            <a:r>
              <a:rPr sz="2000" spc="-10" dirty="0">
                <a:latin typeface="Times New Roman"/>
                <a:cs typeface="Calibri"/>
              </a:rPr>
              <a:t>behavior.</a:t>
            </a:r>
            <a:endParaRPr sz="2000" dirty="0">
              <a:latin typeface="Times New Roman"/>
              <a:cs typeface="Calibri"/>
            </a:endParaRPr>
          </a:p>
          <a:p>
            <a:pPr marL="295910" marR="430530" indent="-283845">
              <a:lnSpc>
                <a:spcPct val="150000"/>
              </a:lnSpc>
              <a:spcBef>
                <a:spcPts val="825"/>
              </a:spcBef>
              <a:buSzPct val="67441"/>
              <a:buFont typeface="Arial MT"/>
              <a:buChar char="•"/>
            </a:pPr>
            <a:r>
              <a:rPr sz="2000" dirty="0">
                <a:latin typeface="Times New Roman"/>
                <a:cs typeface="Calibri"/>
              </a:rPr>
              <a:t>Languages</a:t>
            </a:r>
            <a:r>
              <a:rPr sz="2000" spc="-7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:</a:t>
            </a:r>
            <a:r>
              <a:rPr sz="2000" spc="-30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to</a:t>
            </a:r>
            <a:r>
              <a:rPr sz="2000" spc="-2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identify</a:t>
            </a:r>
            <a:r>
              <a:rPr sz="2000" spc="-80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the</a:t>
            </a:r>
            <a:r>
              <a:rPr sz="2000" spc="-2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most</a:t>
            </a:r>
            <a:r>
              <a:rPr sz="2000" spc="-4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common</a:t>
            </a:r>
            <a:r>
              <a:rPr sz="2000" spc="-20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languages</a:t>
            </a:r>
            <a:r>
              <a:rPr sz="2000" spc="-5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among</a:t>
            </a:r>
            <a:r>
              <a:rPr sz="2000" spc="-50" dirty="0">
                <a:latin typeface="Times New Roman"/>
                <a:cs typeface="Calibri"/>
              </a:rPr>
              <a:t> </a:t>
            </a:r>
            <a:r>
              <a:rPr sz="2000" spc="-10" dirty="0">
                <a:latin typeface="Times New Roman"/>
                <a:cs typeface="Calibri"/>
              </a:rPr>
              <a:t>top-rated movies.</a:t>
            </a:r>
            <a:endParaRPr sz="2000" dirty="0">
              <a:latin typeface="Times New Roman"/>
              <a:cs typeface="Calibri"/>
            </a:endParaRPr>
          </a:p>
          <a:p>
            <a:pPr marL="295910" indent="-283210">
              <a:lnSpc>
                <a:spcPct val="150000"/>
              </a:lnSpc>
              <a:spcBef>
                <a:spcPts val="50"/>
              </a:spcBef>
              <a:buSzPct val="67441"/>
              <a:buFont typeface="Arial MT"/>
              <a:buChar char="•"/>
              <a:tabLst>
                <a:tab pos="295910" algn="l"/>
              </a:tabLst>
            </a:pPr>
            <a:r>
              <a:rPr sz="2000" dirty="0">
                <a:latin typeface="Times New Roman"/>
                <a:cs typeface="Calibri"/>
              </a:rPr>
              <a:t>Genres</a:t>
            </a:r>
            <a:r>
              <a:rPr sz="2000" spc="-5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:</a:t>
            </a:r>
            <a:r>
              <a:rPr sz="2000" spc="-4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to</a:t>
            </a:r>
            <a:r>
              <a:rPr sz="2000" spc="-4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understand</a:t>
            </a:r>
            <a:r>
              <a:rPr sz="2000" spc="-60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which</a:t>
            </a:r>
            <a:r>
              <a:rPr sz="2000" spc="-40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genres</a:t>
            </a:r>
            <a:r>
              <a:rPr sz="2000" spc="-5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appear</a:t>
            </a:r>
            <a:r>
              <a:rPr sz="2000" spc="-4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most</a:t>
            </a:r>
            <a:r>
              <a:rPr sz="2000" spc="-40" dirty="0">
                <a:latin typeface="Times New Roman"/>
                <a:cs typeface="Calibri"/>
              </a:rPr>
              <a:t> </a:t>
            </a:r>
            <a:r>
              <a:rPr sz="2000" spc="-10" dirty="0">
                <a:latin typeface="Times New Roman"/>
                <a:cs typeface="Calibri"/>
              </a:rPr>
              <a:t>frequently.</a:t>
            </a:r>
            <a:endParaRPr sz="2000" dirty="0">
              <a:latin typeface="Times New Roman"/>
              <a:cs typeface="Calibri"/>
            </a:endParaRPr>
          </a:p>
          <a:p>
            <a:pPr marL="295910" indent="-283210">
              <a:lnSpc>
                <a:spcPct val="150000"/>
              </a:lnSpc>
              <a:spcBef>
                <a:spcPts val="50"/>
              </a:spcBef>
              <a:buSzPct val="67441"/>
              <a:buFont typeface="Arial MT"/>
              <a:buChar char="•"/>
              <a:tabLst>
                <a:tab pos="295910" algn="l"/>
              </a:tabLst>
            </a:pPr>
            <a:r>
              <a:rPr sz="2000" dirty="0">
                <a:latin typeface="Times New Roman"/>
                <a:cs typeface="Calibri"/>
              </a:rPr>
              <a:t>Release</a:t>
            </a:r>
            <a:r>
              <a:rPr sz="2000" spc="-7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Years</a:t>
            </a:r>
            <a:r>
              <a:rPr sz="2000" spc="-4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:</a:t>
            </a:r>
            <a:r>
              <a:rPr sz="2000" spc="-5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to</a:t>
            </a:r>
            <a:r>
              <a:rPr sz="2000" spc="-3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observe</a:t>
            </a:r>
            <a:r>
              <a:rPr sz="2000" spc="-40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movie</a:t>
            </a:r>
            <a:r>
              <a:rPr sz="2000" spc="-5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production</a:t>
            </a:r>
            <a:r>
              <a:rPr sz="2000" spc="-30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trends</a:t>
            </a:r>
            <a:r>
              <a:rPr sz="2000" spc="-6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over</a:t>
            </a:r>
            <a:r>
              <a:rPr sz="2000" spc="-60" dirty="0">
                <a:latin typeface="Times New Roman"/>
                <a:cs typeface="Calibri"/>
              </a:rPr>
              <a:t> </a:t>
            </a:r>
            <a:r>
              <a:rPr sz="2000" spc="-10" dirty="0">
                <a:latin typeface="Times New Roman"/>
                <a:cs typeface="Calibri"/>
              </a:rPr>
              <a:t>time.</a:t>
            </a:r>
            <a:endParaRPr sz="2000" dirty="0">
              <a:latin typeface="Times New Roman"/>
              <a:cs typeface="Calibri"/>
            </a:endParaRPr>
          </a:p>
          <a:p>
            <a:pPr marL="295910" marR="5080" indent="-283845">
              <a:lnSpc>
                <a:spcPct val="150000"/>
              </a:lnSpc>
              <a:spcBef>
                <a:spcPts val="830"/>
              </a:spcBef>
              <a:buSzPct val="67441"/>
              <a:buFont typeface="Arial MT"/>
              <a:buChar char="•"/>
              <a:tabLst>
                <a:tab pos="295910" algn="l"/>
              </a:tabLst>
            </a:pPr>
            <a:r>
              <a:rPr sz="2000" dirty="0">
                <a:latin typeface="Times New Roman"/>
                <a:cs typeface="Calibri"/>
              </a:rPr>
              <a:t>Ratings</a:t>
            </a:r>
            <a:r>
              <a:rPr sz="2000" spc="-25" dirty="0">
                <a:latin typeface="Times New Roman"/>
                <a:cs typeface="Calibri"/>
              </a:rPr>
              <a:t> </a:t>
            </a:r>
            <a:r>
              <a:rPr sz="2000" spc="-10" dirty="0">
                <a:latin typeface="Times New Roman"/>
                <a:cs typeface="Calibri"/>
              </a:rPr>
              <a:t>(vote_average)</a:t>
            </a:r>
            <a:r>
              <a:rPr sz="2000" spc="-30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:</a:t>
            </a:r>
            <a:r>
              <a:rPr sz="2000" spc="-1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to</a:t>
            </a:r>
            <a:r>
              <a:rPr sz="2000" spc="-20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study</a:t>
            </a:r>
            <a:r>
              <a:rPr sz="2000" spc="-50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how</a:t>
            </a:r>
            <a:r>
              <a:rPr sz="2000" spc="-10" dirty="0">
                <a:latin typeface="Times New Roman"/>
                <a:cs typeface="Calibri"/>
              </a:rPr>
              <a:t> </a:t>
            </a:r>
            <a:r>
              <a:rPr sz="2000" spc="-20" dirty="0">
                <a:latin typeface="Times New Roman"/>
                <a:cs typeface="Calibri"/>
              </a:rPr>
              <a:t>top-</a:t>
            </a:r>
            <a:r>
              <a:rPr sz="2000" dirty="0">
                <a:latin typeface="Times New Roman"/>
                <a:cs typeface="Calibri"/>
              </a:rPr>
              <a:t>rated</a:t>
            </a:r>
            <a:r>
              <a:rPr sz="2000" spc="-3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movies</a:t>
            </a:r>
            <a:r>
              <a:rPr sz="2000" spc="-4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are</a:t>
            </a:r>
            <a:r>
              <a:rPr sz="2000" spc="-20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distributed</a:t>
            </a:r>
            <a:r>
              <a:rPr sz="2000" spc="-55" dirty="0">
                <a:latin typeface="Times New Roman"/>
                <a:cs typeface="Calibri"/>
              </a:rPr>
              <a:t> </a:t>
            </a:r>
            <a:r>
              <a:rPr sz="2000" spc="-25" dirty="0">
                <a:latin typeface="Times New Roman"/>
                <a:cs typeface="Calibri"/>
              </a:rPr>
              <a:t>in </a:t>
            </a:r>
            <a:r>
              <a:rPr sz="2000" spc="-10" dirty="0">
                <a:latin typeface="Times New Roman"/>
                <a:cs typeface="Calibri"/>
              </a:rPr>
              <a:t>quality.</a:t>
            </a:r>
            <a:endParaRPr sz="2000" dirty="0">
              <a:latin typeface="Times New Roman"/>
              <a:cs typeface="Calibri"/>
            </a:endParaRPr>
          </a:p>
          <a:p>
            <a:pPr marL="295910" indent="-283210">
              <a:lnSpc>
                <a:spcPct val="150000"/>
              </a:lnSpc>
              <a:spcBef>
                <a:spcPts val="45"/>
              </a:spcBef>
              <a:buSzPct val="67441"/>
              <a:buFont typeface="Arial MT"/>
              <a:buChar char="•"/>
              <a:tabLst>
                <a:tab pos="295910" algn="l"/>
              </a:tabLst>
            </a:pPr>
            <a:r>
              <a:rPr sz="2000" dirty="0">
                <a:latin typeface="Times New Roman"/>
                <a:cs typeface="Calibri"/>
              </a:rPr>
              <a:t>Popularity</a:t>
            </a:r>
            <a:r>
              <a:rPr sz="2000" spc="-60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Scores</a:t>
            </a:r>
            <a:r>
              <a:rPr sz="2000" spc="-4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:</a:t>
            </a:r>
            <a:r>
              <a:rPr sz="2000" spc="-40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to</a:t>
            </a:r>
            <a:r>
              <a:rPr sz="2000" spc="-40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understand</a:t>
            </a:r>
            <a:r>
              <a:rPr sz="2000" spc="-7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engagement</a:t>
            </a:r>
            <a:r>
              <a:rPr sz="2000" spc="-7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levels</a:t>
            </a:r>
            <a:r>
              <a:rPr sz="2000" spc="-8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across</a:t>
            </a:r>
            <a:r>
              <a:rPr sz="2000" spc="-40" dirty="0">
                <a:latin typeface="Times New Roman"/>
                <a:cs typeface="Calibri"/>
              </a:rPr>
              <a:t> </a:t>
            </a:r>
            <a:r>
              <a:rPr sz="2000" spc="-10" dirty="0">
                <a:latin typeface="Times New Roman"/>
                <a:cs typeface="Calibri"/>
              </a:rPr>
              <a:t>movies.</a:t>
            </a:r>
            <a:endParaRPr sz="2000" dirty="0">
              <a:latin typeface="Times New Roman"/>
              <a:cs typeface="Calibri"/>
            </a:endParaRPr>
          </a:p>
          <a:p>
            <a:pPr marL="295910" indent="-283210">
              <a:lnSpc>
                <a:spcPct val="150000"/>
              </a:lnSpc>
              <a:spcBef>
                <a:spcPts val="50"/>
              </a:spcBef>
              <a:buSzPct val="67441"/>
              <a:buFont typeface="Arial MT"/>
              <a:buChar char="•"/>
              <a:tabLst>
                <a:tab pos="295910" algn="l"/>
              </a:tabLst>
            </a:pPr>
            <a:r>
              <a:rPr sz="2000" dirty="0">
                <a:latin typeface="Times New Roman"/>
                <a:cs typeface="Calibri"/>
              </a:rPr>
              <a:t>Vote</a:t>
            </a:r>
            <a:r>
              <a:rPr sz="2000" spc="-4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Counts</a:t>
            </a:r>
            <a:r>
              <a:rPr sz="2000" spc="-30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:</a:t>
            </a:r>
            <a:r>
              <a:rPr sz="2000" spc="-40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to</a:t>
            </a:r>
            <a:r>
              <a:rPr sz="2000" spc="-4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analyze</a:t>
            </a:r>
            <a:r>
              <a:rPr sz="2000" spc="-60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audience</a:t>
            </a:r>
            <a:r>
              <a:rPr sz="2000" spc="-6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interaction</a:t>
            </a:r>
            <a:r>
              <a:rPr sz="2000" spc="-35" dirty="0">
                <a:latin typeface="Times New Roman"/>
                <a:cs typeface="Calibri"/>
              </a:rPr>
              <a:t> </a:t>
            </a:r>
            <a:r>
              <a:rPr sz="2000" spc="-10" dirty="0">
                <a:latin typeface="Times New Roman"/>
                <a:cs typeface="Calibri"/>
              </a:rPr>
              <a:t>levels.</a:t>
            </a:r>
            <a:endParaRPr sz="2000" dirty="0">
              <a:latin typeface="Times New Roman"/>
              <a:cs typeface="Calibri"/>
            </a:endParaRPr>
          </a:p>
          <a:p>
            <a:pPr marL="295910" indent="-283210">
              <a:lnSpc>
                <a:spcPct val="150000"/>
              </a:lnSpc>
              <a:spcBef>
                <a:spcPts val="50"/>
              </a:spcBef>
              <a:buSzPct val="67441"/>
              <a:buFont typeface="Arial MT"/>
              <a:buChar char="•"/>
              <a:tabLst>
                <a:tab pos="295910" algn="l"/>
              </a:tabLst>
            </a:pPr>
            <a:r>
              <a:rPr sz="2000" dirty="0">
                <a:latin typeface="Times New Roman"/>
                <a:cs typeface="Calibri"/>
              </a:rPr>
              <a:t>Overview</a:t>
            </a:r>
            <a:r>
              <a:rPr sz="2000" spc="-5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Word</a:t>
            </a:r>
            <a:r>
              <a:rPr sz="2000" spc="-5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Count</a:t>
            </a:r>
            <a:r>
              <a:rPr sz="2000" spc="-5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:</a:t>
            </a:r>
            <a:r>
              <a:rPr sz="2000" spc="-60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to</a:t>
            </a:r>
            <a:r>
              <a:rPr sz="2000" spc="-60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understand</a:t>
            </a:r>
            <a:r>
              <a:rPr sz="2000" spc="-50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typical</a:t>
            </a:r>
            <a:r>
              <a:rPr sz="2000" spc="-4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description</a:t>
            </a:r>
            <a:r>
              <a:rPr sz="2000" spc="-55" dirty="0">
                <a:latin typeface="Times New Roman"/>
                <a:cs typeface="Calibri"/>
              </a:rPr>
              <a:t> </a:t>
            </a:r>
            <a:r>
              <a:rPr sz="2000" spc="-10" dirty="0">
                <a:latin typeface="Times New Roman"/>
                <a:cs typeface="Calibri"/>
              </a:rPr>
              <a:t>lengths.</a:t>
            </a:r>
            <a:endParaRPr sz="2000" dirty="0">
              <a:latin typeface="Times New Roman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214627"/>
            <a:ext cx="9857232" cy="227837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" name="object 3"/>
          <p:cNvSpPr txBox="1"/>
          <p:nvPr/>
        </p:nvSpPr>
        <p:spPr>
          <a:xfrm>
            <a:off x="455224" y="3905537"/>
            <a:ext cx="8489315" cy="1868460"/>
          </a:xfrm>
          <a:prstGeom prst="rect">
            <a:avLst/>
          </a:prstGeom>
        </p:spPr>
        <p:txBody>
          <a:bodyPr vert="horz" wrap="square" lIns="0" tIns="16510" rIns="0" bIns="0" rtlCol="0" anchor="t">
            <a:spAutoFit/>
          </a:bodyPr>
          <a:lstStyle/>
          <a:p>
            <a:pPr marL="367030" indent="-354330">
              <a:lnSpc>
                <a:spcPct val="100000"/>
              </a:lnSpc>
              <a:spcBef>
                <a:spcPts val="130"/>
              </a:spcBef>
              <a:buChar char="•"/>
              <a:tabLst>
                <a:tab pos="367030" algn="l"/>
              </a:tabLst>
            </a:pPr>
            <a:r>
              <a:rPr sz="1950" dirty="0">
                <a:latin typeface="Arial MT"/>
                <a:cs typeface="Arial MT"/>
              </a:rPr>
              <a:t>Language</a:t>
            </a:r>
            <a:r>
              <a:rPr sz="1950" spc="5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Analyzed</a:t>
            </a:r>
            <a:r>
              <a:rPr sz="1950" spc="5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the</a:t>
            </a:r>
            <a:r>
              <a:rPr sz="1950" spc="5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count</a:t>
            </a:r>
            <a:r>
              <a:rPr sz="1950" spc="2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of</a:t>
            </a:r>
            <a:r>
              <a:rPr sz="1950" spc="7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movies</a:t>
            </a:r>
            <a:r>
              <a:rPr sz="1950" spc="4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by</a:t>
            </a:r>
            <a:r>
              <a:rPr sz="1950" spc="4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original</a:t>
            </a:r>
            <a:r>
              <a:rPr sz="1950" spc="75" dirty="0">
                <a:latin typeface="Arial MT"/>
                <a:cs typeface="Arial MT"/>
              </a:rPr>
              <a:t> </a:t>
            </a:r>
            <a:r>
              <a:rPr sz="1950" spc="-10" dirty="0">
                <a:latin typeface="Arial MT"/>
                <a:cs typeface="Arial MT"/>
              </a:rPr>
              <a:t>language.</a:t>
            </a:r>
            <a:endParaRPr sz="19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65"/>
              </a:spcBef>
              <a:buFont typeface="Arial MT"/>
              <a:buChar char="•"/>
            </a:pPr>
            <a:endParaRPr sz="1950">
              <a:latin typeface="Arial MT"/>
              <a:cs typeface="Arial MT"/>
            </a:endParaRPr>
          </a:p>
          <a:p>
            <a:pPr marL="248920" indent="-236220">
              <a:lnSpc>
                <a:spcPct val="100000"/>
              </a:lnSpc>
              <a:spcBef>
                <a:spcPts val="5"/>
              </a:spcBef>
              <a:buChar char="•"/>
              <a:tabLst>
                <a:tab pos="248920" algn="l"/>
              </a:tabLst>
            </a:pPr>
            <a:r>
              <a:rPr sz="1950" b="1" dirty="0">
                <a:latin typeface="Arial MT"/>
                <a:cs typeface="Arial MT"/>
              </a:rPr>
              <a:t>English</a:t>
            </a:r>
            <a:r>
              <a:rPr sz="1950" b="1" spc="60" dirty="0">
                <a:latin typeface="Arial MT"/>
                <a:cs typeface="Arial MT"/>
              </a:rPr>
              <a:t> </a:t>
            </a:r>
            <a:r>
              <a:rPr sz="1950" b="1" dirty="0">
                <a:latin typeface="Arial MT"/>
                <a:cs typeface="Arial MT"/>
              </a:rPr>
              <a:t>dominates</a:t>
            </a:r>
            <a:r>
              <a:rPr sz="1950" b="1" spc="7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the</a:t>
            </a:r>
            <a:r>
              <a:rPr sz="1950" spc="6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dataset,</a:t>
            </a:r>
            <a:r>
              <a:rPr sz="1950" spc="3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followed</a:t>
            </a:r>
            <a:r>
              <a:rPr sz="1950" spc="6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by</a:t>
            </a:r>
            <a:r>
              <a:rPr sz="1950" spc="50" dirty="0">
                <a:latin typeface="Arial MT"/>
                <a:cs typeface="Arial MT"/>
              </a:rPr>
              <a:t> </a:t>
            </a:r>
            <a:r>
              <a:rPr sz="1950" b="1" dirty="0">
                <a:latin typeface="Arial MT"/>
                <a:cs typeface="Arial MT"/>
              </a:rPr>
              <a:t>French,</a:t>
            </a:r>
            <a:r>
              <a:rPr sz="1950" b="1" spc="55" dirty="0">
                <a:latin typeface="Arial MT"/>
                <a:cs typeface="Arial MT"/>
              </a:rPr>
              <a:t> </a:t>
            </a:r>
            <a:r>
              <a:rPr sz="1950" b="1" dirty="0">
                <a:latin typeface="Arial MT"/>
                <a:cs typeface="Arial MT"/>
              </a:rPr>
              <a:t>Japanese,</a:t>
            </a:r>
            <a:r>
              <a:rPr sz="1950" b="1" spc="55" dirty="0">
                <a:latin typeface="Arial MT"/>
                <a:cs typeface="Arial MT"/>
              </a:rPr>
              <a:t> </a:t>
            </a:r>
            <a:r>
              <a:rPr sz="1950" b="1" dirty="0">
                <a:latin typeface="Arial MT"/>
                <a:cs typeface="Arial MT"/>
              </a:rPr>
              <a:t>and</a:t>
            </a:r>
            <a:r>
              <a:rPr sz="1950" b="1" spc="85" dirty="0">
                <a:latin typeface="Arial MT"/>
                <a:cs typeface="Arial MT"/>
              </a:rPr>
              <a:t> </a:t>
            </a:r>
            <a:r>
              <a:rPr sz="1950" b="1" spc="-10" dirty="0">
                <a:latin typeface="Arial MT"/>
                <a:cs typeface="Arial MT"/>
              </a:rPr>
              <a:t>Italian</a:t>
            </a:r>
            <a:r>
              <a:rPr sz="1950" spc="-10" dirty="0">
                <a:latin typeface="Arial MT"/>
                <a:cs typeface="Arial MT"/>
              </a:rPr>
              <a:t>.</a:t>
            </a:r>
            <a:endParaRPr sz="19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65"/>
              </a:spcBef>
              <a:buFont typeface="Arial MT"/>
              <a:buChar char="•"/>
            </a:pPr>
            <a:endParaRPr sz="1950">
              <a:latin typeface="Arial MT"/>
              <a:cs typeface="Arial MT"/>
            </a:endParaRPr>
          </a:p>
          <a:p>
            <a:pPr marL="248920" indent="-236220">
              <a:lnSpc>
                <a:spcPct val="100000"/>
              </a:lnSpc>
              <a:buChar char="•"/>
              <a:tabLst>
                <a:tab pos="248920" algn="l"/>
              </a:tabLst>
            </a:pPr>
            <a:r>
              <a:rPr sz="1950" dirty="0">
                <a:latin typeface="Arial MT"/>
                <a:cs typeface="Arial MT"/>
              </a:rPr>
              <a:t>Shows</a:t>
            </a:r>
            <a:r>
              <a:rPr sz="1950" spc="7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global</a:t>
            </a:r>
            <a:r>
              <a:rPr sz="1950" spc="10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diversity</a:t>
            </a:r>
            <a:r>
              <a:rPr sz="1950" spc="3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but</a:t>
            </a:r>
            <a:r>
              <a:rPr sz="1950" spc="60" dirty="0">
                <a:latin typeface="Arial MT"/>
                <a:cs typeface="Arial MT"/>
              </a:rPr>
              <a:t> </a:t>
            </a:r>
            <a:r>
              <a:rPr sz="1950" b="1" dirty="0">
                <a:latin typeface="Arial MT"/>
                <a:cs typeface="Arial MT"/>
              </a:rPr>
              <a:t>strong</a:t>
            </a:r>
            <a:r>
              <a:rPr sz="1950" b="1" spc="70" dirty="0">
                <a:latin typeface="Arial MT"/>
                <a:cs typeface="Arial MT"/>
              </a:rPr>
              <a:t> </a:t>
            </a:r>
            <a:r>
              <a:rPr sz="1950" b="1" dirty="0">
                <a:latin typeface="Arial MT"/>
                <a:cs typeface="Arial MT"/>
              </a:rPr>
              <a:t>English-language</a:t>
            </a:r>
            <a:r>
              <a:rPr sz="1950" b="1" spc="70" dirty="0">
                <a:latin typeface="Arial MT"/>
                <a:cs typeface="Arial MT"/>
              </a:rPr>
              <a:t> </a:t>
            </a:r>
            <a:r>
              <a:rPr sz="1950" b="1" spc="-10" dirty="0">
                <a:latin typeface="Arial MT"/>
                <a:cs typeface="Arial MT"/>
              </a:rPr>
              <a:t>influence.</a:t>
            </a:r>
            <a:endParaRPr sz="1950" b="1" dirty="0">
              <a:latin typeface="Arial MT"/>
              <a:cs typeface="Arial M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87BF02-1E47-405D-468F-4F22A8F9BF7F}"/>
              </a:ext>
            </a:extLst>
          </p:cNvPr>
          <p:cNvSpPr txBox="1"/>
          <p:nvPr/>
        </p:nvSpPr>
        <p:spPr>
          <a:xfrm>
            <a:off x="573255" y="337782"/>
            <a:ext cx="258488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2000" b="1" dirty="0">
                <a:latin typeface="Times New Roman"/>
                <a:cs typeface="Times New Roman"/>
              </a:rPr>
              <a:t> </a:t>
            </a:r>
            <a:r>
              <a:rPr lang="en-GB" sz="2400" b="1" dirty="0">
                <a:latin typeface="Times New Roman"/>
                <a:cs typeface="Times New Roman"/>
              </a:rPr>
              <a:t>​Languages ​</a:t>
            </a:r>
            <a:endParaRPr lang="en-GB" sz="2400" b="1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756" y="1254251"/>
            <a:ext cx="9809018" cy="214386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" name="object 3"/>
          <p:cNvSpPr txBox="1"/>
          <p:nvPr/>
        </p:nvSpPr>
        <p:spPr>
          <a:xfrm>
            <a:off x="496356" y="3879058"/>
            <a:ext cx="9248939" cy="1561581"/>
          </a:xfrm>
          <a:prstGeom prst="rect">
            <a:avLst/>
          </a:prstGeom>
        </p:spPr>
        <p:txBody>
          <a:bodyPr vert="horz" wrap="square" lIns="0" tIns="16510" rIns="0" bIns="0" rtlCol="0" anchor="t">
            <a:spAutoFit/>
          </a:bodyPr>
          <a:lstStyle/>
          <a:p>
            <a:pPr marL="296545" indent="-283845">
              <a:lnSpc>
                <a:spcPct val="100000"/>
              </a:lnSpc>
              <a:spcBef>
                <a:spcPts val="130"/>
              </a:spcBef>
              <a:buChar char="•"/>
              <a:tabLst>
                <a:tab pos="296545" algn="l"/>
              </a:tabLst>
            </a:pPr>
            <a:r>
              <a:rPr sz="1950" dirty="0">
                <a:latin typeface="Times New Roman"/>
                <a:cs typeface="Arial MT"/>
              </a:rPr>
              <a:t>Genres</a:t>
            </a:r>
            <a:r>
              <a:rPr sz="1950" spc="40" dirty="0">
                <a:latin typeface="Times New Roman"/>
                <a:cs typeface="Arial MT"/>
              </a:rPr>
              <a:t> </a:t>
            </a:r>
            <a:r>
              <a:rPr sz="1950" dirty="0">
                <a:latin typeface="Times New Roman"/>
                <a:cs typeface="Arial MT"/>
              </a:rPr>
              <a:t>Exploded</a:t>
            </a:r>
            <a:r>
              <a:rPr sz="1950" spc="50" dirty="0">
                <a:latin typeface="Times New Roman"/>
                <a:cs typeface="Arial MT"/>
              </a:rPr>
              <a:t> </a:t>
            </a:r>
            <a:r>
              <a:rPr sz="1950" dirty="0">
                <a:latin typeface="Times New Roman"/>
                <a:cs typeface="Arial MT"/>
              </a:rPr>
              <a:t>the</a:t>
            </a:r>
            <a:r>
              <a:rPr sz="1950" spc="50" dirty="0">
                <a:latin typeface="Times New Roman"/>
                <a:cs typeface="Arial MT"/>
              </a:rPr>
              <a:t> </a:t>
            </a:r>
            <a:r>
              <a:rPr sz="1950" dirty="0">
                <a:latin typeface="Times New Roman"/>
                <a:cs typeface="Arial MT"/>
              </a:rPr>
              <a:t>genre</a:t>
            </a:r>
            <a:r>
              <a:rPr sz="1950" spc="55" dirty="0">
                <a:latin typeface="Times New Roman"/>
                <a:cs typeface="Arial MT"/>
              </a:rPr>
              <a:t> </a:t>
            </a:r>
            <a:r>
              <a:rPr sz="1950" dirty="0">
                <a:latin typeface="Times New Roman"/>
                <a:cs typeface="Arial MT"/>
              </a:rPr>
              <a:t>column</a:t>
            </a:r>
            <a:r>
              <a:rPr sz="1950" spc="75" dirty="0">
                <a:latin typeface="Times New Roman"/>
                <a:cs typeface="Arial MT"/>
              </a:rPr>
              <a:t> </a:t>
            </a:r>
            <a:r>
              <a:rPr sz="1950" dirty="0">
                <a:latin typeface="Times New Roman"/>
                <a:cs typeface="Arial MT"/>
              </a:rPr>
              <a:t>and</a:t>
            </a:r>
            <a:r>
              <a:rPr sz="1950" spc="70" dirty="0">
                <a:latin typeface="Times New Roman"/>
                <a:cs typeface="Arial MT"/>
              </a:rPr>
              <a:t> </a:t>
            </a:r>
            <a:r>
              <a:rPr sz="1950" dirty="0">
                <a:latin typeface="Times New Roman"/>
                <a:cs typeface="Arial MT"/>
              </a:rPr>
              <a:t>counted</a:t>
            </a:r>
            <a:r>
              <a:rPr sz="1950" spc="30" dirty="0">
                <a:latin typeface="Times New Roman"/>
                <a:cs typeface="Arial MT"/>
              </a:rPr>
              <a:t> </a:t>
            </a:r>
            <a:r>
              <a:rPr sz="1950" spc="-10" dirty="0">
                <a:latin typeface="Times New Roman"/>
                <a:cs typeface="Arial MT"/>
              </a:rPr>
              <a:t>occurrences.</a:t>
            </a:r>
            <a:endParaRPr sz="1950">
              <a:latin typeface="Times New Roman"/>
              <a:cs typeface="Arial MT"/>
            </a:endParaRPr>
          </a:p>
          <a:p>
            <a:pPr>
              <a:lnSpc>
                <a:spcPct val="100000"/>
              </a:lnSpc>
              <a:spcBef>
                <a:spcPts val="130"/>
              </a:spcBef>
              <a:buFont typeface="Arial MT"/>
              <a:buChar char="•"/>
            </a:pPr>
            <a:endParaRPr sz="1950" dirty="0">
              <a:latin typeface="Times New Roman"/>
              <a:cs typeface="Arial MT"/>
            </a:endParaRPr>
          </a:p>
          <a:p>
            <a:pPr marL="295910" marR="5080" indent="-283845">
              <a:lnSpc>
                <a:spcPct val="101600"/>
              </a:lnSpc>
              <a:buChar char="•"/>
              <a:tabLst>
                <a:tab pos="295910" algn="l"/>
              </a:tabLst>
            </a:pPr>
            <a:r>
              <a:rPr sz="1950" b="1" dirty="0">
                <a:latin typeface="Times New Roman"/>
                <a:cs typeface="Arial MT"/>
              </a:rPr>
              <a:t>Drama</a:t>
            </a:r>
            <a:r>
              <a:rPr sz="1950" b="1" spc="65" dirty="0">
                <a:latin typeface="Times New Roman"/>
                <a:cs typeface="Arial MT"/>
              </a:rPr>
              <a:t> </a:t>
            </a:r>
            <a:r>
              <a:rPr sz="1950" dirty="0">
                <a:latin typeface="Times New Roman"/>
                <a:cs typeface="Arial MT"/>
              </a:rPr>
              <a:t>is</a:t>
            </a:r>
            <a:r>
              <a:rPr sz="1950" spc="55" dirty="0">
                <a:latin typeface="Times New Roman"/>
                <a:cs typeface="Arial MT"/>
              </a:rPr>
              <a:t> </a:t>
            </a:r>
            <a:r>
              <a:rPr sz="1950" dirty="0">
                <a:latin typeface="Times New Roman"/>
                <a:cs typeface="Arial MT"/>
              </a:rPr>
              <a:t>the</a:t>
            </a:r>
            <a:r>
              <a:rPr sz="1950" spc="45" dirty="0">
                <a:latin typeface="Times New Roman"/>
                <a:cs typeface="Arial MT"/>
              </a:rPr>
              <a:t> </a:t>
            </a:r>
            <a:r>
              <a:rPr sz="1950" dirty="0">
                <a:latin typeface="Times New Roman"/>
                <a:cs typeface="Arial MT"/>
              </a:rPr>
              <a:t>most</a:t>
            </a:r>
            <a:r>
              <a:rPr sz="1950" spc="65" dirty="0">
                <a:latin typeface="Times New Roman"/>
                <a:cs typeface="Arial MT"/>
              </a:rPr>
              <a:t> </a:t>
            </a:r>
            <a:r>
              <a:rPr sz="1950" dirty="0">
                <a:latin typeface="Times New Roman"/>
                <a:cs typeface="Arial MT"/>
              </a:rPr>
              <a:t>common</a:t>
            </a:r>
            <a:r>
              <a:rPr sz="1950" spc="65" dirty="0">
                <a:latin typeface="Times New Roman"/>
                <a:cs typeface="Arial MT"/>
              </a:rPr>
              <a:t> </a:t>
            </a:r>
            <a:r>
              <a:rPr sz="1950" dirty="0">
                <a:latin typeface="Times New Roman"/>
                <a:cs typeface="Arial MT"/>
              </a:rPr>
              <a:t>genre,</a:t>
            </a:r>
            <a:r>
              <a:rPr sz="1950" spc="60" dirty="0">
                <a:latin typeface="Times New Roman"/>
                <a:cs typeface="Arial MT"/>
              </a:rPr>
              <a:t> </a:t>
            </a:r>
            <a:r>
              <a:rPr sz="1950" dirty="0">
                <a:latin typeface="Times New Roman"/>
                <a:cs typeface="Arial MT"/>
              </a:rPr>
              <a:t>followed</a:t>
            </a:r>
            <a:r>
              <a:rPr sz="1950" spc="50" dirty="0">
                <a:latin typeface="Times New Roman"/>
                <a:cs typeface="Arial MT"/>
              </a:rPr>
              <a:t> </a:t>
            </a:r>
            <a:r>
              <a:rPr sz="1950" dirty="0">
                <a:latin typeface="Times New Roman"/>
                <a:cs typeface="Arial MT"/>
              </a:rPr>
              <a:t>by</a:t>
            </a:r>
            <a:r>
              <a:rPr sz="1950" spc="55" dirty="0">
                <a:latin typeface="Times New Roman"/>
                <a:cs typeface="Arial MT"/>
              </a:rPr>
              <a:t> </a:t>
            </a:r>
            <a:r>
              <a:rPr sz="1950" b="1" dirty="0">
                <a:latin typeface="Times New Roman"/>
                <a:cs typeface="Arial MT"/>
              </a:rPr>
              <a:t>Comedy,</a:t>
            </a:r>
            <a:r>
              <a:rPr sz="1950" b="1" spc="40" dirty="0">
                <a:latin typeface="Times New Roman"/>
                <a:cs typeface="Arial MT"/>
              </a:rPr>
              <a:t> </a:t>
            </a:r>
            <a:r>
              <a:rPr sz="1950" b="1" dirty="0">
                <a:latin typeface="Times New Roman"/>
                <a:cs typeface="Arial MT"/>
              </a:rPr>
              <a:t>Adventure,</a:t>
            </a:r>
            <a:r>
              <a:rPr sz="1950" b="1" spc="40" dirty="0">
                <a:latin typeface="Times New Roman"/>
                <a:cs typeface="Arial MT"/>
              </a:rPr>
              <a:t> </a:t>
            </a:r>
            <a:r>
              <a:rPr sz="1950" b="1" spc="-25" dirty="0">
                <a:latin typeface="Times New Roman"/>
                <a:cs typeface="Arial MT"/>
              </a:rPr>
              <a:t>and </a:t>
            </a:r>
            <a:r>
              <a:rPr sz="1950" b="1" spc="-10" dirty="0">
                <a:latin typeface="Times New Roman"/>
                <a:cs typeface="Arial MT"/>
              </a:rPr>
              <a:t>Action</a:t>
            </a:r>
            <a:r>
              <a:rPr sz="1950" spc="-10" dirty="0">
                <a:latin typeface="Times New Roman"/>
                <a:cs typeface="Arial MT"/>
              </a:rPr>
              <a:t>.</a:t>
            </a:r>
            <a:endParaRPr sz="1950">
              <a:latin typeface="Times New Roman"/>
              <a:cs typeface="Arial MT"/>
            </a:endParaRPr>
          </a:p>
          <a:p>
            <a:pPr>
              <a:lnSpc>
                <a:spcPct val="100000"/>
              </a:lnSpc>
              <a:spcBef>
                <a:spcPts val="170"/>
              </a:spcBef>
              <a:buFont typeface="Arial MT"/>
              <a:buChar char="•"/>
            </a:pPr>
            <a:endParaRPr sz="1950" dirty="0">
              <a:latin typeface="Times New Roman"/>
              <a:cs typeface="Arial MT"/>
            </a:endParaRPr>
          </a:p>
          <a:p>
            <a:pPr marL="296545" indent="-283845">
              <a:lnSpc>
                <a:spcPct val="100000"/>
              </a:lnSpc>
              <a:buChar char="•"/>
              <a:tabLst>
                <a:tab pos="296545" algn="l"/>
              </a:tabLst>
            </a:pPr>
            <a:r>
              <a:rPr sz="1950" dirty="0">
                <a:latin typeface="Times New Roman"/>
                <a:cs typeface="Arial MT"/>
              </a:rPr>
              <a:t>Highlights</a:t>
            </a:r>
            <a:r>
              <a:rPr sz="1950" spc="80" dirty="0">
                <a:latin typeface="Times New Roman"/>
                <a:cs typeface="Arial MT"/>
              </a:rPr>
              <a:t> </a:t>
            </a:r>
            <a:r>
              <a:rPr sz="1950" dirty="0">
                <a:latin typeface="Times New Roman"/>
                <a:cs typeface="Arial MT"/>
              </a:rPr>
              <a:t>dominant</a:t>
            </a:r>
            <a:r>
              <a:rPr sz="1950" b="1" spc="60" dirty="0">
                <a:latin typeface="Times New Roman"/>
                <a:cs typeface="Arial MT"/>
              </a:rPr>
              <a:t> </a:t>
            </a:r>
            <a:r>
              <a:rPr sz="1950" b="1" dirty="0">
                <a:latin typeface="Times New Roman"/>
                <a:cs typeface="Arial MT"/>
              </a:rPr>
              <a:t>storytelling</a:t>
            </a:r>
            <a:r>
              <a:rPr sz="1950" spc="50" dirty="0">
                <a:latin typeface="Times New Roman"/>
                <a:cs typeface="Arial MT"/>
              </a:rPr>
              <a:t> </a:t>
            </a:r>
            <a:r>
              <a:rPr sz="1950" dirty="0">
                <a:latin typeface="Times New Roman"/>
                <a:cs typeface="Arial MT"/>
              </a:rPr>
              <a:t>themes</a:t>
            </a:r>
            <a:r>
              <a:rPr sz="1950" spc="80" dirty="0">
                <a:latin typeface="Times New Roman"/>
                <a:cs typeface="Arial MT"/>
              </a:rPr>
              <a:t> </a:t>
            </a:r>
            <a:r>
              <a:rPr sz="1950" dirty="0">
                <a:latin typeface="Times New Roman"/>
                <a:cs typeface="Arial MT"/>
              </a:rPr>
              <a:t>among</a:t>
            </a:r>
            <a:r>
              <a:rPr sz="1950" spc="90" dirty="0">
                <a:latin typeface="Times New Roman"/>
                <a:cs typeface="Arial MT"/>
              </a:rPr>
              <a:t> </a:t>
            </a:r>
            <a:r>
              <a:rPr sz="1950" b="1" dirty="0">
                <a:latin typeface="Times New Roman"/>
                <a:cs typeface="Arial MT"/>
              </a:rPr>
              <a:t>top-rated</a:t>
            </a:r>
            <a:r>
              <a:rPr sz="1950" b="1" spc="70" dirty="0">
                <a:latin typeface="Times New Roman"/>
                <a:cs typeface="Arial MT"/>
              </a:rPr>
              <a:t> </a:t>
            </a:r>
            <a:r>
              <a:rPr sz="1950" b="1" spc="-10" dirty="0">
                <a:latin typeface="Times New Roman"/>
                <a:cs typeface="Arial MT"/>
              </a:rPr>
              <a:t>movies</a:t>
            </a:r>
            <a:r>
              <a:rPr sz="1950" spc="-10" dirty="0">
                <a:latin typeface="Times New Roman"/>
                <a:cs typeface="Arial MT"/>
              </a:rPr>
              <a:t>.</a:t>
            </a:r>
            <a:endParaRPr sz="1950">
              <a:latin typeface="Times New Roman"/>
              <a:cs typeface="Arial M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F6F6B2-22C5-4D00-6801-3721438AC805}"/>
              </a:ext>
            </a:extLst>
          </p:cNvPr>
          <p:cNvSpPr txBox="1"/>
          <p:nvPr/>
        </p:nvSpPr>
        <p:spPr>
          <a:xfrm>
            <a:off x="959011" y="586062"/>
            <a:ext cx="381491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2800" b="1" dirty="0">
                <a:latin typeface="Times New Roman"/>
                <a:cs typeface="Times New Roman"/>
              </a:rPr>
              <a:t>Genres</a:t>
            </a:r>
            <a:endParaRPr lang="en-GB" sz="2800" b="1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891" y="1573444"/>
            <a:ext cx="9896856" cy="20909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object 3"/>
          <p:cNvSpPr txBox="1"/>
          <p:nvPr/>
        </p:nvSpPr>
        <p:spPr>
          <a:xfrm>
            <a:off x="849873" y="3764661"/>
            <a:ext cx="8048625" cy="2375522"/>
          </a:xfrm>
          <a:prstGeom prst="rect">
            <a:avLst/>
          </a:prstGeom>
        </p:spPr>
        <p:txBody>
          <a:bodyPr vert="horz" wrap="square" lIns="0" tIns="83820" rIns="0" bIns="0" rtlCol="0" anchor="t">
            <a:spAutoFit/>
          </a:bodyPr>
          <a:lstStyle/>
          <a:p>
            <a:pPr marL="295910" indent="-283210">
              <a:lnSpc>
                <a:spcPct val="150000"/>
              </a:lnSpc>
              <a:spcBef>
                <a:spcPts val="660"/>
              </a:spcBef>
              <a:buSzPct val="63043"/>
              <a:buFont typeface="Arial MT"/>
              <a:buChar char="•"/>
              <a:tabLst>
                <a:tab pos="295910" algn="l"/>
              </a:tabLst>
            </a:pPr>
            <a:r>
              <a:rPr sz="2300" dirty="0">
                <a:latin typeface="Times New Roman"/>
                <a:cs typeface="Calibri"/>
              </a:rPr>
              <a:t>Release</a:t>
            </a:r>
            <a:r>
              <a:rPr sz="2300" spc="-25" dirty="0">
                <a:latin typeface="Times New Roman"/>
                <a:cs typeface="Calibri"/>
              </a:rPr>
              <a:t> </a:t>
            </a:r>
            <a:r>
              <a:rPr sz="2300" dirty="0">
                <a:latin typeface="Times New Roman"/>
                <a:cs typeface="Calibri"/>
              </a:rPr>
              <a:t>Year</a:t>
            </a:r>
            <a:r>
              <a:rPr sz="2300" spc="-30" dirty="0">
                <a:latin typeface="Times New Roman"/>
                <a:cs typeface="Calibri"/>
              </a:rPr>
              <a:t> </a:t>
            </a:r>
            <a:r>
              <a:rPr sz="2300" dirty="0">
                <a:latin typeface="Times New Roman"/>
                <a:cs typeface="Calibri"/>
              </a:rPr>
              <a:t>Analyzed</a:t>
            </a:r>
            <a:r>
              <a:rPr sz="2300" spc="-40" dirty="0">
                <a:latin typeface="Times New Roman"/>
                <a:cs typeface="Calibri"/>
              </a:rPr>
              <a:t> </a:t>
            </a:r>
            <a:r>
              <a:rPr sz="2300" dirty="0">
                <a:latin typeface="Times New Roman"/>
                <a:cs typeface="Calibri"/>
              </a:rPr>
              <a:t>the</a:t>
            </a:r>
            <a:r>
              <a:rPr sz="2300" spc="-20" dirty="0">
                <a:latin typeface="Times New Roman"/>
                <a:cs typeface="Calibri"/>
              </a:rPr>
              <a:t> </a:t>
            </a:r>
            <a:r>
              <a:rPr sz="2300" dirty="0">
                <a:latin typeface="Times New Roman"/>
                <a:cs typeface="Calibri"/>
              </a:rPr>
              <a:t>number</a:t>
            </a:r>
            <a:r>
              <a:rPr sz="2300" spc="-5" dirty="0">
                <a:latin typeface="Times New Roman"/>
                <a:cs typeface="Calibri"/>
              </a:rPr>
              <a:t> </a:t>
            </a:r>
            <a:r>
              <a:rPr sz="2300" dirty="0">
                <a:latin typeface="Times New Roman"/>
                <a:cs typeface="Calibri"/>
              </a:rPr>
              <a:t>of</a:t>
            </a:r>
            <a:r>
              <a:rPr sz="2300" spc="-20" dirty="0">
                <a:latin typeface="Times New Roman"/>
                <a:cs typeface="Calibri"/>
              </a:rPr>
              <a:t> </a:t>
            </a:r>
            <a:r>
              <a:rPr sz="2300" dirty="0">
                <a:latin typeface="Times New Roman"/>
                <a:cs typeface="Calibri"/>
              </a:rPr>
              <a:t>movies</a:t>
            </a:r>
            <a:r>
              <a:rPr sz="2300" spc="-5" dirty="0">
                <a:latin typeface="Times New Roman"/>
                <a:cs typeface="Calibri"/>
              </a:rPr>
              <a:t> </a:t>
            </a:r>
            <a:r>
              <a:rPr sz="2300" dirty="0">
                <a:latin typeface="Times New Roman"/>
                <a:cs typeface="Calibri"/>
              </a:rPr>
              <a:t>released</a:t>
            </a:r>
            <a:r>
              <a:rPr sz="2300" spc="-20" dirty="0">
                <a:latin typeface="Times New Roman"/>
                <a:cs typeface="Calibri"/>
              </a:rPr>
              <a:t> </a:t>
            </a:r>
            <a:r>
              <a:rPr sz="2300" dirty="0">
                <a:latin typeface="Times New Roman"/>
                <a:cs typeface="Calibri"/>
              </a:rPr>
              <a:t>each</a:t>
            </a:r>
            <a:r>
              <a:rPr sz="2300" spc="-20" dirty="0">
                <a:latin typeface="Times New Roman"/>
                <a:cs typeface="Calibri"/>
              </a:rPr>
              <a:t> </a:t>
            </a:r>
            <a:r>
              <a:rPr sz="2300" spc="-10" dirty="0">
                <a:latin typeface="Times New Roman"/>
                <a:cs typeface="Calibri"/>
              </a:rPr>
              <a:t>year.</a:t>
            </a:r>
            <a:endParaRPr sz="2300" dirty="0">
              <a:latin typeface="Times New Roman"/>
              <a:cs typeface="Calibri"/>
            </a:endParaRPr>
          </a:p>
          <a:p>
            <a:pPr marL="295910" indent="-283210">
              <a:lnSpc>
                <a:spcPct val="150000"/>
              </a:lnSpc>
              <a:spcBef>
                <a:spcPts val="565"/>
              </a:spcBef>
              <a:buSzPct val="63043"/>
              <a:buFont typeface="Arial MT"/>
              <a:buChar char="•"/>
              <a:tabLst>
                <a:tab pos="295910" algn="l"/>
              </a:tabLst>
            </a:pPr>
            <a:r>
              <a:rPr sz="2300" dirty="0">
                <a:latin typeface="Times New Roman"/>
                <a:cs typeface="Calibri"/>
              </a:rPr>
              <a:t>Sharp</a:t>
            </a:r>
            <a:r>
              <a:rPr sz="2300" spc="-10" dirty="0">
                <a:latin typeface="Times New Roman"/>
                <a:cs typeface="Calibri"/>
              </a:rPr>
              <a:t> </a:t>
            </a:r>
            <a:r>
              <a:rPr sz="2300" dirty="0">
                <a:latin typeface="Times New Roman"/>
                <a:cs typeface="Calibri"/>
              </a:rPr>
              <a:t>increase</a:t>
            </a:r>
            <a:r>
              <a:rPr sz="2300" spc="-10" dirty="0">
                <a:latin typeface="Times New Roman"/>
                <a:cs typeface="Calibri"/>
              </a:rPr>
              <a:t> </a:t>
            </a:r>
            <a:r>
              <a:rPr sz="2300" dirty="0">
                <a:latin typeface="Times New Roman"/>
                <a:cs typeface="Calibri"/>
              </a:rPr>
              <a:t>in</a:t>
            </a:r>
            <a:r>
              <a:rPr sz="2300" spc="15" dirty="0">
                <a:latin typeface="Times New Roman"/>
                <a:cs typeface="Calibri"/>
              </a:rPr>
              <a:t> </a:t>
            </a:r>
            <a:r>
              <a:rPr sz="2300" b="1" spc="-10" dirty="0">
                <a:latin typeface="Times New Roman"/>
                <a:cs typeface="Calibri"/>
              </a:rPr>
              <a:t>top-</a:t>
            </a:r>
            <a:r>
              <a:rPr sz="2300" b="1" dirty="0">
                <a:latin typeface="Times New Roman"/>
                <a:cs typeface="Calibri"/>
              </a:rPr>
              <a:t>rated</a:t>
            </a:r>
            <a:r>
              <a:rPr sz="2300" b="1" spc="-30" dirty="0">
                <a:latin typeface="Times New Roman"/>
                <a:cs typeface="Calibri"/>
              </a:rPr>
              <a:t> </a:t>
            </a:r>
            <a:r>
              <a:rPr sz="2300" b="1" dirty="0">
                <a:latin typeface="Times New Roman"/>
                <a:cs typeface="Calibri"/>
              </a:rPr>
              <a:t>films</a:t>
            </a:r>
            <a:r>
              <a:rPr sz="2300" b="1" spc="-25" dirty="0">
                <a:latin typeface="Times New Roman"/>
                <a:cs typeface="Calibri"/>
              </a:rPr>
              <a:t> </a:t>
            </a:r>
            <a:r>
              <a:rPr sz="2300" b="1" dirty="0">
                <a:latin typeface="Times New Roman"/>
                <a:cs typeface="Calibri"/>
              </a:rPr>
              <a:t>after</a:t>
            </a:r>
            <a:r>
              <a:rPr sz="2300" b="1" spc="-15" dirty="0">
                <a:latin typeface="Times New Roman"/>
                <a:cs typeface="Calibri"/>
              </a:rPr>
              <a:t> </a:t>
            </a:r>
            <a:r>
              <a:rPr sz="2300" b="1" spc="-10" dirty="0">
                <a:latin typeface="Times New Roman"/>
                <a:cs typeface="Calibri"/>
              </a:rPr>
              <a:t>2000.</a:t>
            </a:r>
            <a:endParaRPr sz="2300" b="1" dirty="0">
              <a:latin typeface="Times New Roman"/>
              <a:cs typeface="Calibri"/>
            </a:endParaRPr>
          </a:p>
          <a:p>
            <a:pPr marL="295910" indent="-283210">
              <a:lnSpc>
                <a:spcPct val="150000"/>
              </a:lnSpc>
              <a:spcBef>
                <a:spcPts val="560"/>
              </a:spcBef>
              <a:buSzPct val="63043"/>
              <a:buFont typeface="Arial MT"/>
              <a:buChar char="•"/>
              <a:tabLst>
                <a:tab pos="295910" algn="l"/>
              </a:tabLst>
            </a:pPr>
            <a:r>
              <a:rPr sz="2300" b="1" dirty="0">
                <a:latin typeface="Times New Roman"/>
                <a:cs typeface="Calibri"/>
              </a:rPr>
              <a:t>Peak</a:t>
            </a:r>
            <a:r>
              <a:rPr sz="2300" b="1" spc="-15" dirty="0">
                <a:latin typeface="Times New Roman"/>
                <a:cs typeface="Calibri"/>
              </a:rPr>
              <a:t> </a:t>
            </a:r>
            <a:r>
              <a:rPr sz="2300" b="1" dirty="0">
                <a:latin typeface="Times New Roman"/>
                <a:cs typeface="Calibri"/>
              </a:rPr>
              <a:t>period</a:t>
            </a:r>
            <a:r>
              <a:rPr sz="2300" dirty="0">
                <a:latin typeface="Times New Roman"/>
                <a:cs typeface="Calibri"/>
              </a:rPr>
              <a:t>:</a:t>
            </a:r>
            <a:r>
              <a:rPr sz="2300" spc="-15" dirty="0">
                <a:latin typeface="Times New Roman"/>
                <a:cs typeface="Calibri"/>
              </a:rPr>
              <a:t> </a:t>
            </a:r>
            <a:r>
              <a:rPr sz="2300" dirty="0">
                <a:latin typeface="Times New Roman"/>
                <a:cs typeface="Calibri"/>
              </a:rPr>
              <a:t>2010</a:t>
            </a:r>
            <a:r>
              <a:rPr sz="2300" spc="-15" dirty="0">
                <a:latin typeface="Times New Roman"/>
                <a:cs typeface="Calibri"/>
              </a:rPr>
              <a:t> </a:t>
            </a:r>
            <a:r>
              <a:rPr sz="2300" spc="-10" dirty="0">
                <a:latin typeface="Times New Roman"/>
                <a:cs typeface="Calibri"/>
              </a:rPr>
              <a:t>–2020.</a:t>
            </a:r>
            <a:endParaRPr sz="2300" dirty="0">
              <a:latin typeface="Times New Roman"/>
              <a:cs typeface="Calibri"/>
            </a:endParaRPr>
          </a:p>
          <a:p>
            <a:pPr marL="295910" indent="-283210">
              <a:lnSpc>
                <a:spcPct val="150000"/>
              </a:lnSpc>
              <a:spcBef>
                <a:spcPts val="555"/>
              </a:spcBef>
              <a:buSzPct val="63043"/>
              <a:buFont typeface="Arial MT"/>
              <a:buChar char="•"/>
              <a:tabLst>
                <a:tab pos="295910" algn="l"/>
              </a:tabLst>
            </a:pPr>
            <a:r>
              <a:rPr sz="2300" b="1" dirty="0">
                <a:latin typeface="Times New Roman"/>
                <a:cs typeface="Calibri"/>
              </a:rPr>
              <a:t>Very</a:t>
            </a:r>
            <a:r>
              <a:rPr sz="2300" b="1" spc="-20" dirty="0">
                <a:latin typeface="Times New Roman"/>
                <a:cs typeface="Calibri"/>
              </a:rPr>
              <a:t> </a:t>
            </a:r>
            <a:r>
              <a:rPr sz="2300" b="1" dirty="0">
                <a:latin typeface="Times New Roman"/>
                <a:cs typeface="Calibri"/>
              </a:rPr>
              <a:t>few</a:t>
            </a:r>
            <a:r>
              <a:rPr sz="2300" b="1" spc="-20" dirty="0">
                <a:latin typeface="Times New Roman"/>
                <a:cs typeface="Calibri"/>
              </a:rPr>
              <a:t> </a:t>
            </a:r>
            <a:r>
              <a:rPr sz="2300" b="1" spc="-10" dirty="0">
                <a:latin typeface="Times New Roman"/>
                <a:cs typeface="Calibri"/>
              </a:rPr>
              <a:t>high-</a:t>
            </a:r>
            <a:r>
              <a:rPr sz="2300" b="1" dirty="0">
                <a:latin typeface="Times New Roman"/>
                <a:cs typeface="Calibri"/>
              </a:rPr>
              <a:t>rated</a:t>
            </a:r>
            <a:r>
              <a:rPr sz="2300" b="1" spc="5" dirty="0">
                <a:latin typeface="Times New Roman"/>
                <a:cs typeface="Calibri"/>
              </a:rPr>
              <a:t> </a:t>
            </a:r>
            <a:r>
              <a:rPr sz="2300" b="1" dirty="0">
                <a:latin typeface="Times New Roman"/>
                <a:cs typeface="Calibri"/>
              </a:rPr>
              <a:t>movies</a:t>
            </a:r>
            <a:r>
              <a:rPr sz="2300" spc="-15" dirty="0">
                <a:latin typeface="Times New Roman"/>
                <a:cs typeface="Calibri"/>
              </a:rPr>
              <a:t> </a:t>
            </a:r>
            <a:r>
              <a:rPr sz="2300" dirty="0">
                <a:latin typeface="Times New Roman"/>
                <a:cs typeface="Calibri"/>
              </a:rPr>
              <a:t>from</a:t>
            </a:r>
            <a:r>
              <a:rPr sz="2300" spc="-5" dirty="0">
                <a:latin typeface="Times New Roman"/>
                <a:cs typeface="Calibri"/>
              </a:rPr>
              <a:t> </a:t>
            </a:r>
            <a:r>
              <a:rPr sz="2300" dirty="0">
                <a:latin typeface="Times New Roman"/>
                <a:cs typeface="Calibri"/>
              </a:rPr>
              <a:t>early</a:t>
            </a:r>
            <a:r>
              <a:rPr sz="2300" spc="-15" dirty="0">
                <a:latin typeface="Times New Roman"/>
                <a:cs typeface="Calibri"/>
              </a:rPr>
              <a:t> </a:t>
            </a:r>
            <a:r>
              <a:rPr sz="2300" spc="-10" dirty="0">
                <a:latin typeface="Times New Roman"/>
                <a:cs typeface="Calibri"/>
              </a:rPr>
              <a:t>decades.</a:t>
            </a:r>
            <a:endParaRPr sz="2300">
              <a:latin typeface="Times New Roman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3B0D9F-73F9-A0F1-49EB-7BCCEA4DA3DD}"/>
              </a:ext>
            </a:extLst>
          </p:cNvPr>
          <p:cNvSpPr txBox="1"/>
          <p:nvPr/>
        </p:nvSpPr>
        <p:spPr>
          <a:xfrm>
            <a:off x="745898" y="759217"/>
            <a:ext cx="345164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3200" b="1" dirty="0">
                <a:solidFill>
                  <a:srgbClr val="000000"/>
                </a:solidFill>
                <a:latin typeface="Times New Roman"/>
                <a:cs typeface="Times New Roman"/>
              </a:rPr>
              <a:t>Release Year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2941" y="1491319"/>
            <a:ext cx="9565994" cy="184556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3" name="object 3"/>
          <p:cNvSpPr txBox="1"/>
          <p:nvPr/>
        </p:nvSpPr>
        <p:spPr>
          <a:xfrm>
            <a:off x="671102" y="3613762"/>
            <a:ext cx="7953375" cy="2254335"/>
          </a:xfrm>
          <a:prstGeom prst="rect">
            <a:avLst/>
          </a:prstGeom>
        </p:spPr>
        <p:txBody>
          <a:bodyPr vert="horz" wrap="square" lIns="0" tIns="52705" rIns="0" bIns="0" rtlCol="0" anchor="t">
            <a:spAutoFit/>
          </a:bodyPr>
          <a:lstStyle/>
          <a:p>
            <a:pPr marL="295910" marR="5080" indent="-283845">
              <a:lnSpc>
                <a:spcPct val="150000"/>
              </a:lnSpc>
              <a:spcBef>
                <a:spcPts val="415"/>
              </a:spcBef>
              <a:buSzPct val="63043"/>
              <a:buFont typeface="Arial MT"/>
              <a:buChar char="•"/>
              <a:tabLst>
                <a:tab pos="295910" algn="l"/>
              </a:tabLst>
            </a:pPr>
            <a:r>
              <a:rPr sz="2300" dirty="0">
                <a:latin typeface="Times New Roman"/>
                <a:cs typeface="Calibri"/>
              </a:rPr>
              <a:t>Vote</a:t>
            </a:r>
            <a:r>
              <a:rPr sz="2300" spc="-35" dirty="0">
                <a:latin typeface="Times New Roman"/>
                <a:cs typeface="Calibri"/>
              </a:rPr>
              <a:t> </a:t>
            </a:r>
            <a:r>
              <a:rPr sz="2300" dirty="0">
                <a:latin typeface="Times New Roman"/>
                <a:cs typeface="Calibri"/>
              </a:rPr>
              <a:t>Average</a:t>
            </a:r>
            <a:r>
              <a:rPr sz="2300" spc="-35" dirty="0">
                <a:latin typeface="Times New Roman"/>
                <a:cs typeface="Calibri"/>
              </a:rPr>
              <a:t> </a:t>
            </a:r>
            <a:r>
              <a:rPr sz="2300" dirty="0">
                <a:latin typeface="Times New Roman"/>
                <a:cs typeface="Calibri"/>
              </a:rPr>
              <a:t>Ratings</a:t>
            </a:r>
            <a:r>
              <a:rPr sz="2300" spc="10" dirty="0">
                <a:latin typeface="Times New Roman"/>
                <a:cs typeface="Calibri"/>
              </a:rPr>
              <a:t> </a:t>
            </a:r>
            <a:r>
              <a:rPr sz="2300" dirty="0">
                <a:latin typeface="Times New Roman"/>
                <a:cs typeface="Calibri"/>
              </a:rPr>
              <a:t>range</a:t>
            </a:r>
            <a:r>
              <a:rPr sz="2300" spc="-10" dirty="0">
                <a:latin typeface="Times New Roman"/>
                <a:cs typeface="Calibri"/>
              </a:rPr>
              <a:t> </a:t>
            </a:r>
            <a:r>
              <a:rPr sz="2300" dirty="0">
                <a:latin typeface="Times New Roman"/>
                <a:cs typeface="Calibri"/>
              </a:rPr>
              <a:t>from</a:t>
            </a:r>
            <a:r>
              <a:rPr sz="2300" spc="-40" dirty="0">
                <a:latin typeface="Times New Roman"/>
                <a:cs typeface="Calibri"/>
              </a:rPr>
              <a:t> </a:t>
            </a:r>
            <a:r>
              <a:rPr sz="2300" b="1" dirty="0">
                <a:latin typeface="Times New Roman"/>
                <a:cs typeface="Calibri"/>
              </a:rPr>
              <a:t>7.1</a:t>
            </a:r>
            <a:r>
              <a:rPr sz="2300" b="1" spc="20" dirty="0">
                <a:latin typeface="Times New Roman"/>
                <a:cs typeface="Calibri"/>
              </a:rPr>
              <a:t> </a:t>
            </a:r>
            <a:r>
              <a:rPr sz="2300" b="1" dirty="0">
                <a:latin typeface="Times New Roman"/>
                <a:cs typeface="Calibri"/>
              </a:rPr>
              <a:t>to</a:t>
            </a:r>
            <a:r>
              <a:rPr sz="2300" b="1" spc="-10" dirty="0">
                <a:latin typeface="Times New Roman"/>
                <a:cs typeface="Calibri"/>
              </a:rPr>
              <a:t> </a:t>
            </a:r>
            <a:r>
              <a:rPr lang="en-GB" sz="2300" b="1" dirty="0">
                <a:latin typeface="Times New Roman"/>
                <a:cs typeface="Calibri"/>
              </a:rPr>
              <a:t>8.5</a:t>
            </a:r>
            <a:r>
              <a:rPr sz="2300" b="1" spc="-10" dirty="0">
                <a:latin typeface="Times New Roman"/>
                <a:cs typeface="Calibri"/>
              </a:rPr>
              <a:t> </a:t>
            </a:r>
            <a:r>
              <a:rPr sz="2300" dirty="0">
                <a:latin typeface="Times New Roman"/>
                <a:cs typeface="Calibri"/>
              </a:rPr>
              <a:t>with a</a:t>
            </a:r>
            <a:r>
              <a:rPr sz="2300" spc="-15" dirty="0">
                <a:latin typeface="Times New Roman"/>
                <a:cs typeface="Calibri"/>
              </a:rPr>
              <a:t> </a:t>
            </a:r>
            <a:r>
              <a:rPr sz="2300" dirty="0">
                <a:latin typeface="Times New Roman"/>
                <a:cs typeface="Calibri"/>
              </a:rPr>
              <a:t>strong</a:t>
            </a:r>
            <a:r>
              <a:rPr sz="2300" spc="5" dirty="0">
                <a:latin typeface="Times New Roman"/>
                <a:cs typeface="Calibri"/>
              </a:rPr>
              <a:t> </a:t>
            </a:r>
            <a:r>
              <a:rPr sz="2300" spc="-10" dirty="0">
                <a:latin typeface="Times New Roman"/>
                <a:cs typeface="Calibri"/>
              </a:rPr>
              <a:t>cluster </a:t>
            </a:r>
            <a:r>
              <a:rPr sz="2300" dirty="0">
                <a:latin typeface="Times New Roman"/>
                <a:cs typeface="Calibri"/>
              </a:rPr>
              <a:t>around</a:t>
            </a:r>
            <a:r>
              <a:rPr sz="2300" spc="-20" dirty="0">
                <a:latin typeface="Times New Roman"/>
                <a:cs typeface="Calibri"/>
              </a:rPr>
              <a:t> </a:t>
            </a:r>
            <a:r>
              <a:rPr sz="2300" b="1" spc="-20" dirty="0">
                <a:latin typeface="Times New Roman"/>
                <a:cs typeface="Calibri"/>
              </a:rPr>
              <a:t>7.5.</a:t>
            </a:r>
            <a:endParaRPr sz="2300" b="1" dirty="0">
              <a:latin typeface="Times New Roman"/>
              <a:cs typeface="Calibri"/>
            </a:endParaRPr>
          </a:p>
          <a:p>
            <a:pPr marL="295910" indent="-283210">
              <a:lnSpc>
                <a:spcPct val="150000"/>
              </a:lnSpc>
              <a:spcBef>
                <a:spcPts val="509"/>
              </a:spcBef>
              <a:buSzPct val="63043"/>
              <a:buFont typeface="Arial MT"/>
              <a:buChar char="•"/>
              <a:tabLst>
                <a:tab pos="295910" algn="l"/>
              </a:tabLst>
            </a:pPr>
            <a:r>
              <a:rPr sz="2300" b="1" dirty="0">
                <a:latin typeface="Times New Roman"/>
                <a:cs typeface="Calibri"/>
              </a:rPr>
              <a:t>KDE</a:t>
            </a:r>
            <a:r>
              <a:rPr sz="2300" b="1" spc="-35" dirty="0">
                <a:latin typeface="Times New Roman"/>
                <a:cs typeface="Calibri"/>
              </a:rPr>
              <a:t> </a:t>
            </a:r>
            <a:r>
              <a:rPr sz="2300" b="1" dirty="0">
                <a:latin typeface="Times New Roman"/>
                <a:cs typeface="Calibri"/>
              </a:rPr>
              <a:t>curve</a:t>
            </a:r>
            <a:r>
              <a:rPr sz="2300" b="1" spc="-20" dirty="0">
                <a:latin typeface="Times New Roman"/>
                <a:cs typeface="Calibri"/>
              </a:rPr>
              <a:t> </a:t>
            </a:r>
            <a:r>
              <a:rPr sz="2300" dirty="0">
                <a:latin typeface="Times New Roman"/>
                <a:cs typeface="Calibri"/>
              </a:rPr>
              <a:t>shows</a:t>
            </a:r>
            <a:r>
              <a:rPr sz="2300" spc="-25" dirty="0">
                <a:latin typeface="Times New Roman"/>
                <a:cs typeface="Calibri"/>
              </a:rPr>
              <a:t> </a:t>
            </a:r>
            <a:r>
              <a:rPr sz="2300" dirty="0">
                <a:latin typeface="Times New Roman"/>
                <a:cs typeface="Calibri"/>
              </a:rPr>
              <a:t>a narrow,</a:t>
            </a:r>
            <a:r>
              <a:rPr sz="2300" spc="-25" dirty="0">
                <a:latin typeface="Times New Roman"/>
                <a:cs typeface="Calibri"/>
              </a:rPr>
              <a:t> </a:t>
            </a:r>
            <a:r>
              <a:rPr sz="2300" dirty="0">
                <a:latin typeface="Times New Roman"/>
                <a:cs typeface="Calibri"/>
              </a:rPr>
              <a:t>concentrated</a:t>
            </a:r>
            <a:r>
              <a:rPr sz="2300" spc="-35" dirty="0">
                <a:latin typeface="Times New Roman"/>
                <a:cs typeface="Calibri"/>
              </a:rPr>
              <a:t> </a:t>
            </a:r>
            <a:r>
              <a:rPr sz="2300" spc="-10" dirty="0">
                <a:latin typeface="Times New Roman"/>
                <a:cs typeface="Calibri"/>
              </a:rPr>
              <a:t>distribution.</a:t>
            </a:r>
            <a:endParaRPr sz="2300" dirty="0">
              <a:latin typeface="Times New Roman"/>
              <a:cs typeface="Calibri"/>
            </a:endParaRPr>
          </a:p>
          <a:p>
            <a:pPr marL="295910" indent="-283210">
              <a:lnSpc>
                <a:spcPct val="150000"/>
              </a:lnSpc>
              <a:spcBef>
                <a:spcPts val="560"/>
              </a:spcBef>
              <a:buSzPct val="63043"/>
              <a:buFont typeface="Arial MT"/>
              <a:buChar char="•"/>
              <a:tabLst>
                <a:tab pos="295910" algn="l"/>
              </a:tabLst>
            </a:pPr>
            <a:r>
              <a:rPr sz="2300" dirty="0">
                <a:latin typeface="Times New Roman"/>
                <a:cs typeface="Calibri"/>
              </a:rPr>
              <a:t>Very</a:t>
            </a:r>
            <a:r>
              <a:rPr sz="2300" spc="-40" dirty="0">
                <a:latin typeface="Times New Roman"/>
                <a:cs typeface="Calibri"/>
              </a:rPr>
              <a:t> </a:t>
            </a:r>
            <a:r>
              <a:rPr sz="2300" dirty="0">
                <a:latin typeface="Times New Roman"/>
                <a:cs typeface="Calibri"/>
              </a:rPr>
              <a:t>few</a:t>
            </a:r>
            <a:r>
              <a:rPr sz="2300" spc="-30" dirty="0">
                <a:latin typeface="Times New Roman"/>
                <a:cs typeface="Calibri"/>
              </a:rPr>
              <a:t> </a:t>
            </a:r>
            <a:r>
              <a:rPr sz="2300" dirty="0">
                <a:latin typeface="Times New Roman"/>
                <a:cs typeface="Calibri"/>
              </a:rPr>
              <a:t>movies</a:t>
            </a:r>
            <a:r>
              <a:rPr sz="2300" spc="-25" dirty="0">
                <a:latin typeface="Times New Roman"/>
                <a:cs typeface="Calibri"/>
              </a:rPr>
              <a:t> </a:t>
            </a:r>
            <a:r>
              <a:rPr sz="2300" dirty="0">
                <a:latin typeface="Times New Roman"/>
                <a:cs typeface="Calibri"/>
              </a:rPr>
              <a:t>achieve</a:t>
            </a:r>
            <a:r>
              <a:rPr sz="2300" spc="-10" dirty="0">
                <a:latin typeface="Times New Roman"/>
                <a:cs typeface="Calibri"/>
              </a:rPr>
              <a:t> </a:t>
            </a:r>
            <a:r>
              <a:rPr sz="2300" b="1" dirty="0">
                <a:latin typeface="Times New Roman"/>
                <a:cs typeface="Calibri"/>
              </a:rPr>
              <a:t>extremely</a:t>
            </a:r>
            <a:r>
              <a:rPr sz="2300" b="1" spc="-45" dirty="0">
                <a:latin typeface="Times New Roman"/>
                <a:cs typeface="Calibri"/>
              </a:rPr>
              <a:t> </a:t>
            </a:r>
            <a:r>
              <a:rPr sz="2300" b="1" dirty="0">
                <a:latin typeface="Times New Roman"/>
                <a:cs typeface="Calibri"/>
              </a:rPr>
              <a:t>high</a:t>
            </a:r>
            <a:r>
              <a:rPr sz="2300" b="1" spc="-10" dirty="0">
                <a:latin typeface="Times New Roman"/>
                <a:cs typeface="Calibri"/>
              </a:rPr>
              <a:t> </a:t>
            </a:r>
            <a:r>
              <a:rPr sz="2300" b="1" dirty="0">
                <a:latin typeface="Times New Roman"/>
                <a:cs typeface="Calibri"/>
              </a:rPr>
              <a:t>ratings</a:t>
            </a:r>
            <a:r>
              <a:rPr sz="2300" b="1" spc="5" dirty="0">
                <a:latin typeface="Times New Roman"/>
                <a:cs typeface="Calibri"/>
              </a:rPr>
              <a:t> </a:t>
            </a:r>
            <a:r>
              <a:rPr sz="2300" b="1" dirty="0">
                <a:latin typeface="Times New Roman"/>
                <a:cs typeface="Calibri"/>
              </a:rPr>
              <a:t>(&gt;</a:t>
            </a:r>
            <a:r>
              <a:rPr sz="2300" b="1" spc="-15" dirty="0">
                <a:latin typeface="Times New Roman"/>
                <a:cs typeface="Calibri"/>
              </a:rPr>
              <a:t> </a:t>
            </a:r>
            <a:r>
              <a:rPr sz="2300" b="1" spc="-10" dirty="0">
                <a:latin typeface="Times New Roman"/>
                <a:cs typeface="Calibri"/>
              </a:rPr>
              <a:t>8.5).</a:t>
            </a:r>
            <a:endParaRPr sz="2300" b="1" dirty="0">
              <a:latin typeface="Times New Roman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DAB448-4A8B-AF94-BF28-F943152F283D}"/>
              </a:ext>
            </a:extLst>
          </p:cNvPr>
          <p:cNvSpPr txBox="1"/>
          <p:nvPr/>
        </p:nvSpPr>
        <p:spPr>
          <a:xfrm>
            <a:off x="589155" y="403332"/>
            <a:ext cx="3622931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3200" b="1" dirty="0">
                <a:solidFill>
                  <a:srgbClr val="000000"/>
                </a:solidFill>
                <a:latin typeface="Times New Roman"/>
                <a:cs typeface="Times New Roman"/>
              </a:rPr>
              <a:t>Vote Average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7190" y="1235963"/>
            <a:ext cx="9555480" cy="238048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42483" y="3617967"/>
            <a:ext cx="8364220" cy="2810898"/>
          </a:xfrm>
          <a:prstGeom prst="rect">
            <a:avLst/>
          </a:prstGeom>
        </p:spPr>
        <p:txBody>
          <a:bodyPr vert="horz" wrap="square" lIns="0" tIns="52705" rIns="0" bIns="0" rtlCol="0" anchor="t">
            <a:spAutoFit/>
          </a:bodyPr>
          <a:lstStyle/>
          <a:p>
            <a:pPr marL="295910" marR="809625" indent="-283845">
              <a:lnSpc>
                <a:spcPct val="150000"/>
              </a:lnSpc>
              <a:spcBef>
                <a:spcPts val="415"/>
              </a:spcBef>
              <a:buSzPct val="63043"/>
              <a:buFont typeface="Arial MT"/>
              <a:buChar char="•"/>
              <a:tabLst>
                <a:tab pos="295910" algn="l"/>
              </a:tabLst>
            </a:pPr>
            <a:r>
              <a:rPr sz="2300" dirty="0">
                <a:latin typeface="Times New Roman"/>
                <a:cs typeface="Calibri"/>
              </a:rPr>
              <a:t>Vote</a:t>
            </a:r>
            <a:r>
              <a:rPr sz="2300" spc="-40" dirty="0">
                <a:latin typeface="Times New Roman"/>
                <a:cs typeface="Calibri"/>
              </a:rPr>
              <a:t> </a:t>
            </a:r>
            <a:r>
              <a:rPr sz="2300" dirty="0">
                <a:latin typeface="Times New Roman"/>
                <a:cs typeface="Calibri"/>
              </a:rPr>
              <a:t>Count</a:t>
            </a:r>
            <a:r>
              <a:rPr sz="2300" spc="-5" dirty="0">
                <a:latin typeface="Times New Roman"/>
                <a:cs typeface="Calibri"/>
              </a:rPr>
              <a:t> </a:t>
            </a:r>
            <a:r>
              <a:rPr sz="2300" dirty="0">
                <a:latin typeface="Times New Roman"/>
                <a:cs typeface="Calibri"/>
              </a:rPr>
              <a:t>:</a:t>
            </a:r>
            <a:r>
              <a:rPr sz="2300" spc="10" dirty="0">
                <a:latin typeface="Times New Roman"/>
                <a:cs typeface="Calibri"/>
              </a:rPr>
              <a:t> </a:t>
            </a:r>
            <a:r>
              <a:rPr sz="2300" dirty="0">
                <a:latin typeface="Times New Roman"/>
                <a:cs typeface="Calibri"/>
              </a:rPr>
              <a:t>Vote</a:t>
            </a:r>
            <a:r>
              <a:rPr sz="2300" spc="-10" dirty="0">
                <a:latin typeface="Times New Roman"/>
                <a:cs typeface="Calibri"/>
              </a:rPr>
              <a:t> </a:t>
            </a:r>
            <a:r>
              <a:rPr sz="2300" dirty="0">
                <a:latin typeface="Times New Roman"/>
                <a:cs typeface="Calibri"/>
              </a:rPr>
              <a:t>counts</a:t>
            </a:r>
            <a:r>
              <a:rPr sz="2300" spc="-25" dirty="0">
                <a:latin typeface="Times New Roman"/>
                <a:cs typeface="Calibri"/>
              </a:rPr>
              <a:t> </a:t>
            </a:r>
            <a:r>
              <a:rPr sz="2300" dirty="0">
                <a:latin typeface="Times New Roman"/>
                <a:cs typeface="Calibri"/>
              </a:rPr>
              <a:t>are</a:t>
            </a:r>
            <a:r>
              <a:rPr sz="2300" spc="-10" dirty="0">
                <a:latin typeface="Times New Roman"/>
                <a:cs typeface="Calibri"/>
              </a:rPr>
              <a:t> </a:t>
            </a:r>
            <a:r>
              <a:rPr sz="2300" b="1" dirty="0">
                <a:latin typeface="Times New Roman"/>
                <a:cs typeface="Calibri"/>
              </a:rPr>
              <a:t>right-skewed</a:t>
            </a:r>
            <a:r>
              <a:rPr sz="2300" spc="-30" dirty="0">
                <a:latin typeface="Times New Roman"/>
                <a:cs typeface="Calibri"/>
              </a:rPr>
              <a:t> </a:t>
            </a:r>
            <a:r>
              <a:rPr sz="2300" dirty="0">
                <a:latin typeface="Times New Roman"/>
                <a:cs typeface="Calibri"/>
              </a:rPr>
              <a:t>with</a:t>
            </a:r>
            <a:r>
              <a:rPr sz="2300" spc="-5" dirty="0">
                <a:latin typeface="Times New Roman"/>
                <a:cs typeface="Calibri"/>
              </a:rPr>
              <a:t> </a:t>
            </a:r>
            <a:r>
              <a:rPr sz="2300" dirty="0">
                <a:latin typeface="Times New Roman"/>
                <a:cs typeface="Calibri"/>
              </a:rPr>
              <a:t>most</a:t>
            </a:r>
            <a:r>
              <a:rPr sz="2300" spc="-10" dirty="0">
                <a:latin typeface="Times New Roman"/>
                <a:cs typeface="Calibri"/>
              </a:rPr>
              <a:t> movies </a:t>
            </a:r>
            <a:r>
              <a:rPr sz="2300" b="1" dirty="0">
                <a:latin typeface="Times New Roman"/>
                <a:cs typeface="Calibri"/>
              </a:rPr>
              <a:t>receiving</a:t>
            </a:r>
            <a:r>
              <a:rPr sz="2300" b="1" spc="-45" dirty="0">
                <a:latin typeface="Times New Roman"/>
                <a:cs typeface="Calibri"/>
              </a:rPr>
              <a:t> </a:t>
            </a:r>
            <a:r>
              <a:rPr sz="2300" b="1" dirty="0">
                <a:latin typeface="Times New Roman"/>
                <a:cs typeface="Calibri"/>
              </a:rPr>
              <a:t>&lt;</a:t>
            </a:r>
            <a:r>
              <a:rPr sz="2300" b="1" spc="15" dirty="0">
                <a:latin typeface="Times New Roman"/>
                <a:cs typeface="Calibri"/>
              </a:rPr>
              <a:t> </a:t>
            </a:r>
            <a:r>
              <a:rPr sz="2300" b="1" dirty="0">
                <a:latin typeface="Times New Roman"/>
                <a:cs typeface="Calibri"/>
              </a:rPr>
              <a:t>5,000</a:t>
            </a:r>
            <a:r>
              <a:rPr sz="2300" b="1" spc="-10" dirty="0">
                <a:latin typeface="Times New Roman"/>
                <a:cs typeface="Calibri"/>
              </a:rPr>
              <a:t> </a:t>
            </a:r>
            <a:r>
              <a:rPr sz="2300" b="1" dirty="0">
                <a:latin typeface="Times New Roman"/>
                <a:cs typeface="Calibri"/>
              </a:rPr>
              <a:t>votes</a:t>
            </a:r>
            <a:r>
              <a:rPr sz="2300" b="1" spc="-15" dirty="0">
                <a:latin typeface="Times New Roman"/>
                <a:cs typeface="Calibri"/>
              </a:rPr>
              <a:t> </a:t>
            </a:r>
            <a:r>
              <a:rPr sz="2300" spc="-50" dirty="0">
                <a:latin typeface="Times New Roman"/>
                <a:cs typeface="Calibri"/>
              </a:rPr>
              <a:t>.</a:t>
            </a:r>
            <a:endParaRPr sz="2300" dirty="0">
              <a:latin typeface="Times New Roman"/>
              <a:cs typeface="Calibri"/>
            </a:endParaRPr>
          </a:p>
          <a:p>
            <a:pPr marL="295910" marR="5080" indent="-283845">
              <a:lnSpc>
                <a:spcPct val="150000"/>
              </a:lnSpc>
              <a:spcBef>
                <a:spcPts val="810"/>
              </a:spcBef>
              <a:buSzPct val="63043"/>
              <a:buFont typeface="Arial MT"/>
              <a:buChar char="•"/>
              <a:tabLst>
                <a:tab pos="295910" algn="l"/>
              </a:tabLst>
            </a:pPr>
            <a:r>
              <a:rPr sz="2300" dirty="0">
                <a:latin typeface="Times New Roman"/>
                <a:cs typeface="Calibri"/>
              </a:rPr>
              <a:t>A</a:t>
            </a:r>
            <a:r>
              <a:rPr sz="2300" spc="5" dirty="0">
                <a:latin typeface="Times New Roman"/>
                <a:cs typeface="Calibri"/>
              </a:rPr>
              <a:t> </a:t>
            </a:r>
            <a:r>
              <a:rPr sz="2300" dirty="0">
                <a:latin typeface="Times New Roman"/>
                <a:cs typeface="Calibri"/>
              </a:rPr>
              <a:t>small</a:t>
            </a:r>
            <a:r>
              <a:rPr sz="2300" spc="-20" dirty="0">
                <a:latin typeface="Times New Roman"/>
                <a:cs typeface="Calibri"/>
              </a:rPr>
              <a:t> </a:t>
            </a:r>
            <a:r>
              <a:rPr sz="2300" dirty="0">
                <a:latin typeface="Times New Roman"/>
                <a:cs typeface="Calibri"/>
              </a:rPr>
              <a:t>number</a:t>
            </a:r>
            <a:r>
              <a:rPr sz="2300" spc="5" dirty="0">
                <a:latin typeface="Times New Roman"/>
                <a:cs typeface="Calibri"/>
              </a:rPr>
              <a:t> </a:t>
            </a:r>
            <a:r>
              <a:rPr sz="2300" dirty="0">
                <a:latin typeface="Times New Roman"/>
                <a:cs typeface="Calibri"/>
              </a:rPr>
              <a:t>of</a:t>
            </a:r>
            <a:r>
              <a:rPr sz="2300" spc="-5" dirty="0">
                <a:latin typeface="Times New Roman"/>
                <a:cs typeface="Calibri"/>
              </a:rPr>
              <a:t> </a:t>
            </a:r>
            <a:r>
              <a:rPr sz="2300" dirty="0">
                <a:latin typeface="Times New Roman"/>
                <a:cs typeface="Calibri"/>
              </a:rPr>
              <a:t>films</a:t>
            </a:r>
            <a:r>
              <a:rPr sz="2300" spc="-25" dirty="0">
                <a:latin typeface="Times New Roman"/>
                <a:cs typeface="Calibri"/>
              </a:rPr>
              <a:t> </a:t>
            </a:r>
            <a:r>
              <a:rPr sz="2300" dirty="0">
                <a:latin typeface="Times New Roman"/>
                <a:cs typeface="Calibri"/>
              </a:rPr>
              <a:t>have</a:t>
            </a:r>
            <a:r>
              <a:rPr sz="2300" spc="-15" dirty="0">
                <a:latin typeface="Times New Roman"/>
                <a:cs typeface="Calibri"/>
              </a:rPr>
              <a:t> </a:t>
            </a:r>
            <a:r>
              <a:rPr sz="2300" b="1" dirty="0">
                <a:latin typeface="Times New Roman"/>
                <a:cs typeface="Calibri"/>
              </a:rPr>
              <a:t>extremely</a:t>
            </a:r>
            <a:r>
              <a:rPr sz="2300" b="1" spc="-45" dirty="0">
                <a:latin typeface="Times New Roman"/>
                <a:cs typeface="Calibri"/>
              </a:rPr>
              <a:t> </a:t>
            </a:r>
            <a:r>
              <a:rPr sz="2300" b="1" dirty="0">
                <a:latin typeface="Times New Roman"/>
                <a:cs typeface="Calibri"/>
              </a:rPr>
              <a:t>high</a:t>
            </a:r>
            <a:r>
              <a:rPr sz="2300" b="1" spc="-10" dirty="0">
                <a:latin typeface="Times New Roman"/>
                <a:cs typeface="Calibri"/>
              </a:rPr>
              <a:t> </a:t>
            </a:r>
            <a:r>
              <a:rPr sz="2300" b="1" dirty="0">
                <a:latin typeface="Times New Roman"/>
                <a:cs typeface="Calibri"/>
              </a:rPr>
              <a:t>engagement</a:t>
            </a:r>
            <a:r>
              <a:rPr sz="2300" b="1" spc="-35" dirty="0">
                <a:latin typeface="Times New Roman"/>
                <a:cs typeface="Calibri"/>
              </a:rPr>
              <a:t> </a:t>
            </a:r>
            <a:r>
              <a:rPr sz="2300" b="1" dirty="0">
                <a:latin typeface="Times New Roman"/>
                <a:cs typeface="Calibri"/>
              </a:rPr>
              <a:t>(&gt;</a:t>
            </a:r>
            <a:r>
              <a:rPr sz="2300" b="1" spc="-15" dirty="0">
                <a:latin typeface="Times New Roman"/>
                <a:cs typeface="Calibri"/>
              </a:rPr>
              <a:t> </a:t>
            </a:r>
            <a:r>
              <a:rPr sz="2300" b="1" spc="-10" dirty="0">
                <a:latin typeface="Times New Roman"/>
                <a:cs typeface="Calibri"/>
              </a:rPr>
              <a:t>30,000 votes).</a:t>
            </a:r>
            <a:endParaRPr sz="2300" b="1" dirty="0">
              <a:latin typeface="Times New Roman"/>
              <a:cs typeface="Calibri"/>
            </a:endParaRPr>
          </a:p>
          <a:p>
            <a:pPr marL="295910" indent="-283210">
              <a:lnSpc>
                <a:spcPct val="150000"/>
              </a:lnSpc>
              <a:spcBef>
                <a:spcPts val="515"/>
              </a:spcBef>
              <a:buSzPct val="63043"/>
              <a:buFont typeface="Arial MT"/>
              <a:buChar char="•"/>
              <a:tabLst>
                <a:tab pos="295910" algn="l"/>
              </a:tabLst>
            </a:pPr>
            <a:r>
              <a:rPr sz="2300" dirty="0">
                <a:latin typeface="Times New Roman"/>
                <a:cs typeface="Calibri"/>
              </a:rPr>
              <a:t>Shows</a:t>
            </a:r>
            <a:r>
              <a:rPr sz="2300" spc="-25" dirty="0">
                <a:latin typeface="Times New Roman"/>
                <a:cs typeface="Calibri"/>
              </a:rPr>
              <a:t> </a:t>
            </a:r>
            <a:r>
              <a:rPr sz="2300" dirty="0">
                <a:latin typeface="Times New Roman"/>
                <a:cs typeface="Calibri"/>
              </a:rPr>
              <a:t>wide</a:t>
            </a:r>
            <a:r>
              <a:rPr sz="2300" spc="-15" dirty="0">
                <a:latin typeface="Times New Roman"/>
                <a:cs typeface="Calibri"/>
              </a:rPr>
              <a:t> </a:t>
            </a:r>
            <a:r>
              <a:rPr sz="2300" dirty="0">
                <a:latin typeface="Times New Roman"/>
                <a:cs typeface="Calibri"/>
              </a:rPr>
              <a:t>variation</a:t>
            </a:r>
            <a:r>
              <a:rPr sz="2300" spc="-30" dirty="0">
                <a:latin typeface="Times New Roman"/>
                <a:cs typeface="Calibri"/>
              </a:rPr>
              <a:t> </a:t>
            </a:r>
            <a:r>
              <a:rPr sz="2300" dirty="0">
                <a:latin typeface="Times New Roman"/>
                <a:cs typeface="Calibri"/>
              </a:rPr>
              <a:t>in</a:t>
            </a:r>
            <a:r>
              <a:rPr sz="2300" spc="-10" dirty="0">
                <a:latin typeface="Times New Roman"/>
                <a:cs typeface="Calibri"/>
              </a:rPr>
              <a:t> </a:t>
            </a:r>
            <a:r>
              <a:rPr sz="2300" dirty="0">
                <a:latin typeface="Times New Roman"/>
                <a:cs typeface="Calibri"/>
              </a:rPr>
              <a:t>audience</a:t>
            </a:r>
            <a:r>
              <a:rPr sz="2300" spc="-15" dirty="0">
                <a:latin typeface="Times New Roman"/>
                <a:cs typeface="Calibri"/>
              </a:rPr>
              <a:t> </a:t>
            </a:r>
            <a:r>
              <a:rPr sz="2300" dirty="0">
                <a:latin typeface="Times New Roman"/>
                <a:cs typeface="Calibri"/>
              </a:rPr>
              <a:t>interaction</a:t>
            </a:r>
            <a:r>
              <a:rPr sz="2300" spc="-30" dirty="0">
                <a:latin typeface="Times New Roman"/>
                <a:cs typeface="Calibri"/>
              </a:rPr>
              <a:t> </a:t>
            </a:r>
            <a:r>
              <a:rPr sz="2300" spc="-10" dirty="0">
                <a:latin typeface="Times New Roman"/>
                <a:cs typeface="Calibri"/>
              </a:rPr>
              <a:t>levels.</a:t>
            </a:r>
            <a:endParaRPr sz="2300">
              <a:latin typeface="Times New Roman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BB9DAF-F8EC-2AC9-670F-774FFEFAC79D}"/>
              </a:ext>
            </a:extLst>
          </p:cNvPr>
          <p:cNvSpPr txBox="1"/>
          <p:nvPr/>
        </p:nvSpPr>
        <p:spPr>
          <a:xfrm>
            <a:off x="934104" y="467052"/>
            <a:ext cx="3643007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2800" b="1" err="1">
                <a:solidFill>
                  <a:srgbClr val="000000"/>
                </a:solidFill>
                <a:latin typeface="Times New Roman"/>
                <a:cs typeface="Times New Roman"/>
              </a:rPr>
              <a:t>Vote_Count</a:t>
            </a:r>
            <a:endParaRPr lang="en-GB" sz="2800" b="1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26670" y="3882203"/>
            <a:ext cx="8405495" cy="2485745"/>
          </a:xfrm>
          <a:prstGeom prst="rect">
            <a:avLst/>
          </a:prstGeom>
        </p:spPr>
        <p:txBody>
          <a:bodyPr vert="horz" wrap="square" lIns="0" tIns="52705" rIns="0" bIns="0" rtlCol="0" anchor="t">
            <a:spAutoFit/>
          </a:bodyPr>
          <a:lstStyle/>
          <a:p>
            <a:pPr marL="295910" marR="5080" indent="-283845">
              <a:lnSpc>
                <a:spcPct val="150000"/>
              </a:lnSpc>
              <a:spcBef>
                <a:spcPts val="415"/>
              </a:spcBef>
              <a:buSzPct val="63043"/>
              <a:buFont typeface="Arial MT"/>
              <a:buChar char="•"/>
              <a:tabLst>
                <a:tab pos="295910" algn="l"/>
              </a:tabLst>
            </a:pPr>
            <a:r>
              <a:rPr sz="2000" dirty="0">
                <a:latin typeface="Times New Roman"/>
                <a:cs typeface="Calibri"/>
              </a:rPr>
              <a:t>Popularity</a:t>
            </a:r>
            <a:r>
              <a:rPr sz="2000" spc="-2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:</a:t>
            </a:r>
            <a:r>
              <a:rPr sz="2000" spc="10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Popularity</a:t>
            </a:r>
            <a:r>
              <a:rPr sz="2000" spc="-2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scores</a:t>
            </a:r>
            <a:r>
              <a:rPr sz="2000" spc="-20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are</a:t>
            </a:r>
            <a:r>
              <a:rPr sz="2000" spc="-5" dirty="0">
                <a:latin typeface="Times New Roman"/>
                <a:cs typeface="Calibri"/>
              </a:rPr>
              <a:t> </a:t>
            </a:r>
            <a:r>
              <a:rPr sz="2000" b="1" spc="-10" dirty="0">
                <a:latin typeface="Times New Roman"/>
                <a:cs typeface="Calibri"/>
              </a:rPr>
              <a:t>right-</a:t>
            </a:r>
            <a:r>
              <a:rPr sz="2000" b="1" dirty="0">
                <a:latin typeface="Times New Roman"/>
                <a:cs typeface="Calibri"/>
              </a:rPr>
              <a:t>skewed,</a:t>
            </a:r>
            <a:r>
              <a:rPr sz="2000" spc="-1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with</a:t>
            </a:r>
            <a:r>
              <a:rPr sz="2000" spc="-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most</a:t>
            </a:r>
            <a:r>
              <a:rPr sz="2000" spc="-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movies</a:t>
            </a:r>
            <a:r>
              <a:rPr sz="2000" spc="-40" dirty="0">
                <a:latin typeface="Times New Roman"/>
                <a:cs typeface="Calibri"/>
              </a:rPr>
              <a:t> </a:t>
            </a:r>
            <a:r>
              <a:rPr sz="2000" spc="-25" dirty="0">
                <a:latin typeface="Times New Roman"/>
                <a:cs typeface="Calibri"/>
              </a:rPr>
              <a:t>in </a:t>
            </a:r>
            <a:r>
              <a:rPr sz="2000" dirty="0">
                <a:latin typeface="Times New Roman"/>
                <a:cs typeface="Calibri"/>
              </a:rPr>
              <a:t>the</a:t>
            </a:r>
            <a:r>
              <a:rPr sz="2000" spc="-20" dirty="0">
                <a:latin typeface="Times New Roman"/>
                <a:cs typeface="Calibri"/>
              </a:rPr>
              <a:t> </a:t>
            </a:r>
            <a:r>
              <a:rPr sz="2000" b="1" dirty="0">
                <a:latin typeface="Times New Roman"/>
                <a:cs typeface="Calibri"/>
              </a:rPr>
              <a:t>0–10</a:t>
            </a:r>
            <a:r>
              <a:rPr sz="2000" b="1" spc="5" dirty="0">
                <a:latin typeface="Times New Roman"/>
                <a:cs typeface="Calibri"/>
              </a:rPr>
              <a:t> </a:t>
            </a:r>
            <a:r>
              <a:rPr sz="2000" b="1" dirty="0">
                <a:latin typeface="Times New Roman"/>
                <a:cs typeface="Calibri"/>
              </a:rPr>
              <a:t>range</a:t>
            </a:r>
            <a:r>
              <a:rPr sz="2000" b="1" spc="-15" dirty="0">
                <a:latin typeface="Times New Roman"/>
                <a:cs typeface="Calibri"/>
              </a:rPr>
              <a:t> </a:t>
            </a:r>
            <a:r>
              <a:rPr sz="2000" b="1" spc="-50" dirty="0">
                <a:latin typeface="Times New Roman"/>
                <a:cs typeface="Calibri"/>
              </a:rPr>
              <a:t>.</a:t>
            </a:r>
            <a:endParaRPr sz="2000" b="1" dirty="0">
              <a:latin typeface="Times New Roman"/>
              <a:cs typeface="Calibri"/>
            </a:endParaRPr>
          </a:p>
          <a:p>
            <a:pPr marL="295910" indent="-283210">
              <a:lnSpc>
                <a:spcPct val="150000"/>
              </a:lnSpc>
              <a:spcBef>
                <a:spcPts val="509"/>
              </a:spcBef>
              <a:buSzPct val="63043"/>
              <a:buFont typeface="Arial MT"/>
              <a:buChar char="•"/>
              <a:tabLst>
                <a:tab pos="295910" algn="l"/>
              </a:tabLst>
            </a:pPr>
            <a:r>
              <a:rPr sz="2000" dirty="0">
                <a:latin typeface="Times New Roman"/>
                <a:cs typeface="Calibri"/>
              </a:rPr>
              <a:t>Very</a:t>
            </a:r>
            <a:r>
              <a:rPr sz="2000" spc="-30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few</a:t>
            </a:r>
            <a:r>
              <a:rPr sz="2000" spc="-3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movies</a:t>
            </a:r>
            <a:r>
              <a:rPr sz="2000" spc="-2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show</a:t>
            </a:r>
            <a:r>
              <a:rPr sz="2000" spc="10" dirty="0">
                <a:latin typeface="Times New Roman"/>
                <a:cs typeface="Calibri"/>
              </a:rPr>
              <a:t> </a:t>
            </a:r>
            <a:r>
              <a:rPr sz="2000" b="1" dirty="0">
                <a:latin typeface="Times New Roman"/>
                <a:cs typeface="Calibri"/>
              </a:rPr>
              <a:t>extremely</a:t>
            </a:r>
            <a:r>
              <a:rPr sz="2000" b="1" spc="-50" dirty="0">
                <a:latin typeface="Times New Roman"/>
                <a:cs typeface="Calibri"/>
              </a:rPr>
              <a:t> </a:t>
            </a:r>
            <a:r>
              <a:rPr sz="2000" b="1" dirty="0">
                <a:latin typeface="Times New Roman"/>
                <a:cs typeface="Calibri"/>
              </a:rPr>
              <a:t>high</a:t>
            </a:r>
            <a:r>
              <a:rPr sz="2000" b="1" spc="10" dirty="0">
                <a:latin typeface="Times New Roman"/>
                <a:cs typeface="Calibri"/>
              </a:rPr>
              <a:t> </a:t>
            </a:r>
            <a:r>
              <a:rPr sz="2000" b="1" dirty="0">
                <a:latin typeface="Times New Roman"/>
                <a:cs typeface="Calibri"/>
              </a:rPr>
              <a:t>popularity</a:t>
            </a:r>
            <a:r>
              <a:rPr sz="2000" b="1" spc="-25" dirty="0">
                <a:latin typeface="Times New Roman"/>
                <a:cs typeface="Calibri"/>
              </a:rPr>
              <a:t> </a:t>
            </a:r>
            <a:r>
              <a:rPr sz="2000" b="1" spc="-10" dirty="0">
                <a:latin typeface="Times New Roman"/>
                <a:cs typeface="Calibri"/>
              </a:rPr>
              <a:t>(&gt;100).</a:t>
            </a:r>
            <a:endParaRPr sz="2000" b="1" dirty="0">
              <a:latin typeface="Times New Roman"/>
              <a:cs typeface="Calibri"/>
            </a:endParaRPr>
          </a:p>
          <a:p>
            <a:pPr marL="295910" marR="920115" indent="-283845">
              <a:lnSpc>
                <a:spcPct val="150000"/>
              </a:lnSpc>
              <a:spcBef>
                <a:spcPts val="860"/>
              </a:spcBef>
              <a:buSzPct val="63043"/>
              <a:buFont typeface="Arial MT"/>
              <a:buChar char="•"/>
              <a:tabLst>
                <a:tab pos="295910" algn="l"/>
              </a:tabLst>
            </a:pPr>
            <a:r>
              <a:rPr sz="2000" dirty="0">
                <a:latin typeface="Times New Roman"/>
                <a:cs typeface="Calibri"/>
              </a:rPr>
              <a:t>Indicates</a:t>
            </a:r>
            <a:r>
              <a:rPr sz="2000" spc="-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that</a:t>
            </a:r>
            <a:r>
              <a:rPr sz="2000" spc="-1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only</a:t>
            </a:r>
            <a:r>
              <a:rPr sz="2000" spc="-10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select</a:t>
            </a:r>
            <a:r>
              <a:rPr sz="2000" b="1" spc="-15" dirty="0">
                <a:latin typeface="Times New Roman"/>
                <a:cs typeface="Calibri"/>
              </a:rPr>
              <a:t> </a:t>
            </a:r>
            <a:r>
              <a:rPr sz="2000" b="1" spc="-10" dirty="0">
                <a:latin typeface="Times New Roman"/>
                <a:cs typeface="Calibri"/>
              </a:rPr>
              <a:t>top-</a:t>
            </a:r>
            <a:r>
              <a:rPr sz="2000" b="1" dirty="0">
                <a:latin typeface="Times New Roman"/>
                <a:cs typeface="Calibri"/>
              </a:rPr>
              <a:t>rated</a:t>
            </a:r>
            <a:r>
              <a:rPr sz="2000" b="1" spc="-40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films</a:t>
            </a:r>
            <a:r>
              <a:rPr sz="2000" spc="-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gain</a:t>
            </a:r>
            <a:r>
              <a:rPr sz="2000" spc="-1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massive</a:t>
            </a:r>
            <a:r>
              <a:rPr sz="2000" spc="-20" dirty="0">
                <a:latin typeface="Times New Roman"/>
                <a:cs typeface="Calibri"/>
              </a:rPr>
              <a:t> </a:t>
            </a:r>
            <a:r>
              <a:rPr sz="2000" spc="-10" dirty="0">
                <a:latin typeface="Times New Roman"/>
                <a:cs typeface="Calibri"/>
              </a:rPr>
              <a:t>public attention.</a:t>
            </a:r>
            <a:endParaRPr sz="2000" dirty="0">
              <a:latin typeface="Times New Roman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0380" y="1102852"/>
            <a:ext cx="9354569" cy="247345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EC7FB4E-562D-41AB-62C9-30E2E25997FF}"/>
              </a:ext>
            </a:extLst>
          </p:cNvPr>
          <p:cNvSpPr txBox="1"/>
          <p:nvPr/>
        </p:nvSpPr>
        <p:spPr>
          <a:xfrm>
            <a:off x="854945" y="522002"/>
            <a:ext cx="2825291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3200" b="1" dirty="0">
                <a:latin typeface="Times New Roman"/>
                <a:cs typeface="Times New Roman"/>
              </a:rPr>
              <a:t>Popularity</a:t>
            </a:r>
            <a:endParaRPr lang="en-GB" sz="3200" b="1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89A97-30B5-F3E8-B503-D631AF0FF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411" y="273465"/>
            <a:ext cx="8521005" cy="492443"/>
          </a:xfrm>
        </p:spPr>
        <p:txBody>
          <a:bodyPr wrap="square" lIns="0" tIns="0" rIns="0" bIns="0" anchor="t">
            <a:spAutoFit/>
          </a:bodyPr>
          <a:lstStyle/>
          <a:p>
            <a:r>
              <a:rPr lang="en-GB" sz="3200" b="1" dirty="0">
                <a:ea typeface="Calibri"/>
                <a:cs typeface="Calibri"/>
              </a:rPr>
              <a:t>Bivariate Analysis </a:t>
            </a:r>
            <a:endParaRPr lang="en-US" sz="3200" b="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E889D4-1A09-DF15-DCDB-28A750C49D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263" y="913968"/>
            <a:ext cx="8362167" cy="5946308"/>
          </a:xfrm>
        </p:spPr>
        <p:txBody>
          <a:bodyPr wrap="square" lIns="0" tIns="0" rIns="0" bIns="0" anchor="t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/>
              <a:buChar char="•"/>
            </a:pPr>
            <a:r>
              <a:rPr lang="en-GB" sz="2000" b="1" dirty="0">
                <a:latin typeface="Times New Roman"/>
                <a:ea typeface="Calibri"/>
              </a:rPr>
              <a:t>Popularity and vote count</a:t>
            </a:r>
            <a:r>
              <a:rPr lang="en-GB" sz="2000" dirty="0">
                <a:latin typeface="Times New Roman"/>
                <a:ea typeface="Calibri"/>
              </a:rPr>
              <a:t> are strongly correlated more votes = more popularity.</a:t>
            </a:r>
            <a:endParaRPr lang="en-US" sz="2000">
              <a:latin typeface="Times New Roman"/>
            </a:endParaRPr>
          </a:p>
          <a:p>
            <a:pPr marL="285750" indent="-285750" algn="l">
              <a:lnSpc>
                <a:spcPct val="150000"/>
              </a:lnSpc>
              <a:buFont typeface="Arial"/>
              <a:buChar char="•"/>
            </a:pPr>
            <a:r>
              <a:rPr lang="en-GB" sz="2000" b="1" dirty="0">
                <a:latin typeface="Times New Roman"/>
                <a:ea typeface="Calibri"/>
              </a:rPr>
              <a:t>Vote average (ratings)</a:t>
            </a:r>
            <a:r>
              <a:rPr lang="en-GB" sz="2000" dirty="0">
                <a:latin typeface="Times New Roman"/>
                <a:ea typeface="Calibri"/>
              </a:rPr>
              <a:t> shows weak correlation with vote count critically high-rated movies don’t always have many votes.</a:t>
            </a:r>
            <a:endParaRPr lang="en-GB" sz="2000">
              <a:latin typeface="Times New Roman"/>
            </a:endParaRPr>
          </a:p>
          <a:p>
            <a:pPr marL="285750" indent="-285750" algn="l">
              <a:lnSpc>
                <a:spcPct val="150000"/>
              </a:lnSpc>
              <a:buFont typeface="Arial"/>
              <a:buChar char="•"/>
            </a:pPr>
            <a:r>
              <a:rPr lang="en-GB" sz="2000" b="1" dirty="0">
                <a:latin typeface="Times New Roman"/>
                <a:ea typeface="Calibri"/>
              </a:rPr>
              <a:t>Action and Adventure</a:t>
            </a:r>
            <a:r>
              <a:rPr lang="en-GB" sz="2000" dirty="0">
                <a:latin typeface="Times New Roman"/>
                <a:ea typeface="Calibri"/>
              </a:rPr>
              <a:t> movies have high popularity, while </a:t>
            </a:r>
            <a:r>
              <a:rPr lang="en-GB" sz="2000" b="1" dirty="0">
                <a:latin typeface="Times New Roman"/>
                <a:ea typeface="Calibri"/>
              </a:rPr>
              <a:t>Drama and Crime</a:t>
            </a:r>
            <a:r>
              <a:rPr lang="en-GB" sz="2000" dirty="0">
                <a:latin typeface="Times New Roman"/>
                <a:ea typeface="Calibri"/>
              </a:rPr>
              <a:t> have high ratings.</a:t>
            </a:r>
            <a:endParaRPr lang="en-GB" sz="2000">
              <a:latin typeface="Times New Roman"/>
            </a:endParaRPr>
          </a:p>
          <a:p>
            <a:pPr marL="285750" indent="-285750" algn="l">
              <a:lnSpc>
                <a:spcPct val="150000"/>
              </a:lnSpc>
              <a:buFont typeface="Arial"/>
              <a:buChar char="•"/>
            </a:pPr>
            <a:r>
              <a:rPr lang="en-GB" sz="2000" b="1" dirty="0">
                <a:latin typeface="Times New Roman"/>
                <a:ea typeface="Calibri"/>
              </a:rPr>
              <a:t>Popularity</a:t>
            </a:r>
            <a:r>
              <a:rPr lang="en-GB" sz="2000" dirty="0">
                <a:latin typeface="Times New Roman"/>
                <a:ea typeface="Calibri"/>
              </a:rPr>
              <a:t> increases with </a:t>
            </a:r>
            <a:r>
              <a:rPr lang="en-GB" sz="2000" b="1" dirty="0">
                <a:latin typeface="Times New Roman"/>
                <a:ea typeface="Calibri"/>
              </a:rPr>
              <a:t>release year</a:t>
            </a:r>
            <a:r>
              <a:rPr lang="en-GB" sz="2000" dirty="0">
                <a:latin typeface="Times New Roman"/>
                <a:ea typeface="Calibri"/>
              </a:rPr>
              <a:t>, indicating that newer movies trend more on TMDB.</a:t>
            </a:r>
            <a:endParaRPr lang="en-GB" sz="2000">
              <a:latin typeface="Times New Roman"/>
            </a:endParaRPr>
          </a:p>
          <a:p>
            <a:pPr marL="285750" indent="-285750" algn="l">
              <a:lnSpc>
                <a:spcPct val="150000"/>
              </a:lnSpc>
              <a:buFont typeface="Arial"/>
              <a:buChar char="•"/>
            </a:pPr>
            <a:r>
              <a:rPr lang="en-GB" sz="2000" b="1" dirty="0">
                <a:latin typeface="Times New Roman"/>
                <a:ea typeface="Calibri"/>
              </a:rPr>
              <a:t>English</a:t>
            </a:r>
            <a:r>
              <a:rPr lang="en-GB" sz="2000" dirty="0">
                <a:latin typeface="Times New Roman"/>
                <a:ea typeface="Calibri"/>
              </a:rPr>
              <a:t> films dominate in both popularity and vote counts, but some non-English films </a:t>
            </a:r>
            <a:r>
              <a:rPr lang="en-GB" sz="2000" b="1" dirty="0">
                <a:latin typeface="Times New Roman"/>
                <a:ea typeface="Calibri"/>
              </a:rPr>
              <a:t>(Japanese, Korean, French) </a:t>
            </a:r>
            <a:r>
              <a:rPr lang="en-GB" sz="2000" dirty="0">
                <a:latin typeface="Times New Roman"/>
                <a:ea typeface="Calibri"/>
              </a:rPr>
              <a:t>score high in ratings.</a:t>
            </a:r>
            <a:endParaRPr lang="en-GB" sz="2000">
              <a:latin typeface="Times New Roman"/>
            </a:endParaRPr>
          </a:p>
          <a:p>
            <a:pPr marL="285750" indent="-285750" algn="l">
              <a:lnSpc>
                <a:spcPct val="150000"/>
              </a:lnSpc>
              <a:buFont typeface="Arial"/>
              <a:buChar char="•"/>
            </a:pPr>
            <a:r>
              <a:rPr lang="en-GB" sz="2000" dirty="0">
                <a:latin typeface="Times New Roman"/>
                <a:ea typeface="Calibri"/>
              </a:rPr>
              <a:t>These relationships show how </a:t>
            </a:r>
            <a:r>
              <a:rPr lang="en-GB" sz="2000" b="1" dirty="0">
                <a:latin typeface="Times New Roman"/>
                <a:ea typeface="Calibri"/>
              </a:rPr>
              <a:t>audience engagement</a:t>
            </a:r>
            <a:r>
              <a:rPr lang="en-GB" sz="2000" dirty="0">
                <a:latin typeface="Times New Roman"/>
                <a:ea typeface="Calibri"/>
              </a:rPr>
              <a:t> (popularity, votes) and </a:t>
            </a:r>
            <a:r>
              <a:rPr lang="en-GB" sz="2000" b="1" dirty="0">
                <a:latin typeface="Times New Roman"/>
                <a:ea typeface="Calibri"/>
              </a:rPr>
              <a:t>critical response</a:t>
            </a:r>
            <a:r>
              <a:rPr lang="en-GB" sz="2000" dirty="0">
                <a:latin typeface="Times New Roman"/>
                <a:ea typeface="Calibri"/>
              </a:rPr>
              <a:t> (ratings) behave differently across genres and years.</a:t>
            </a:r>
            <a:endParaRPr lang="en-GB" sz="2000">
              <a:latin typeface="Times New Roman"/>
            </a:endParaRPr>
          </a:p>
          <a:p>
            <a:pPr algn="l">
              <a:lnSpc>
                <a:spcPct val="150000"/>
              </a:lnSpc>
            </a:pPr>
            <a:endParaRPr lang="en-GB" sz="2000" dirty="0">
              <a:latin typeface="Times New Roman"/>
              <a:ea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003570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9873" y="3993143"/>
            <a:ext cx="8148320" cy="2105513"/>
          </a:xfrm>
          <a:prstGeom prst="rect">
            <a:avLst/>
          </a:prstGeom>
        </p:spPr>
        <p:txBody>
          <a:bodyPr vert="horz" wrap="square" lIns="0" tIns="82550" rIns="0" bIns="0" rtlCol="0" anchor="t">
            <a:spAutoFit/>
          </a:bodyPr>
          <a:lstStyle/>
          <a:p>
            <a:pPr marL="12700">
              <a:lnSpc>
                <a:spcPct val="150000"/>
              </a:lnSpc>
              <a:spcBef>
                <a:spcPts val="650"/>
              </a:spcBef>
            </a:pPr>
            <a:endParaRPr sz="2000" b="1" spc="-50" dirty="0">
              <a:latin typeface="Times New Roman"/>
              <a:cs typeface="Calibri"/>
            </a:endParaRPr>
          </a:p>
          <a:p>
            <a:pPr marL="295910" indent="-283210">
              <a:lnSpc>
                <a:spcPct val="150000"/>
              </a:lnSpc>
              <a:spcBef>
                <a:spcPts val="550"/>
              </a:spcBef>
              <a:buSzPct val="63043"/>
              <a:buFont typeface="Arial MT"/>
              <a:buChar char="•"/>
              <a:tabLst>
                <a:tab pos="295910" algn="l"/>
              </a:tabLst>
            </a:pPr>
            <a:r>
              <a:rPr sz="2000" b="1" dirty="0">
                <a:latin typeface="Times New Roman"/>
                <a:cs typeface="Calibri"/>
              </a:rPr>
              <a:t>Drama,</a:t>
            </a:r>
            <a:r>
              <a:rPr sz="2000" b="1" spc="-15" dirty="0">
                <a:latin typeface="Times New Roman"/>
                <a:cs typeface="Calibri"/>
              </a:rPr>
              <a:t> </a:t>
            </a:r>
            <a:r>
              <a:rPr sz="2000" b="1" dirty="0">
                <a:latin typeface="Times New Roman"/>
                <a:cs typeface="Calibri"/>
              </a:rPr>
              <a:t>Animation,</a:t>
            </a:r>
            <a:r>
              <a:rPr sz="2000" b="1" spc="-35" dirty="0">
                <a:latin typeface="Times New Roman"/>
                <a:cs typeface="Calibri"/>
              </a:rPr>
              <a:t> </a:t>
            </a:r>
            <a:r>
              <a:rPr sz="2000" b="1" dirty="0">
                <a:latin typeface="Times New Roman"/>
                <a:cs typeface="Calibri"/>
              </a:rPr>
              <a:t>and Documentary</a:t>
            </a:r>
            <a:r>
              <a:rPr sz="2000" b="1" spc="-6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have</a:t>
            </a:r>
            <a:r>
              <a:rPr sz="2000" spc="-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higher</a:t>
            </a:r>
            <a:r>
              <a:rPr sz="2000" spc="-3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rating</a:t>
            </a:r>
            <a:r>
              <a:rPr sz="2000" spc="-15" dirty="0">
                <a:latin typeface="Times New Roman"/>
                <a:cs typeface="Calibri"/>
              </a:rPr>
              <a:t> </a:t>
            </a:r>
            <a:r>
              <a:rPr sz="2000" spc="-10" dirty="0">
                <a:latin typeface="Times New Roman"/>
                <a:cs typeface="Calibri"/>
              </a:rPr>
              <a:t>medians.</a:t>
            </a:r>
            <a:endParaRPr sz="2000" dirty="0">
              <a:latin typeface="Times New Roman"/>
              <a:cs typeface="Calibri"/>
            </a:endParaRPr>
          </a:p>
          <a:p>
            <a:pPr marL="295910" indent="-283210">
              <a:lnSpc>
                <a:spcPct val="150000"/>
              </a:lnSpc>
              <a:spcBef>
                <a:spcPts val="565"/>
              </a:spcBef>
              <a:buSzPct val="63043"/>
              <a:buFont typeface="Arial MT"/>
              <a:buChar char="•"/>
              <a:tabLst>
                <a:tab pos="295910" algn="l"/>
              </a:tabLst>
            </a:pPr>
            <a:r>
              <a:rPr sz="2000" b="1" dirty="0">
                <a:latin typeface="Times New Roman"/>
                <a:cs typeface="Calibri"/>
              </a:rPr>
              <a:t>Action</a:t>
            </a:r>
            <a:r>
              <a:rPr sz="2000" b="1" spc="-35" dirty="0">
                <a:latin typeface="Times New Roman"/>
                <a:cs typeface="Calibri"/>
              </a:rPr>
              <a:t> </a:t>
            </a:r>
            <a:r>
              <a:rPr sz="2000" b="1" dirty="0">
                <a:latin typeface="Times New Roman"/>
                <a:cs typeface="Calibri"/>
              </a:rPr>
              <a:t>and</a:t>
            </a:r>
            <a:r>
              <a:rPr sz="2000" b="1" spc="15" dirty="0">
                <a:latin typeface="Times New Roman"/>
                <a:cs typeface="Calibri"/>
              </a:rPr>
              <a:t> </a:t>
            </a:r>
            <a:r>
              <a:rPr sz="2000" b="1" dirty="0">
                <a:latin typeface="Times New Roman"/>
                <a:cs typeface="Calibri"/>
              </a:rPr>
              <a:t>Horror</a:t>
            </a:r>
            <a:r>
              <a:rPr sz="2000" spc="-1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show</a:t>
            </a:r>
            <a:r>
              <a:rPr sz="2000" spc="-10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wide</a:t>
            </a:r>
            <a:r>
              <a:rPr sz="2000" spc="-10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variability</a:t>
            </a:r>
            <a:r>
              <a:rPr sz="2000" spc="-2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in</a:t>
            </a:r>
            <a:r>
              <a:rPr sz="2000" spc="-5" dirty="0">
                <a:latin typeface="Times New Roman"/>
                <a:cs typeface="Calibri"/>
              </a:rPr>
              <a:t> </a:t>
            </a:r>
            <a:r>
              <a:rPr sz="2000" spc="-10" dirty="0">
                <a:latin typeface="Times New Roman"/>
                <a:cs typeface="Calibri"/>
              </a:rPr>
              <a:t>ratings.</a:t>
            </a:r>
            <a:endParaRPr sz="2000" dirty="0">
              <a:latin typeface="Times New Roman"/>
              <a:cs typeface="Calibri"/>
            </a:endParaRPr>
          </a:p>
          <a:p>
            <a:pPr marL="295910" indent="-283210">
              <a:lnSpc>
                <a:spcPct val="150000"/>
              </a:lnSpc>
              <a:spcBef>
                <a:spcPts val="565"/>
              </a:spcBef>
              <a:buSzPct val="63043"/>
              <a:buFont typeface="Arial MT"/>
              <a:buChar char="•"/>
              <a:tabLst>
                <a:tab pos="295910" algn="l"/>
              </a:tabLst>
            </a:pPr>
            <a:r>
              <a:rPr sz="2000" dirty="0">
                <a:latin typeface="Times New Roman"/>
                <a:cs typeface="Calibri"/>
              </a:rPr>
              <a:t>Genre</a:t>
            </a:r>
            <a:r>
              <a:rPr sz="2000" spc="-40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plays</a:t>
            </a:r>
            <a:r>
              <a:rPr sz="2000" spc="2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a</a:t>
            </a:r>
            <a:r>
              <a:rPr sz="2000" spc="-40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significant</a:t>
            </a:r>
            <a:r>
              <a:rPr sz="2000" spc="-10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role</a:t>
            </a:r>
            <a:r>
              <a:rPr sz="2000" spc="-3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in</a:t>
            </a:r>
            <a:r>
              <a:rPr sz="2000" spc="-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movie</a:t>
            </a:r>
            <a:r>
              <a:rPr sz="2000" spc="-1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quality </a:t>
            </a:r>
            <a:r>
              <a:rPr sz="2000" spc="-10" dirty="0">
                <a:latin typeface="Times New Roman"/>
                <a:cs typeface="Calibri"/>
              </a:rPr>
              <a:t>trends.</a:t>
            </a:r>
            <a:endParaRPr sz="2000" dirty="0">
              <a:latin typeface="Times New Roman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6681" y="1344845"/>
            <a:ext cx="9408132" cy="254562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81A46D1-BC79-26D8-A841-8AB84027730A}"/>
              </a:ext>
            </a:extLst>
          </p:cNvPr>
          <p:cNvSpPr txBox="1"/>
          <p:nvPr/>
        </p:nvSpPr>
        <p:spPr>
          <a:xfrm>
            <a:off x="962268" y="524787"/>
            <a:ext cx="7284653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200" b="1" dirty="0">
                <a:latin typeface="Times New Roman"/>
                <a:cs typeface="Times New Roman"/>
              </a:rPr>
              <a:t>Genre vs Rating :</a:t>
            </a:r>
            <a:endParaRPr lang="en-US"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6700" y="769562"/>
            <a:ext cx="5271516" cy="518617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object 3"/>
          <p:cNvSpPr txBox="1"/>
          <p:nvPr/>
        </p:nvSpPr>
        <p:spPr>
          <a:xfrm>
            <a:off x="849873" y="1086848"/>
            <a:ext cx="3799571" cy="3579634"/>
          </a:xfrm>
          <a:prstGeom prst="rect">
            <a:avLst/>
          </a:prstGeom>
        </p:spPr>
        <p:txBody>
          <a:bodyPr vert="horz" wrap="square" lIns="0" tIns="81915" rIns="0" bIns="0" rtlCol="0" anchor="t">
            <a:spAutoFit/>
          </a:bodyPr>
          <a:lstStyle/>
          <a:p>
            <a:pPr marL="12700">
              <a:lnSpc>
                <a:spcPct val="150000"/>
              </a:lnSpc>
              <a:spcBef>
                <a:spcPts val="645"/>
              </a:spcBef>
            </a:pPr>
            <a:endParaRPr sz="2000" b="1" dirty="0">
              <a:latin typeface="Times New Roman"/>
              <a:cs typeface="Calibri"/>
            </a:endParaRPr>
          </a:p>
          <a:p>
            <a:pPr marL="295910" marR="5080" indent="-283845">
              <a:lnSpc>
                <a:spcPct val="150000"/>
              </a:lnSpc>
              <a:spcBef>
                <a:spcPts val="855"/>
              </a:spcBef>
              <a:buSzPct val="63043"/>
              <a:buFont typeface="Arial MT"/>
              <a:buChar char="•"/>
              <a:tabLst>
                <a:tab pos="295910" algn="l"/>
              </a:tabLst>
            </a:pPr>
            <a:r>
              <a:rPr sz="2000" b="1" dirty="0">
                <a:latin typeface="Times New Roman"/>
                <a:cs typeface="Calibri"/>
              </a:rPr>
              <a:t>Action,</a:t>
            </a:r>
            <a:r>
              <a:rPr sz="2000" b="1" spc="-20" dirty="0">
                <a:latin typeface="Times New Roman"/>
                <a:cs typeface="Calibri"/>
              </a:rPr>
              <a:t> </a:t>
            </a:r>
            <a:r>
              <a:rPr sz="2000" b="1" dirty="0">
                <a:latin typeface="Times New Roman"/>
                <a:cs typeface="Calibri"/>
              </a:rPr>
              <a:t>Adventure,</a:t>
            </a:r>
            <a:r>
              <a:rPr sz="2000" b="1" spc="-15" dirty="0">
                <a:latin typeface="Times New Roman"/>
                <a:cs typeface="Calibri"/>
              </a:rPr>
              <a:t> </a:t>
            </a:r>
            <a:r>
              <a:rPr sz="2000" b="1" dirty="0">
                <a:latin typeface="Times New Roman"/>
                <a:cs typeface="Calibri"/>
              </a:rPr>
              <a:t>and</a:t>
            </a:r>
            <a:r>
              <a:rPr sz="2000" b="1" spc="15" dirty="0">
                <a:latin typeface="Times New Roman"/>
                <a:cs typeface="Calibri"/>
              </a:rPr>
              <a:t> </a:t>
            </a:r>
            <a:r>
              <a:rPr sz="2000" b="1" dirty="0">
                <a:latin typeface="Times New Roman"/>
                <a:cs typeface="Calibri"/>
              </a:rPr>
              <a:t>Sci-</a:t>
            </a:r>
            <a:r>
              <a:rPr sz="2000" b="1" spc="-25" dirty="0">
                <a:latin typeface="Times New Roman"/>
                <a:cs typeface="Calibri"/>
              </a:rPr>
              <a:t>Fi</a:t>
            </a:r>
            <a:r>
              <a:rPr sz="2000" spc="-2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have</a:t>
            </a:r>
            <a:r>
              <a:rPr sz="2000" spc="-30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the</a:t>
            </a:r>
            <a:r>
              <a:rPr sz="2000" spc="-2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highest</a:t>
            </a:r>
            <a:r>
              <a:rPr sz="2000" spc="-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popularity</a:t>
            </a:r>
            <a:r>
              <a:rPr sz="2000" spc="-15" dirty="0">
                <a:latin typeface="Times New Roman"/>
                <a:cs typeface="Calibri"/>
              </a:rPr>
              <a:t> </a:t>
            </a:r>
            <a:r>
              <a:rPr sz="2000" spc="-50" dirty="0">
                <a:latin typeface="Times New Roman"/>
                <a:cs typeface="Calibri"/>
              </a:rPr>
              <a:t>.</a:t>
            </a:r>
            <a:endParaRPr sz="2000" dirty="0">
              <a:latin typeface="Times New Roman"/>
              <a:cs typeface="Calibri"/>
            </a:endParaRPr>
          </a:p>
          <a:p>
            <a:pPr marL="295910" marR="635635" indent="-283845">
              <a:lnSpc>
                <a:spcPct val="150000"/>
              </a:lnSpc>
              <a:spcBef>
                <a:spcPts val="819"/>
              </a:spcBef>
              <a:buSzPct val="63043"/>
              <a:buFont typeface="Arial MT"/>
              <a:buChar char="•"/>
              <a:tabLst>
                <a:tab pos="295910" algn="l"/>
              </a:tabLst>
            </a:pPr>
            <a:r>
              <a:rPr sz="2000" b="1" dirty="0">
                <a:latin typeface="Times New Roman"/>
                <a:cs typeface="Calibri"/>
              </a:rPr>
              <a:t>Drama</a:t>
            </a:r>
            <a:r>
              <a:rPr sz="2000" b="1" spc="-20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is</a:t>
            </a:r>
            <a:r>
              <a:rPr sz="2000" spc="-2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consistent</a:t>
            </a:r>
            <a:r>
              <a:rPr sz="2000" spc="10" dirty="0">
                <a:latin typeface="Times New Roman"/>
                <a:cs typeface="Calibri"/>
              </a:rPr>
              <a:t> </a:t>
            </a:r>
            <a:r>
              <a:rPr sz="2000" spc="-25" dirty="0">
                <a:latin typeface="Times New Roman"/>
                <a:cs typeface="Calibri"/>
              </a:rPr>
              <a:t>but </a:t>
            </a:r>
            <a:r>
              <a:rPr sz="2000" b="1" dirty="0">
                <a:latin typeface="Times New Roman"/>
                <a:cs typeface="Calibri"/>
              </a:rPr>
              <a:t>moderately</a:t>
            </a:r>
            <a:r>
              <a:rPr sz="2000" b="1" spc="-50" dirty="0">
                <a:latin typeface="Times New Roman"/>
                <a:cs typeface="Calibri"/>
              </a:rPr>
              <a:t> </a:t>
            </a:r>
            <a:r>
              <a:rPr sz="2000" b="1" dirty="0">
                <a:latin typeface="Times New Roman"/>
                <a:cs typeface="Calibri"/>
              </a:rPr>
              <a:t>popular</a:t>
            </a:r>
            <a:r>
              <a:rPr sz="2000" b="1" spc="-10" dirty="0">
                <a:latin typeface="Times New Roman"/>
                <a:cs typeface="Calibri"/>
              </a:rPr>
              <a:t> </a:t>
            </a:r>
            <a:r>
              <a:rPr sz="2000" b="1" spc="-50" dirty="0">
                <a:latin typeface="Times New Roman"/>
                <a:cs typeface="Calibri"/>
              </a:rPr>
              <a:t>.</a:t>
            </a:r>
            <a:endParaRPr sz="2000" b="1" dirty="0">
              <a:latin typeface="Times New Roman"/>
              <a:cs typeface="Calibri"/>
            </a:endParaRPr>
          </a:p>
          <a:p>
            <a:pPr marL="295910" marR="57785" indent="-283845">
              <a:lnSpc>
                <a:spcPct val="150000"/>
              </a:lnSpc>
              <a:spcBef>
                <a:spcPts val="790"/>
              </a:spcBef>
              <a:buSzPct val="63043"/>
              <a:buFont typeface="Arial MT"/>
              <a:buChar char="•"/>
              <a:tabLst>
                <a:tab pos="295910" algn="l"/>
              </a:tabLst>
            </a:pPr>
            <a:r>
              <a:rPr sz="2000" dirty="0">
                <a:latin typeface="Times New Roman"/>
                <a:cs typeface="Calibri"/>
              </a:rPr>
              <a:t>Some</a:t>
            </a:r>
            <a:r>
              <a:rPr sz="2000" spc="-3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genres</a:t>
            </a:r>
            <a:r>
              <a:rPr sz="2000" spc="-15" dirty="0">
                <a:latin typeface="Times New Roman"/>
                <a:cs typeface="Calibri"/>
              </a:rPr>
              <a:t> </a:t>
            </a:r>
            <a:r>
              <a:rPr sz="2000" b="1" spc="-10" dirty="0">
                <a:latin typeface="Times New Roman"/>
                <a:cs typeface="Calibri"/>
              </a:rPr>
              <a:t>(Documentary, </a:t>
            </a:r>
            <a:r>
              <a:rPr sz="2000" b="1" dirty="0">
                <a:latin typeface="Times New Roman"/>
                <a:cs typeface="Calibri"/>
              </a:rPr>
              <a:t>History)</a:t>
            </a:r>
            <a:r>
              <a:rPr sz="2000" b="1" spc="-15" dirty="0">
                <a:latin typeface="Times New Roman"/>
                <a:cs typeface="Calibri"/>
              </a:rPr>
              <a:t> </a:t>
            </a:r>
            <a:r>
              <a:rPr sz="2000" b="1" dirty="0">
                <a:latin typeface="Times New Roman"/>
                <a:cs typeface="Calibri"/>
              </a:rPr>
              <a:t>show</a:t>
            </a:r>
            <a:r>
              <a:rPr sz="2000" b="1" spc="-15" dirty="0">
                <a:latin typeface="Times New Roman"/>
                <a:cs typeface="Calibri"/>
              </a:rPr>
              <a:t> </a:t>
            </a:r>
            <a:r>
              <a:rPr sz="2000" b="1" spc="-25" dirty="0">
                <a:latin typeface="Times New Roman"/>
                <a:cs typeface="Calibri"/>
              </a:rPr>
              <a:t>low </a:t>
            </a:r>
            <a:r>
              <a:rPr sz="2000" b="1" spc="-10" dirty="0">
                <a:latin typeface="Times New Roman"/>
                <a:cs typeface="Calibri"/>
              </a:rPr>
              <a:t>popularity.</a:t>
            </a:r>
            <a:endParaRPr sz="2000" b="1" dirty="0">
              <a:latin typeface="Times New Roman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CB8AD2-80C1-7012-180F-1CFE591E8DEF}"/>
              </a:ext>
            </a:extLst>
          </p:cNvPr>
          <p:cNvSpPr txBox="1"/>
          <p:nvPr/>
        </p:nvSpPr>
        <p:spPr>
          <a:xfrm>
            <a:off x="1050412" y="351961"/>
            <a:ext cx="469647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800" b="1" dirty="0">
                <a:latin typeface="Times New Roman"/>
                <a:cs typeface="Times New Roman"/>
              </a:rPr>
              <a:t>Genre vs Popularity:</a:t>
            </a:r>
            <a:endParaRPr lang="en-US"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05589" y="1200592"/>
            <a:ext cx="3565525" cy="4041299"/>
          </a:xfrm>
          <a:prstGeom prst="rect">
            <a:avLst/>
          </a:prstGeom>
        </p:spPr>
        <p:txBody>
          <a:bodyPr vert="horz" wrap="square" lIns="0" tIns="81915" rIns="0" bIns="0" rtlCol="0" anchor="t">
            <a:spAutoFit/>
          </a:bodyPr>
          <a:lstStyle/>
          <a:p>
            <a:pPr marL="12700">
              <a:lnSpc>
                <a:spcPct val="150000"/>
              </a:lnSpc>
              <a:spcBef>
                <a:spcPts val="645"/>
              </a:spcBef>
            </a:pPr>
            <a:endParaRPr sz="2000" b="1" dirty="0">
              <a:latin typeface="Times New Roman"/>
              <a:cs typeface="Calibri"/>
            </a:endParaRPr>
          </a:p>
          <a:p>
            <a:pPr marL="295910" marR="342265" indent="-283845">
              <a:lnSpc>
                <a:spcPct val="150000"/>
              </a:lnSpc>
              <a:spcBef>
                <a:spcPts val="855"/>
              </a:spcBef>
              <a:buSzPct val="63043"/>
              <a:buFont typeface="Arial MT"/>
              <a:buChar char="•"/>
              <a:tabLst>
                <a:tab pos="295910" algn="l"/>
              </a:tabLst>
            </a:pPr>
            <a:r>
              <a:rPr sz="2000" b="1" dirty="0">
                <a:latin typeface="Times New Roman"/>
                <a:cs typeface="Calibri"/>
              </a:rPr>
              <a:t>Weak</a:t>
            </a:r>
            <a:r>
              <a:rPr sz="2000" b="1" spc="-20" dirty="0">
                <a:latin typeface="Times New Roman"/>
                <a:cs typeface="Calibri"/>
              </a:rPr>
              <a:t> </a:t>
            </a:r>
            <a:r>
              <a:rPr sz="2000" b="1" spc="-10" dirty="0">
                <a:latin typeface="Times New Roman"/>
                <a:cs typeface="Calibri"/>
              </a:rPr>
              <a:t>relationship </a:t>
            </a:r>
            <a:r>
              <a:rPr sz="2000" b="1" dirty="0">
                <a:latin typeface="Times New Roman"/>
                <a:cs typeface="Calibri"/>
              </a:rPr>
              <a:t>between</a:t>
            </a:r>
            <a:r>
              <a:rPr sz="2000" spc="-3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vote</a:t>
            </a:r>
            <a:r>
              <a:rPr sz="2000" spc="-1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count</a:t>
            </a:r>
            <a:r>
              <a:rPr sz="2000" spc="-10" dirty="0">
                <a:latin typeface="Times New Roman"/>
                <a:cs typeface="Calibri"/>
              </a:rPr>
              <a:t> </a:t>
            </a:r>
            <a:r>
              <a:rPr sz="2000" spc="-25" dirty="0">
                <a:latin typeface="Times New Roman"/>
                <a:cs typeface="Calibri"/>
              </a:rPr>
              <a:t>and </a:t>
            </a:r>
            <a:r>
              <a:rPr sz="2000" spc="-10" dirty="0">
                <a:latin typeface="Times New Roman"/>
                <a:cs typeface="Calibri"/>
              </a:rPr>
              <a:t>rating.</a:t>
            </a:r>
            <a:endParaRPr sz="2000" dirty="0">
              <a:latin typeface="Times New Roman"/>
              <a:cs typeface="Calibri"/>
            </a:endParaRPr>
          </a:p>
          <a:p>
            <a:pPr marL="295910" marR="354965" indent="-283845">
              <a:lnSpc>
                <a:spcPct val="150000"/>
              </a:lnSpc>
              <a:spcBef>
                <a:spcPts val="815"/>
              </a:spcBef>
              <a:buSzPct val="63043"/>
              <a:buFont typeface="Arial MT"/>
              <a:buChar char="•"/>
              <a:tabLst>
                <a:tab pos="295910" algn="l"/>
              </a:tabLst>
            </a:pPr>
            <a:r>
              <a:rPr sz="2000" dirty="0">
                <a:latin typeface="Times New Roman"/>
                <a:cs typeface="Calibri"/>
              </a:rPr>
              <a:t>Movies</a:t>
            </a:r>
            <a:r>
              <a:rPr sz="2000" spc="-20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with</a:t>
            </a:r>
            <a:r>
              <a:rPr sz="2000" spc="-5" dirty="0">
                <a:latin typeface="Times New Roman"/>
                <a:cs typeface="Calibri"/>
              </a:rPr>
              <a:t> </a:t>
            </a:r>
            <a:r>
              <a:rPr sz="2000" b="1" dirty="0">
                <a:latin typeface="Times New Roman"/>
                <a:cs typeface="Calibri"/>
              </a:rPr>
              <a:t>many</a:t>
            </a:r>
            <a:r>
              <a:rPr sz="2000" b="1" spc="-20" dirty="0">
                <a:latin typeface="Times New Roman"/>
                <a:cs typeface="Calibri"/>
              </a:rPr>
              <a:t> votes </a:t>
            </a:r>
            <a:r>
              <a:rPr sz="2000" b="1" dirty="0">
                <a:latin typeface="Times New Roman"/>
                <a:cs typeface="Calibri"/>
              </a:rPr>
              <a:t>do not</a:t>
            </a:r>
            <a:r>
              <a:rPr sz="2000" b="1" spc="-15" dirty="0">
                <a:latin typeface="Times New Roman"/>
                <a:cs typeface="Calibri"/>
              </a:rPr>
              <a:t> </a:t>
            </a:r>
            <a:r>
              <a:rPr sz="2000" b="1" dirty="0">
                <a:latin typeface="Times New Roman"/>
                <a:cs typeface="Calibri"/>
              </a:rPr>
              <a:t>always</a:t>
            </a:r>
            <a:r>
              <a:rPr sz="2000" b="1" spc="-30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have</a:t>
            </a:r>
            <a:r>
              <a:rPr sz="2000" spc="5" dirty="0">
                <a:latin typeface="Times New Roman"/>
                <a:cs typeface="Calibri"/>
              </a:rPr>
              <a:t> </a:t>
            </a:r>
            <a:r>
              <a:rPr sz="2000" spc="-25" dirty="0">
                <a:latin typeface="Times New Roman"/>
                <a:cs typeface="Calibri"/>
              </a:rPr>
              <a:t>the </a:t>
            </a:r>
            <a:r>
              <a:rPr sz="2000" dirty="0">
                <a:latin typeface="Times New Roman"/>
                <a:cs typeface="Calibri"/>
              </a:rPr>
              <a:t>highest</a:t>
            </a:r>
            <a:r>
              <a:rPr sz="2000" spc="-30" dirty="0">
                <a:latin typeface="Times New Roman"/>
                <a:cs typeface="Calibri"/>
              </a:rPr>
              <a:t> </a:t>
            </a:r>
            <a:r>
              <a:rPr sz="2000" spc="-10" dirty="0">
                <a:latin typeface="Times New Roman"/>
                <a:cs typeface="Calibri"/>
              </a:rPr>
              <a:t>ratings.</a:t>
            </a:r>
            <a:endParaRPr sz="2000" dirty="0">
              <a:latin typeface="Times New Roman"/>
              <a:cs typeface="Calibri"/>
            </a:endParaRPr>
          </a:p>
          <a:p>
            <a:pPr marL="295910" marR="5080" indent="-283845">
              <a:lnSpc>
                <a:spcPct val="150000"/>
              </a:lnSpc>
              <a:spcBef>
                <a:spcPts val="805"/>
              </a:spcBef>
              <a:buSzPct val="63043"/>
              <a:buFont typeface="Arial MT"/>
              <a:buChar char="•"/>
              <a:tabLst>
                <a:tab pos="295910" algn="l"/>
              </a:tabLst>
            </a:pPr>
            <a:r>
              <a:rPr sz="2000" b="1" spc="-10" dirty="0">
                <a:latin typeface="Times New Roman"/>
                <a:cs typeface="Calibri"/>
              </a:rPr>
              <a:t>High-</a:t>
            </a:r>
            <a:r>
              <a:rPr sz="2000" b="1" dirty="0">
                <a:latin typeface="Times New Roman"/>
                <a:cs typeface="Calibri"/>
              </a:rPr>
              <a:t>rated</a:t>
            </a:r>
            <a:r>
              <a:rPr sz="2000" b="1" spc="-10" dirty="0">
                <a:latin typeface="Times New Roman"/>
                <a:cs typeface="Calibri"/>
              </a:rPr>
              <a:t> </a:t>
            </a:r>
            <a:r>
              <a:rPr sz="2000" b="1" dirty="0">
                <a:latin typeface="Times New Roman"/>
                <a:cs typeface="Calibri"/>
              </a:rPr>
              <a:t>movies</a:t>
            </a:r>
            <a:r>
              <a:rPr sz="2000" spc="5" dirty="0">
                <a:latin typeface="Times New Roman"/>
                <a:cs typeface="Calibri"/>
              </a:rPr>
              <a:t> </a:t>
            </a:r>
            <a:r>
              <a:rPr sz="2000" spc="-10" dirty="0">
                <a:latin typeface="Times New Roman"/>
                <a:cs typeface="Calibri"/>
              </a:rPr>
              <a:t>appear </a:t>
            </a:r>
            <a:r>
              <a:rPr sz="2000" dirty="0">
                <a:latin typeface="Times New Roman"/>
                <a:cs typeface="Calibri"/>
              </a:rPr>
              <a:t>across</a:t>
            </a:r>
            <a:r>
              <a:rPr sz="2000" spc="-1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all</a:t>
            </a:r>
            <a:r>
              <a:rPr sz="2000" spc="-10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vote</a:t>
            </a:r>
            <a:r>
              <a:rPr sz="2000" spc="-30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count </a:t>
            </a:r>
            <a:r>
              <a:rPr sz="2000" spc="-10" dirty="0">
                <a:latin typeface="Times New Roman"/>
                <a:cs typeface="Calibri"/>
              </a:rPr>
              <a:t>levels.</a:t>
            </a:r>
            <a:endParaRPr sz="2000" dirty="0">
              <a:latin typeface="Times New Roman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21197" y="1685111"/>
            <a:ext cx="4732124" cy="413693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279FF32-B4D4-D2DE-A280-40DF0046184C}"/>
              </a:ext>
            </a:extLst>
          </p:cNvPr>
          <p:cNvSpPr txBox="1"/>
          <p:nvPr/>
        </p:nvSpPr>
        <p:spPr>
          <a:xfrm>
            <a:off x="640041" y="584749"/>
            <a:ext cx="418259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 b="1" dirty="0">
                <a:latin typeface="Times New Roman"/>
                <a:ea typeface="Calibri"/>
                <a:cs typeface="Calibri"/>
              </a:rPr>
              <a:t>Vote Count vs Rating :</a:t>
            </a:r>
            <a:endParaRPr lang="en-US"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2932" y="1268676"/>
            <a:ext cx="3169920" cy="4503605"/>
          </a:xfrm>
          <a:prstGeom prst="rect">
            <a:avLst/>
          </a:prstGeom>
        </p:spPr>
        <p:txBody>
          <a:bodyPr vert="horz" wrap="square" lIns="0" tIns="82550" rIns="0" bIns="0" rtlCol="0" anchor="t">
            <a:spAutoFit/>
          </a:bodyPr>
          <a:lstStyle/>
          <a:p>
            <a:pPr marL="12700">
              <a:lnSpc>
                <a:spcPct val="150000"/>
              </a:lnSpc>
              <a:spcBef>
                <a:spcPts val="650"/>
              </a:spcBef>
            </a:pPr>
            <a:endParaRPr sz="2000" b="1" dirty="0">
              <a:latin typeface="Times New Roman"/>
              <a:cs typeface="Calibri"/>
            </a:endParaRPr>
          </a:p>
          <a:p>
            <a:pPr marL="295910" marR="5080" indent="-283845">
              <a:lnSpc>
                <a:spcPct val="150000"/>
              </a:lnSpc>
              <a:spcBef>
                <a:spcPts val="850"/>
              </a:spcBef>
              <a:buSzPct val="63043"/>
              <a:buFont typeface="Arial MT"/>
              <a:buChar char="•"/>
              <a:tabLst>
                <a:tab pos="295910" algn="l"/>
              </a:tabLst>
            </a:pPr>
            <a:r>
              <a:rPr sz="2000" b="1" dirty="0">
                <a:latin typeface="Times New Roman"/>
                <a:cs typeface="Calibri"/>
              </a:rPr>
              <a:t>No</a:t>
            </a:r>
            <a:r>
              <a:rPr sz="2000" b="1" spc="-15" dirty="0">
                <a:latin typeface="Times New Roman"/>
                <a:cs typeface="Calibri"/>
              </a:rPr>
              <a:t> </a:t>
            </a:r>
            <a:r>
              <a:rPr sz="2000" b="1" dirty="0">
                <a:latin typeface="Times New Roman"/>
                <a:cs typeface="Calibri"/>
              </a:rPr>
              <a:t>strong </a:t>
            </a:r>
            <a:r>
              <a:rPr sz="2000" b="1" spc="-10" dirty="0">
                <a:latin typeface="Times New Roman"/>
                <a:cs typeface="Calibri"/>
              </a:rPr>
              <a:t>relationship</a:t>
            </a:r>
            <a:r>
              <a:rPr sz="2000" spc="-10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between</a:t>
            </a:r>
            <a:r>
              <a:rPr sz="2000" spc="-4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popularity</a:t>
            </a:r>
            <a:r>
              <a:rPr sz="2000" spc="-15" dirty="0">
                <a:latin typeface="Times New Roman"/>
                <a:cs typeface="Calibri"/>
              </a:rPr>
              <a:t> </a:t>
            </a:r>
            <a:r>
              <a:rPr sz="2000" spc="-25" dirty="0">
                <a:latin typeface="Times New Roman"/>
                <a:cs typeface="Calibri"/>
              </a:rPr>
              <a:t>and </a:t>
            </a:r>
            <a:r>
              <a:rPr sz="2000" spc="-10" dirty="0">
                <a:latin typeface="Times New Roman"/>
                <a:cs typeface="Calibri"/>
              </a:rPr>
              <a:t>rating.</a:t>
            </a:r>
            <a:endParaRPr sz="2000" dirty="0">
              <a:latin typeface="Times New Roman"/>
              <a:cs typeface="Calibri"/>
            </a:endParaRPr>
          </a:p>
          <a:p>
            <a:pPr marL="295910" marR="276860" indent="-283845">
              <a:lnSpc>
                <a:spcPct val="150000"/>
              </a:lnSpc>
              <a:spcBef>
                <a:spcPts val="815"/>
              </a:spcBef>
              <a:buSzPct val="63043"/>
              <a:buFont typeface="Arial MT"/>
              <a:buChar char="•"/>
              <a:tabLst>
                <a:tab pos="295910" algn="l"/>
              </a:tabLst>
            </a:pPr>
            <a:r>
              <a:rPr sz="2000" dirty="0">
                <a:latin typeface="Times New Roman"/>
                <a:cs typeface="Calibri"/>
              </a:rPr>
              <a:t>Many</a:t>
            </a:r>
            <a:r>
              <a:rPr sz="2000" spc="-10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popular</a:t>
            </a:r>
            <a:r>
              <a:rPr sz="2000" spc="-25" dirty="0">
                <a:latin typeface="Times New Roman"/>
                <a:cs typeface="Calibri"/>
              </a:rPr>
              <a:t> </a:t>
            </a:r>
            <a:r>
              <a:rPr sz="2000" spc="-10" dirty="0">
                <a:latin typeface="Times New Roman"/>
                <a:cs typeface="Calibri"/>
              </a:rPr>
              <a:t>movies </a:t>
            </a:r>
            <a:r>
              <a:rPr sz="2000" dirty="0">
                <a:latin typeface="Times New Roman"/>
                <a:cs typeface="Calibri"/>
              </a:rPr>
              <a:t>have</a:t>
            </a:r>
            <a:r>
              <a:rPr sz="2000" spc="-1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only </a:t>
            </a:r>
            <a:r>
              <a:rPr sz="2000" b="1" spc="-10" dirty="0">
                <a:latin typeface="Times New Roman"/>
                <a:cs typeface="Calibri"/>
              </a:rPr>
              <a:t>moderate ratings.</a:t>
            </a:r>
            <a:endParaRPr sz="2000" b="1">
              <a:latin typeface="Times New Roman"/>
              <a:cs typeface="Calibri"/>
            </a:endParaRPr>
          </a:p>
          <a:p>
            <a:pPr marL="295910" marR="45085" indent="-283845">
              <a:lnSpc>
                <a:spcPct val="150000"/>
              </a:lnSpc>
              <a:spcBef>
                <a:spcPts val="805"/>
              </a:spcBef>
              <a:buSzPct val="63043"/>
              <a:buFont typeface="Arial MT"/>
              <a:buChar char="•"/>
              <a:tabLst>
                <a:tab pos="295910" algn="l"/>
              </a:tabLst>
            </a:pPr>
            <a:r>
              <a:rPr sz="2000" b="1" dirty="0">
                <a:latin typeface="Times New Roman"/>
                <a:cs typeface="Calibri"/>
              </a:rPr>
              <a:t>Highly</a:t>
            </a:r>
            <a:r>
              <a:rPr sz="2000" b="1" spc="-15" dirty="0">
                <a:latin typeface="Times New Roman"/>
                <a:cs typeface="Calibri"/>
              </a:rPr>
              <a:t> </a:t>
            </a:r>
            <a:r>
              <a:rPr sz="2000" b="1" dirty="0">
                <a:latin typeface="Times New Roman"/>
                <a:cs typeface="Calibri"/>
              </a:rPr>
              <a:t>rated</a:t>
            </a:r>
            <a:r>
              <a:rPr sz="2000" spc="-20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movies</a:t>
            </a:r>
            <a:r>
              <a:rPr sz="2000" spc="-30" dirty="0">
                <a:latin typeface="Times New Roman"/>
                <a:cs typeface="Calibri"/>
              </a:rPr>
              <a:t> </a:t>
            </a:r>
            <a:r>
              <a:rPr sz="2000" spc="-25" dirty="0">
                <a:latin typeface="Times New Roman"/>
                <a:cs typeface="Calibri"/>
              </a:rPr>
              <a:t>are </a:t>
            </a:r>
            <a:r>
              <a:rPr sz="2000" dirty="0">
                <a:latin typeface="Times New Roman"/>
                <a:cs typeface="Calibri"/>
              </a:rPr>
              <a:t>not</a:t>
            </a:r>
            <a:r>
              <a:rPr sz="2000" spc="-10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always </a:t>
            </a:r>
            <a:r>
              <a:rPr sz="2000" spc="-10" dirty="0">
                <a:latin typeface="Times New Roman"/>
                <a:cs typeface="Calibri"/>
              </a:rPr>
              <a:t>widely popular.</a:t>
            </a:r>
            <a:endParaRPr sz="2000" dirty="0">
              <a:latin typeface="Times New Roman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48555" y="1437132"/>
            <a:ext cx="5596127" cy="458957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7A5E147-7C1B-D056-CF69-FB2F14693A80}"/>
              </a:ext>
            </a:extLst>
          </p:cNvPr>
          <p:cNvSpPr txBox="1"/>
          <p:nvPr/>
        </p:nvSpPr>
        <p:spPr>
          <a:xfrm>
            <a:off x="986240" y="802529"/>
            <a:ext cx="372622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 b="1" dirty="0">
                <a:latin typeface="Times New Roman"/>
                <a:ea typeface="Calibri"/>
                <a:cs typeface="Calibri"/>
              </a:rPr>
              <a:t>Popularity vs Rating:</a:t>
            </a:r>
            <a:endParaRPr lang="en-US"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95CDF-4504-6815-77A5-5D02EC2AA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013" y="702687"/>
            <a:ext cx="8521005" cy="984885"/>
          </a:xfrm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GB" sz="3200" b="1" dirty="0"/>
              <a:t>Multivariate Analysis</a:t>
            </a:r>
            <a:endParaRPr lang="en-US" sz="3200" b="1"/>
          </a:p>
          <a:p>
            <a:endParaRPr lang="en-GB" sz="3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8854B0-0EDE-4D69-EAFE-9EFAB81C46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7655" y="1377992"/>
            <a:ext cx="8362167" cy="5022978"/>
          </a:xfrm>
        </p:spPr>
        <p:txBody>
          <a:bodyPr wrap="square" lIns="0" tIns="0" rIns="0" bIns="0" anchor="t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/>
              <a:buChar char="•"/>
            </a:pPr>
            <a:r>
              <a:rPr lang="en-GB" sz="2000" b="1" dirty="0">
                <a:latin typeface="Times New Roman"/>
                <a:ea typeface="Calibri"/>
              </a:rPr>
              <a:t>Popularity</a:t>
            </a:r>
            <a:r>
              <a:rPr lang="en-GB" sz="2000" dirty="0">
                <a:latin typeface="Times New Roman"/>
                <a:ea typeface="Calibri"/>
              </a:rPr>
              <a:t> is highly correlated with </a:t>
            </a:r>
            <a:r>
              <a:rPr lang="en-GB" sz="2000" b="1" dirty="0">
                <a:latin typeface="Times New Roman"/>
                <a:ea typeface="Calibri"/>
              </a:rPr>
              <a:t>vote count</a:t>
            </a:r>
            <a:r>
              <a:rPr lang="en-GB" sz="2000" dirty="0">
                <a:latin typeface="Times New Roman"/>
                <a:ea typeface="Calibri"/>
              </a:rPr>
              <a:t>, confirming audience interaction drives visibility.</a:t>
            </a:r>
            <a:endParaRPr lang="en-US" sz="2000">
              <a:latin typeface="Times New Roman"/>
            </a:endParaRPr>
          </a:p>
          <a:p>
            <a:pPr marL="285750" indent="-285750" algn="l">
              <a:lnSpc>
                <a:spcPct val="150000"/>
              </a:lnSpc>
              <a:buFont typeface="Arial"/>
              <a:buChar char="•"/>
            </a:pPr>
            <a:r>
              <a:rPr lang="en-GB" sz="2000" b="1" dirty="0">
                <a:latin typeface="Times New Roman"/>
                <a:ea typeface="Calibri"/>
              </a:rPr>
              <a:t>Ratings</a:t>
            </a:r>
            <a:r>
              <a:rPr lang="en-GB" sz="2000" dirty="0">
                <a:latin typeface="Times New Roman"/>
                <a:ea typeface="Calibri"/>
              </a:rPr>
              <a:t> remain independent, showing that critical quality doesn’t depend on votes or popularity.</a:t>
            </a:r>
            <a:endParaRPr lang="en-GB" sz="2000">
              <a:latin typeface="Times New Roman"/>
            </a:endParaRPr>
          </a:p>
          <a:p>
            <a:pPr marL="285750" indent="-285750" algn="l">
              <a:lnSpc>
                <a:spcPct val="150000"/>
              </a:lnSpc>
              <a:buFont typeface="Arial"/>
              <a:buChar char="•"/>
            </a:pPr>
            <a:r>
              <a:rPr lang="en-GB" sz="2000" b="1" dirty="0">
                <a:latin typeface="Times New Roman"/>
                <a:ea typeface="Calibri"/>
              </a:rPr>
              <a:t>Drama and Crime</a:t>
            </a:r>
            <a:r>
              <a:rPr lang="en-GB" sz="2000" dirty="0">
                <a:latin typeface="Times New Roman"/>
                <a:ea typeface="Calibri"/>
              </a:rPr>
              <a:t> genres achieve high ratings but moderate popularity, while </a:t>
            </a:r>
            <a:r>
              <a:rPr lang="en-GB" sz="2000" b="1" dirty="0">
                <a:latin typeface="Times New Roman"/>
                <a:ea typeface="Calibri"/>
              </a:rPr>
              <a:t>Action and Adventure</a:t>
            </a:r>
            <a:r>
              <a:rPr lang="en-GB" sz="2000" dirty="0">
                <a:latin typeface="Times New Roman"/>
                <a:ea typeface="Calibri"/>
              </a:rPr>
              <a:t> lead in popularity.</a:t>
            </a:r>
            <a:endParaRPr lang="en-GB" sz="2000">
              <a:latin typeface="Times New Roman"/>
            </a:endParaRPr>
          </a:p>
          <a:p>
            <a:pPr marL="285750" indent="-285750" algn="l">
              <a:lnSpc>
                <a:spcPct val="150000"/>
              </a:lnSpc>
              <a:buFont typeface="Arial"/>
              <a:buChar char="•"/>
            </a:pPr>
            <a:r>
              <a:rPr lang="en-GB" sz="2000" b="1" dirty="0">
                <a:latin typeface="Times New Roman"/>
                <a:ea typeface="Calibri"/>
              </a:rPr>
              <a:t>Popularity has increased</a:t>
            </a:r>
            <a:r>
              <a:rPr lang="en-GB" sz="2000" dirty="0">
                <a:latin typeface="Times New Roman"/>
                <a:ea typeface="Calibri"/>
              </a:rPr>
              <a:t> in recent years, while </a:t>
            </a:r>
            <a:r>
              <a:rPr lang="en-GB" sz="2000" b="1" dirty="0">
                <a:latin typeface="Times New Roman"/>
                <a:ea typeface="Calibri"/>
              </a:rPr>
              <a:t>ratings remain stable</a:t>
            </a:r>
            <a:r>
              <a:rPr lang="en-GB" sz="2000" dirty="0">
                <a:latin typeface="Times New Roman"/>
                <a:ea typeface="Calibri"/>
              </a:rPr>
              <a:t>, showing streaming-era visibility growth.</a:t>
            </a:r>
            <a:endParaRPr lang="en-GB" sz="2000">
              <a:latin typeface="Times New Roman"/>
            </a:endParaRPr>
          </a:p>
          <a:p>
            <a:pPr marL="285750" indent="-285750" algn="l">
              <a:lnSpc>
                <a:spcPct val="150000"/>
              </a:lnSpc>
              <a:buFont typeface="Arial"/>
              <a:buChar char="•"/>
            </a:pPr>
            <a:r>
              <a:rPr lang="en-GB" sz="2000" dirty="0">
                <a:latin typeface="Times New Roman"/>
                <a:ea typeface="Calibri"/>
              </a:rPr>
              <a:t>Overall, </a:t>
            </a:r>
            <a:r>
              <a:rPr lang="en-GB" sz="2000" b="1" dirty="0">
                <a:latin typeface="Times New Roman"/>
                <a:ea typeface="Calibri"/>
              </a:rPr>
              <a:t>genre, language, and audience engagemen</a:t>
            </a:r>
            <a:r>
              <a:rPr lang="en-GB" sz="2000" dirty="0">
                <a:latin typeface="Times New Roman"/>
                <a:ea typeface="Calibri"/>
              </a:rPr>
              <a:t>t jointly define movie success patterns.</a:t>
            </a:r>
            <a:endParaRPr lang="en-GB" sz="2000" dirty="0">
              <a:latin typeface="Times New Roman"/>
            </a:endParaRPr>
          </a:p>
          <a:p>
            <a:pPr>
              <a:lnSpc>
                <a:spcPct val="150000"/>
              </a:lnSpc>
            </a:pPr>
            <a:endParaRPr lang="en-GB" sz="2000" dirty="0">
              <a:latin typeface="Times New Roman"/>
              <a:ea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433161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6999" y="1000612"/>
            <a:ext cx="2548255" cy="4900701"/>
          </a:xfrm>
          <a:prstGeom prst="rect">
            <a:avLst/>
          </a:prstGeom>
        </p:spPr>
        <p:txBody>
          <a:bodyPr vert="horz" wrap="square" lIns="0" tIns="78105" rIns="0" bIns="0" rtlCol="0" anchor="t">
            <a:spAutoFit/>
          </a:bodyPr>
          <a:lstStyle/>
          <a:p>
            <a:pPr marL="295910" marR="5080" indent="-283845">
              <a:spcBef>
                <a:spcPts val="615"/>
              </a:spcBef>
              <a:buSzPct val="67441"/>
              <a:buFont typeface="Arial MT"/>
              <a:buChar char="•"/>
              <a:tabLst>
                <a:tab pos="295910" algn="l"/>
              </a:tabLst>
            </a:pPr>
            <a:r>
              <a:rPr sz="2000" dirty="0">
                <a:latin typeface="Times New Roman"/>
                <a:cs typeface="Calibri"/>
              </a:rPr>
              <a:t>The</a:t>
            </a:r>
            <a:r>
              <a:rPr sz="2000" spc="-50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heatmap</a:t>
            </a:r>
            <a:r>
              <a:rPr sz="2000" spc="-40" dirty="0">
                <a:latin typeface="Times New Roman"/>
                <a:cs typeface="Calibri"/>
              </a:rPr>
              <a:t> </a:t>
            </a:r>
            <a:r>
              <a:rPr sz="2000" spc="-10" dirty="0">
                <a:latin typeface="Times New Roman"/>
                <a:cs typeface="Calibri"/>
              </a:rPr>
              <a:t>shows </a:t>
            </a:r>
            <a:r>
              <a:rPr sz="2000" dirty="0">
                <a:latin typeface="Times New Roman"/>
                <a:cs typeface="Calibri"/>
              </a:rPr>
              <a:t>the</a:t>
            </a:r>
            <a:r>
              <a:rPr sz="2000" spc="-40" dirty="0">
                <a:latin typeface="Times New Roman"/>
                <a:cs typeface="Calibri"/>
              </a:rPr>
              <a:t> </a:t>
            </a:r>
            <a:r>
              <a:rPr sz="2000" spc="-10" dirty="0">
                <a:latin typeface="Times New Roman"/>
                <a:cs typeface="Calibri"/>
              </a:rPr>
              <a:t>correlation </a:t>
            </a:r>
            <a:r>
              <a:rPr sz="2000" dirty="0">
                <a:latin typeface="Times New Roman"/>
                <a:cs typeface="Calibri"/>
              </a:rPr>
              <a:t>between</a:t>
            </a:r>
            <a:r>
              <a:rPr sz="2000" spc="-110" dirty="0">
                <a:latin typeface="Times New Roman"/>
                <a:cs typeface="Calibri"/>
              </a:rPr>
              <a:t> </a:t>
            </a:r>
            <a:r>
              <a:rPr sz="2000" b="1" spc="-10" dirty="0">
                <a:latin typeface="Times New Roman"/>
                <a:cs typeface="Calibri"/>
              </a:rPr>
              <a:t>rating, </a:t>
            </a:r>
            <a:r>
              <a:rPr sz="2000" b="1" dirty="0">
                <a:latin typeface="Times New Roman"/>
                <a:cs typeface="Calibri"/>
              </a:rPr>
              <a:t>popularity,</a:t>
            </a:r>
            <a:r>
              <a:rPr sz="2000" b="1" spc="-35" dirty="0">
                <a:latin typeface="Times New Roman"/>
                <a:cs typeface="Calibri"/>
              </a:rPr>
              <a:t> </a:t>
            </a:r>
            <a:r>
              <a:rPr sz="2000" b="1" dirty="0">
                <a:latin typeface="Times New Roman"/>
                <a:cs typeface="Calibri"/>
              </a:rPr>
              <a:t>and</a:t>
            </a:r>
            <a:r>
              <a:rPr sz="2000" b="1" spc="-65" dirty="0">
                <a:latin typeface="Times New Roman"/>
                <a:cs typeface="Calibri"/>
              </a:rPr>
              <a:t> </a:t>
            </a:r>
            <a:r>
              <a:rPr sz="2000" b="1" spc="-20" dirty="0">
                <a:latin typeface="Times New Roman"/>
                <a:cs typeface="Calibri"/>
              </a:rPr>
              <a:t>vote </a:t>
            </a:r>
            <a:r>
              <a:rPr sz="2000" b="1" spc="-10" dirty="0">
                <a:latin typeface="Times New Roman"/>
                <a:cs typeface="Calibri"/>
              </a:rPr>
              <a:t>count.</a:t>
            </a:r>
            <a:endParaRPr sz="2000" b="1" dirty="0">
              <a:latin typeface="Times New Roman"/>
              <a:cs typeface="Calibri"/>
            </a:endParaRPr>
          </a:p>
          <a:p>
            <a:pPr marL="295910" marR="21590" indent="-283845">
              <a:spcBef>
                <a:spcPts val="819"/>
              </a:spcBef>
              <a:buSzPct val="67441"/>
              <a:buFont typeface="Arial MT"/>
              <a:buChar char="•"/>
              <a:tabLst>
                <a:tab pos="295910" algn="l"/>
              </a:tabLst>
            </a:pPr>
            <a:r>
              <a:rPr sz="2000" dirty="0">
                <a:latin typeface="Times New Roman"/>
                <a:cs typeface="Calibri"/>
              </a:rPr>
              <a:t>Popularity</a:t>
            </a:r>
            <a:r>
              <a:rPr sz="2000" spc="-3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is</a:t>
            </a:r>
            <a:r>
              <a:rPr sz="2000" spc="-30" dirty="0">
                <a:latin typeface="Times New Roman"/>
                <a:cs typeface="Calibri"/>
              </a:rPr>
              <a:t> </a:t>
            </a:r>
            <a:r>
              <a:rPr sz="2000" spc="-10" dirty="0">
                <a:latin typeface="Times New Roman"/>
                <a:cs typeface="Calibri"/>
              </a:rPr>
              <a:t>closely </a:t>
            </a:r>
            <a:r>
              <a:rPr sz="2000" dirty="0">
                <a:latin typeface="Times New Roman"/>
                <a:cs typeface="Calibri"/>
              </a:rPr>
              <a:t>linked</a:t>
            </a:r>
            <a:r>
              <a:rPr sz="2000" spc="-3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to</a:t>
            </a:r>
            <a:r>
              <a:rPr sz="2000" spc="-40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vote</a:t>
            </a:r>
            <a:r>
              <a:rPr sz="2000" spc="-20" dirty="0">
                <a:latin typeface="Times New Roman"/>
                <a:cs typeface="Calibri"/>
              </a:rPr>
              <a:t> count </a:t>
            </a:r>
            <a:r>
              <a:rPr sz="2000" dirty="0">
                <a:latin typeface="Times New Roman"/>
                <a:cs typeface="Calibri"/>
              </a:rPr>
              <a:t>but</a:t>
            </a:r>
            <a:r>
              <a:rPr sz="2000" spc="-30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does</a:t>
            </a:r>
            <a:r>
              <a:rPr sz="2000" spc="-40" dirty="0">
                <a:latin typeface="Times New Roman"/>
                <a:cs typeface="Calibri"/>
              </a:rPr>
              <a:t> </a:t>
            </a:r>
            <a:r>
              <a:rPr sz="2000" spc="-25" dirty="0">
                <a:latin typeface="Times New Roman"/>
                <a:cs typeface="Calibri"/>
              </a:rPr>
              <a:t>not </a:t>
            </a:r>
            <a:r>
              <a:rPr sz="2000" dirty="0">
                <a:latin typeface="Times New Roman"/>
                <a:cs typeface="Calibri"/>
              </a:rPr>
              <a:t>guarantee</a:t>
            </a:r>
            <a:r>
              <a:rPr sz="2000" spc="-85" dirty="0">
                <a:latin typeface="Times New Roman"/>
                <a:cs typeface="Calibri"/>
              </a:rPr>
              <a:t> </a:t>
            </a:r>
            <a:r>
              <a:rPr sz="2000" spc="-10" dirty="0">
                <a:latin typeface="Times New Roman"/>
                <a:cs typeface="Calibri"/>
              </a:rPr>
              <a:t>higher ratings.</a:t>
            </a:r>
            <a:endParaRPr sz="2000" dirty="0">
              <a:latin typeface="Times New Roman"/>
              <a:cs typeface="Calibri"/>
            </a:endParaRPr>
          </a:p>
          <a:p>
            <a:pPr marL="295910" marR="147320" indent="-283845">
              <a:spcBef>
                <a:spcPts val="819"/>
              </a:spcBef>
              <a:buSzPct val="67441"/>
              <a:buFont typeface="Arial MT"/>
              <a:buChar char="•"/>
              <a:tabLst>
                <a:tab pos="295910" algn="l"/>
              </a:tabLst>
            </a:pPr>
            <a:r>
              <a:rPr sz="2000" dirty="0">
                <a:latin typeface="Times New Roman"/>
                <a:cs typeface="Calibri"/>
              </a:rPr>
              <a:t>This</a:t>
            </a:r>
            <a:r>
              <a:rPr sz="2000" spc="-50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highlights</a:t>
            </a:r>
            <a:r>
              <a:rPr sz="2000" spc="-25" dirty="0">
                <a:latin typeface="Times New Roman"/>
                <a:cs typeface="Calibri"/>
              </a:rPr>
              <a:t> </a:t>
            </a:r>
            <a:r>
              <a:rPr sz="2000" spc="-20" dirty="0">
                <a:latin typeface="Times New Roman"/>
                <a:cs typeface="Calibri"/>
              </a:rPr>
              <a:t>that </a:t>
            </a:r>
            <a:r>
              <a:rPr sz="2000" spc="-10" dirty="0">
                <a:latin typeface="Times New Roman"/>
                <a:cs typeface="Calibri"/>
              </a:rPr>
              <a:t>audience </a:t>
            </a:r>
            <a:r>
              <a:rPr sz="2000" dirty="0">
                <a:latin typeface="Times New Roman"/>
                <a:cs typeface="Calibri"/>
              </a:rPr>
              <a:t>engagement</a:t>
            </a:r>
            <a:r>
              <a:rPr sz="2000" spc="-114" dirty="0">
                <a:latin typeface="Times New Roman"/>
                <a:cs typeface="Calibri"/>
              </a:rPr>
              <a:t> </a:t>
            </a:r>
            <a:r>
              <a:rPr sz="2000" spc="-25" dirty="0">
                <a:latin typeface="Times New Roman"/>
                <a:cs typeface="Calibri"/>
              </a:rPr>
              <a:t>and </a:t>
            </a:r>
            <a:r>
              <a:rPr sz="2000" dirty="0">
                <a:latin typeface="Times New Roman"/>
                <a:cs typeface="Calibri"/>
              </a:rPr>
              <a:t>movie</a:t>
            </a:r>
            <a:r>
              <a:rPr sz="2000" spc="-4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quality</a:t>
            </a:r>
            <a:r>
              <a:rPr sz="2000" spc="-30" dirty="0">
                <a:latin typeface="Times New Roman"/>
                <a:cs typeface="Calibri"/>
              </a:rPr>
              <a:t> </a:t>
            </a:r>
            <a:r>
              <a:rPr sz="2000" spc="-25" dirty="0">
                <a:latin typeface="Times New Roman"/>
                <a:cs typeface="Calibri"/>
              </a:rPr>
              <a:t>are </a:t>
            </a:r>
            <a:r>
              <a:rPr sz="2000" dirty="0">
                <a:latin typeface="Times New Roman"/>
                <a:cs typeface="Calibri"/>
              </a:rPr>
              <a:t>separate</a:t>
            </a:r>
            <a:r>
              <a:rPr sz="2000" spc="-75" dirty="0">
                <a:latin typeface="Times New Roman"/>
                <a:cs typeface="Calibri"/>
              </a:rPr>
              <a:t> </a:t>
            </a:r>
            <a:r>
              <a:rPr sz="2000" spc="-10" dirty="0">
                <a:latin typeface="Times New Roman"/>
                <a:cs typeface="Calibri"/>
              </a:rPr>
              <a:t>factors.</a:t>
            </a:r>
            <a:endParaRPr sz="2000" dirty="0">
              <a:latin typeface="Times New Roman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24888" y="1247816"/>
            <a:ext cx="6109716" cy="46508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6339" y="424273"/>
            <a:ext cx="5057140" cy="505267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/>
              <a:t>Key</a:t>
            </a:r>
            <a:r>
              <a:rPr sz="3200" b="1" spc="-30" dirty="0"/>
              <a:t> </a:t>
            </a:r>
            <a:r>
              <a:rPr sz="3200" b="1" dirty="0"/>
              <a:t>Business</a:t>
            </a:r>
            <a:r>
              <a:rPr sz="3200" b="1" spc="-30" dirty="0"/>
              <a:t> </a:t>
            </a:r>
            <a:r>
              <a:rPr sz="3200" b="1" spc="-10" dirty="0"/>
              <a:t>Insights</a:t>
            </a:r>
            <a:endParaRPr lang="en-US" sz="3200" b="1"/>
          </a:p>
        </p:txBody>
      </p:sp>
      <p:sp>
        <p:nvSpPr>
          <p:cNvPr id="3" name="object 3"/>
          <p:cNvSpPr txBox="1"/>
          <p:nvPr/>
        </p:nvSpPr>
        <p:spPr>
          <a:xfrm>
            <a:off x="575104" y="1100662"/>
            <a:ext cx="7997825" cy="4782078"/>
          </a:xfrm>
          <a:prstGeom prst="rect">
            <a:avLst/>
          </a:prstGeom>
        </p:spPr>
        <p:txBody>
          <a:bodyPr vert="horz" wrap="square" lIns="0" tIns="113030" rIns="0" bIns="0" rtlCol="0" anchor="t">
            <a:spAutoFit/>
          </a:bodyPr>
          <a:lstStyle/>
          <a:p>
            <a:pPr marL="12700">
              <a:spcBef>
                <a:spcPts val="890"/>
              </a:spcBef>
            </a:pPr>
            <a:r>
              <a:rPr sz="2000" b="1" dirty="0">
                <a:latin typeface="Times New Roman"/>
                <a:cs typeface="Calibri"/>
              </a:rPr>
              <a:t>Ratings</a:t>
            </a:r>
            <a:r>
              <a:rPr sz="2000" b="1" spc="5" dirty="0">
                <a:latin typeface="Times New Roman"/>
                <a:cs typeface="Calibri"/>
              </a:rPr>
              <a:t> </a:t>
            </a:r>
            <a:r>
              <a:rPr sz="2000" b="1" dirty="0">
                <a:latin typeface="Times New Roman"/>
                <a:cs typeface="Calibri"/>
              </a:rPr>
              <a:t>and</a:t>
            </a:r>
            <a:r>
              <a:rPr sz="2000" b="1" spc="10" dirty="0">
                <a:latin typeface="Times New Roman"/>
                <a:cs typeface="Calibri"/>
              </a:rPr>
              <a:t> </a:t>
            </a:r>
            <a:r>
              <a:rPr sz="2000" b="1" dirty="0">
                <a:latin typeface="Times New Roman"/>
                <a:cs typeface="Calibri"/>
              </a:rPr>
              <a:t>popularity</a:t>
            </a:r>
            <a:r>
              <a:rPr sz="2000" b="1" spc="30" dirty="0">
                <a:latin typeface="Times New Roman"/>
                <a:cs typeface="Calibri"/>
              </a:rPr>
              <a:t> </a:t>
            </a:r>
            <a:r>
              <a:rPr sz="2000" b="1" dirty="0">
                <a:latin typeface="Times New Roman"/>
                <a:cs typeface="Calibri"/>
              </a:rPr>
              <a:t>do</a:t>
            </a:r>
            <a:r>
              <a:rPr sz="2000" b="1" spc="5" dirty="0">
                <a:latin typeface="Times New Roman"/>
                <a:cs typeface="Calibri"/>
              </a:rPr>
              <a:t> </a:t>
            </a:r>
            <a:r>
              <a:rPr sz="2000" b="1" dirty="0">
                <a:latin typeface="Times New Roman"/>
                <a:cs typeface="Calibri"/>
              </a:rPr>
              <a:t>not</a:t>
            </a:r>
            <a:r>
              <a:rPr sz="2000" b="1" spc="25" dirty="0">
                <a:latin typeface="Times New Roman"/>
                <a:cs typeface="Calibri"/>
              </a:rPr>
              <a:t> </a:t>
            </a:r>
            <a:r>
              <a:rPr sz="2000" b="1" dirty="0">
                <a:latin typeface="Times New Roman"/>
                <a:cs typeface="Calibri"/>
              </a:rPr>
              <a:t>correlate</a:t>
            </a:r>
            <a:r>
              <a:rPr sz="2000" b="1" spc="15" dirty="0">
                <a:latin typeface="Times New Roman"/>
                <a:cs typeface="Calibri"/>
              </a:rPr>
              <a:t> </a:t>
            </a:r>
            <a:r>
              <a:rPr sz="2000" b="1" spc="-50" dirty="0">
                <a:latin typeface="Times New Roman"/>
                <a:cs typeface="Calibri"/>
              </a:rPr>
              <a:t>:</a:t>
            </a:r>
            <a:endParaRPr sz="2000" dirty="0">
              <a:latin typeface="Times New Roman"/>
              <a:cs typeface="Calibri"/>
            </a:endParaRPr>
          </a:p>
          <a:p>
            <a:pPr marL="391795" indent="-379095">
              <a:spcBef>
                <a:spcPts val="1405"/>
              </a:spcBef>
              <a:buSzPct val="125806"/>
              <a:buFont typeface="Arial MT"/>
              <a:buChar char="•"/>
              <a:tabLst>
                <a:tab pos="391795" algn="l"/>
              </a:tabLst>
            </a:pPr>
            <a:r>
              <a:rPr sz="2000" dirty="0">
                <a:latin typeface="Times New Roman"/>
                <a:cs typeface="Calibri"/>
              </a:rPr>
              <a:t>quality</a:t>
            </a:r>
            <a:r>
              <a:rPr sz="2000" spc="2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and</a:t>
            </a:r>
            <a:r>
              <a:rPr sz="2000" spc="2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audience</a:t>
            </a:r>
            <a:r>
              <a:rPr sz="2000" spc="3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reach</a:t>
            </a:r>
            <a:r>
              <a:rPr sz="2000" spc="4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are</a:t>
            </a:r>
            <a:r>
              <a:rPr sz="2000" spc="3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separate</a:t>
            </a:r>
            <a:r>
              <a:rPr sz="2000" spc="15" dirty="0">
                <a:latin typeface="Times New Roman"/>
                <a:cs typeface="Calibri"/>
              </a:rPr>
              <a:t> </a:t>
            </a:r>
            <a:r>
              <a:rPr sz="2000" spc="-10" dirty="0">
                <a:latin typeface="Times New Roman"/>
                <a:cs typeface="Calibri"/>
              </a:rPr>
              <a:t>KPIs.</a:t>
            </a:r>
            <a:endParaRPr sz="2000" dirty="0">
              <a:latin typeface="Times New Roman"/>
              <a:cs typeface="Calibri"/>
            </a:endParaRPr>
          </a:p>
          <a:p>
            <a:pPr marL="347980" indent="-335280">
              <a:spcBef>
                <a:spcPts val="1415"/>
              </a:spcBef>
              <a:buSzPct val="125806"/>
              <a:buFont typeface="Arial MT"/>
              <a:buChar char="•"/>
              <a:tabLst>
                <a:tab pos="347980" algn="l"/>
              </a:tabLst>
            </a:pPr>
            <a:r>
              <a:rPr sz="2000" dirty="0">
                <a:latin typeface="Times New Roman"/>
                <a:cs typeface="Calibri"/>
              </a:rPr>
              <a:t>Drama</a:t>
            </a:r>
            <a:r>
              <a:rPr sz="2000" spc="2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delivers</a:t>
            </a:r>
            <a:r>
              <a:rPr sz="2000" spc="3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highest-quality</a:t>
            </a:r>
            <a:r>
              <a:rPr sz="2000" spc="40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films,</a:t>
            </a:r>
            <a:r>
              <a:rPr sz="2000" spc="2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ideal</a:t>
            </a:r>
            <a:r>
              <a:rPr sz="2000" spc="40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for</a:t>
            </a:r>
            <a:r>
              <a:rPr sz="2000" spc="30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premium</a:t>
            </a:r>
            <a:r>
              <a:rPr sz="2000" spc="2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and</a:t>
            </a:r>
            <a:r>
              <a:rPr sz="2000" spc="30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curated</a:t>
            </a:r>
            <a:r>
              <a:rPr sz="2000" spc="30" dirty="0">
                <a:latin typeface="Times New Roman"/>
                <a:cs typeface="Calibri"/>
              </a:rPr>
              <a:t> </a:t>
            </a:r>
            <a:r>
              <a:rPr sz="2000" spc="-10" dirty="0">
                <a:latin typeface="Times New Roman"/>
                <a:cs typeface="Calibri"/>
              </a:rPr>
              <a:t>collections.</a:t>
            </a:r>
            <a:endParaRPr sz="2000" dirty="0">
              <a:latin typeface="Times New Roman"/>
              <a:cs typeface="Calibri"/>
            </a:endParaRPr>
          </a:p>
          <a:p>
            <a:pPr marL="347980" indent="-335280">
              <a:spcBef>
                <a:spcPts val="1405"/>
              </a:spcBef>
              <a:buSzPct val="125806"/>
              <a:buFont typeface="Arial MT"/>
              <a:buChar char="•"/>
              <a:tabLst>
                <a:tab pos="347980" algn="l"/>
              </a:tabLst>
            </a:pPr>
            <a:r>
              <a:rPr sz="2000" dirty="0">
                <a:latin typeface="Times New Roman"/>
                <a:cs typeface="Calibri"/>
              </a:rPr>
              <a:t>Action/Sci-Fi</a:t>
            </a:r>
            <a:r>
              <a:rPr sz="2000" spc="50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dominate</a:t>
            </a:r>
            <a:r>
              <a:rPr sz="2000" spc="1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popularity,</a:t>
            </a:r>
            <a:r>
              <a:rPr sz="2000" spc="50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ideal</a:t>
            </a:r>
            <a:r>
              <a:rPr sz="2000" spc="5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for</a:t>
            </a:r>
            <a:r>
              <a:rPr sz="2000" spc="50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marketing,</a:t>
            </a:r>
            <a:r>
              <a:rPr sz="2000" spc="10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traffic</a:t>
            </a:r>
            <a:r>
              <a:rPr sz="2000" spc="30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growth,</a:t>
            </a:r>
            <a:r>
              <a:rPr sz="2000" spc="3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and</a:t>
            </a:r>
            <a:r>
              <a:rPr sz="2000" spc="40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trending</a:t>
            </a:r>
            <a:r>
              <a:rPr sz="2000" spc="45" dirty="0">
                <a:latin typeface="Times New Roman"/>
                <a:cs typeface="Calibri"/>
              </a:rPr>
              <a:t> </a:t>
            </a:r>
            <a:r>
              <a:rPr sz="2000" spc="-10" dirty="0">
                <a:latin typeface="Times New Roman"/>
                <a:cs typeface="Calibri"/>
              </a:rPr>
              <a:t>sections.</a:t>
            </a:r>
            <a:endParaRPr sz="2000" dirty="0">
              <a:latin typeface="Times New Roman"/>
              <a:cs typeface="Calibri"/>
            </a:endParaRPr>
          </a:p>
          <a:p>
            <a:pPr marL="12700">
              <a:spcBef>
                <a:spcPts val="1495"/>
              </a:spcBef>
            </a:pPr>
            <a:r>
              <a:rPr sz="2000" b="1" dirty="0">
                <a:latin typeface="Times New Roman"/>
                <a:cs typeface="Calibri"/>
              </a:rPr>
              <a:t>Popularity</a:t>
            </a:r>
            <a:r>
              <a:rPr sz="2000" b="1" spc="10" dirty="0">
                <a:latin typeface="Times New Roman"/>
                <a:cs typeface="Calibri"/>
              </a:rPr>
              <a:t> </a:t>
            </a:r>
            <a:r>
              <a:rPr sz="2000" b="1" dirty="0">
                <a:latin typeface="Times New Roman"/>
                <a:cs typeface="Calibri"/>
              </a:rPr>
              <a:t>is</a:t>
            </a:r>
            <a:r>
              <a:rPr sz="2000" b="1" spc="15" dirty="0">
                <a:latin typeface="Times New Roman"/>
                <a:cs typeface="Calibri"/>
              </a:rPr>
              <a:t> </a:t>
            </a:r>
            <a:r>
              <a:rPr sz="2000" b="1" dirty="0">
                <a:latin typeface="Times New Roman"/>
                <a:cs typeface="Calibri"/>
              </a:rPr>
              <a:t>driven</a:t>
            </a:r>
            <a:r>
              <a:rPr sz="2000" b="1" spc="5" dirty="0">
                <a:latin typeface="Times New Roman"/>
                <a:cs typeface="Calibri"/>
              </a:rPr>
              <a:t> </a:t>
            </a:r>
            <a:r>
              <a:rPr sz="2000" b="1" dirty="0">
                <a:latin typeface="Times New Roman"/>
                <a:cs typeface="Calibri"/>
              </a:rPr>
              <a:t>by</a:t>
            </a:r>
            <a:r>
              <a:rPr sz="2000" b="1" spc="25" dirty="0">
                <a:latin typeface="Times New Roman"/>
                <a:cs typeface="Calibri"/>
              </a:rPr>
              <a:t> </a:t>
            </a:r>
            <a:r>
              <a:rPr sz="2000" b="1" dirty="0">
                <a:latin typeface="Times New Roman"/>
                <a:cs typeface="Calibri"/>
              </a:rPr>
              <a:t>exposure,</a:t>
            </a:r>
            <a:r>
              <a:rPr sz="2000" b="1" spc="15" dirty="0">
                <a:latin typeface="Times New Roman"/>
                <a:cs typeface="Calibri"/>
              </a:rPr>
              <a:t> </a:t>
            </a:r>
            <a:r>
              <a:rPr sz="2000" b="1" dirty="0">
                <a:latin typeface="Times New Roman"/>
                <a:cs typeface="Calibri"/>
              </a:rPr>
              <a:t>not</a:t>
            </a:r>
            <a:r>
              <a:rPr sz="2000" b="1" spc="20" dirty="0">
                <a:latin typeface="Times New Roman"/>
                <a:cs typeface="Calibri"/>
              </a:rPr>
              <a:t> </a:t>
            </a:r>
            <a:r>
              <a:rPr sz="2000" b="1" dirty="0">
                <a:latin typeface="Times New Roman"/>
                <a:cs typeface="Calibri"/>
              </a:rPr>
              <a:t>film quality</a:t>
            </a:r>
            <a:r>
              <a:rPr sz="2000" b="1" spc="5" dirty="0">
                <a:latin typeface="Times New Roman"/>
                <a:cs typeface="Calibri"/>
              </a:rPr>
              <a:t> </a:t>
            </a:r>
            <a:r>
              <a:rPr sz="2000" spc="-50" dirty="0">
                <a:latin typeface="Times New Roman"/>
                <a:cs typeface="Calibri"/>
              </a:rPr>
              <a:t>:</a:t>
            </a:r>
            <a:endParaRPr sz="2000" dirty="0">
              <a:latin typeface="Times New Roman"/>
              <a:cs typeface="Calibri"/>
            </a:endParaRPr>
          </a:p>
          <a:p>
            <a:pPr marL="391795" indent="-379095">
              <a:spcBef>
                <a:spcPts val="1490"/>
              </a:spcBef>
              <a:buSzPct val="125806"/>
              <a:buFont typeface="Arial MT"/>
              <a:buChar char="•"/>
              <a:tabLst>
                <a:tab pos="391795" algn="l"/>
              </a:tabLst>
            </a:pPr>
            <a:r>
              <a:rPr sz="2000" dirty="0">
                <a:latin typeface="Times New Roman"/>
                <a:cs typeface="Calibri"/>
              </a:rPr>
              <a:t>franchise</a:t>
            </a:r>
            <a:r>
              <a:rPr sz="2000" spc="40" dirty="0">
                <a:latin typeface="Times New Roman"/>
                <a:cs typeface="Calibri"/>
              </a:rPr>
              <a:t> </a:t>
            </a:r>
            <a:r>
              <a:rPr sz="2000" spc="-10" dirty="0">
                <a:latin typeface="Times New Roman"/>
                <a:cs typeface="Calibri"/>
              </a:rPr>
              <a:t>advantage.</a:t>
            </a:r>
            <a:endParaRPr sz="2000" dirty="0">
              <a:latin typeface="Times New Roman"/>
              <a:cs typeface="Calibri"/>
            </a:endParaRPr>
          </a:p>
          <a:p>
            <a:pPr marL="347980" indent="-335280">
              <a:spcBef>
                <a:spcPts val="1405"/>
              </a:spcBef>
              <a:buSzPct val="125806"/>
              <a:buFont typeface="Arial MT"/>
              <a:buChar char="•"/>
              <a:tabLst>
                <a:tab pos="347980" algn="l"/>
              </a:tabLst>
            </a:pPr>
            <a:r>
              <a:rPr sz="2000" dirty="0">
                <a:latin typeface="Times New Roman"/>
                <a:cs typeface="Calibri"/>
              </a:rPr>
              <a:t>Classics</a:t>
            </a:r>
            <a:r>
              <a:rPr sz="2000" spc="2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retain</a:t>
            </a:r>
            <a:r>
              <a:rPr sz="2000" spc="40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long-term</a:t>
            </a:r>
            <a:r>
              <a:rPr sz="2000" spc="50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value,</a:t>
            </a:r>
            <a:r>
              <a:rPr sz="2000" spc="50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supporting</a:t>
            </a:r>
            <a:r>
              <a:rPr sz="2000" spc="30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library</a:t>
            </a:r>
            <a:r>
              <a:rPr sz="2000" spc="2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retention</a:t>
            </a:r>
            <a:r>
              <a:rPr sz="2000" spc="55" dirty="0">
                <a:latin typeface="Times New Roman"/>
                <a:cs typeface="Calibri"/>
              </a:rPr>
              <a:t> </a:t>
            </a:r>
            <a:r>
              <a:rPr sz="2000" spc="-10" dirty="0">
                <a:latin typeface="Times New Roman"/>
                <a:cs typeface="Calibri"/>
              </a:rPr>
              <a:t>strategies.</a:t>
            </a:r>
            <a:endParaRPr sz="2000" dirty="0">
              <a:latin typeface="Times New Roman"/>
              <a:cs typeface="Calibri"/>
            </a:endParaRPr>
          </a:p>
          <a:p>
            <a:pPr marL="347980" indent="-335280">
              <a:spcBef>
                <a:spcPts val="1415"/>
              </a:spcBef>
              <a:buSzPct val="125806"/>
              <a:buFont typeface="Arial MT"/>
              <a:buChar char="•"/>
              <a:tabLst>
                <a:tab pos="347980" algn="l"/>
              </a:tabLst>
            </a:pPr>
            <a:r>
              <a:rPr sz="2000" dirty="0">
                <a:latin typeface="Times New Roman"/>
                <a:cs typeface="Calibri"/>
              </a:rPr>
              <a:t>Some</a:t>
            </a:r>
            <a:r>
              <a:rPr sz="2000" spc="10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genres</a:t>
            </a:r>
            <a:r>
              <a:rPr sz="2000" spc="2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offer</a:t>
            </a:r>
            <a:r>
              <a:rPr sz="2000" spc="30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high</a:t>
            </a:r>
            <a:r>
              <a:rPr sz="2000" spc="30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quality</a:t>
            </a:r>
            <a:r>
              <a:rPr sz="2000" spc="2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but</a:t>
            </a:r>
            <a:r>
              <a:rPr sz="2000" spc="3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low</a:t>
            </a:r>
            <a:r>
              <a:rPr sz="2000" spc="3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exposure,</a:t>
            </a:r>
            <a:r>
              <a:rPr sz="2000" spc="1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representing</a:t>
            </a:r>
            <a:r>
              <a:rPr sz="2000" spc="20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strategic</a:t>
            </a:r>
            <a:r>
              <a:rPr sz="2000" spc="25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content</a:t>
            </a:r>
            <a:r>
              <a:rPr sz="2000" spc="20" dirty="0">
                <a:latin typeface="Times New Roman"/>
                <a:cs typeface="Calibri"/>
              </a:rPr>
              <a:t> </a:t>
            </a:r>
            <a:r>
              <a:rPr sz="2000" dirty="0">
                <a:latin typeface="Times New Roman"/>
                <a:cs typeface="Calibri"/>
              </a:rPr>
              <a:t>growth</a:t>
            </a:r>
            <a:r>
              <a:rPr sz="2000" spc="15" dirty="0">
                <a:latin typeface="Times New Roman"/>
                <a:cs typeface="Calibri"/>
              </a:rPr>
              <a:t> </a:t>
            </a:r>
            <a:r>
              <a:rPr sz="2000" spc="-10" dirty="0">
                <a:latin typeface="Times New Roman"/>
                <a:cs typeface="Calibri"/>
              </a:rPr>
              <a:t>areas.</a:t>
            </a:r>
            <a:endParaRPr sz="2000" dirty="0">
              <a:latin typeface="Times New Roman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195" y="517077"/>
            <a:ext cx="8521005" cy="1003564"/>
          </a:xfrm>
          <a:prstGeom prst="rect">
            <a:avLst/>
          </a:prstGeom>
        </p:spPr>
        <p:txBody>
          <a:bodyPr vert="horz" wrap="square" lIns="0" tIns="445218" rIns="0" bIns="0" rtlCol="0" anchor="t">
            <a:spAutoFit/>
          </a:bodyPr>
          <a:lstStyle/>
          <a:p>
            <a:pPr marL="511175">
              <a:lnSpc>
                <a:spcPct val="100000"/>
              </a:lnSpc>
              <a:spcBef>
                <a:spcPts val="135"/>
              </a:spcBef>
            </a:pPr>
            <a:r>
              <a:rPr b="1" spc="-10" dirty="0">
                <a:cs typeface="Calibri"/>
              </a:rPr>
              <a:t>Recommendations:</a:t>
            </a:r>
            <a:endParaRPr lang="en-US" b="1" spc="-10"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581284" y="1946422"/>
            <a:ext cx="8362167" cy="4197816"/>
          </a:xfrm>
          <a:prstGeom prst="rect">
            <a:avLst/>
          </a:prstGeom>
        </p:spPr>
        <p:txBody>
          <a:bodyPr vert="horz" wrap="square" lIns="0" tIns="82550" rIns="0" bIns="0" rtlCol="0" anchor="t">
            <a:spAutoFit/>
          </a:bodyPr>
          <a:lstStyle/>
          <a:p>
            <a:pPr marL="297180" indent="-283210">
              <a:lnSpc>
                <a:spcPct val="150000"/>
              </a:lnSpc>
              <a:spcBef>
                <a:spcPts val="650"/>
              </a:spcBef>
              <a:buSzPct val="63043"/>
              <a:buFont typeface="Arial MT"/>
              <a:buChar char="•"/>
              <a:tabLst>
                <a:tab pos="297815" algn="l"/>
              </a:tabLst>
            </a:pPr>
            <a:r>
              <a:rPr dirty="0">
                <a:latin typeface="Times New Roman"/>
              </a:rPr>
              <a:t>Maintain</a:t>
            </a:r>
            <a:r>
              <a:rPr spc="-10" dirty="0">
                <a:latin typeface="Times New Roman"/>
              </a:rPr>
              <a:t> </a:t>
            </a:r>
            <a:r>
              <a:rPr dirty="0">
                <a:latin typeface="Times New Roman"/>
              </a:rPr>
              <a:t>separate</a:t>
            </a:r>
            <a:r>
              <a:rPr spc="-35" dirty="0">
                <a:latin typeface="Times New Roman"/>
              </a:rPr>
              <a:t> </a:t>
            </a:r>
            <a:r>
              <a:rPr dirty="0">
                <a:latin typeface="Times New Roman"/>
              </a:rPr>
              <a:t>Quality</a:t>
            </a:r>
            <a:r>
              <a:rPr spc="-45" dirty="0">
                <a:latin typeface="Times New Roman"/>
              </a:rPr>
              <a:t> </a:t>
            </a:r>
            <a:r>
              <a:rPr dirty="0">
                <a:latin typeface="Times New Roman"/>
              </a:rPr>
              <a:t>and</a:t>
            </a:r>
            <a:r>
              <a:rPr spc="-25" dirty="0">
                <a:latin typeface="Times New Roman"/>
              </a:rPr>
              <a:t> </a:t>
            </a:r>
            <a:r>
              <a:rPr dirty="0">
                <a:latin typeface="Times New Roman"/>
              </a:rPr>
              <a:t>Popularity</a:t>
            </a:r>
            <a:r>
              <a:rPr spc="-25" dirty="0">
                <a:latin typeface="Times New Roman"/>
              </a:rPr>
              <a:t> </a:t>
            </a:r>
            <a:r>
              <a:rPr dirty="0">
                <a:latin typeface="Times New Roman"/>
              </a:rPr>
              <a:t>recommendation</a:t>
            </a:r>
            <a:r>
              <a:rPr spc="-50" dirty="0">
                <a:latin typeface="Times New Roman"/>
              </a:rPr>
              <a:t> </a:t>
            </a:r>
            <a:r>
              <a:rPr spc="-10" dirty="0">
                <a:latin typeface="Times New Roman"/>
              </a:rPr>
              <a:t>models.</a:t>
            </a:r>
            <a:endParaRPr lang="en-US" spc="-10" dirty="0">
              <a:latin typeface="Times New Roman"/>
            </a:endParaRPr>
          </a:p>
          <a:p>
            <a:pPr marL="297180" indent="-283210">
              <a:lnSpc>
                <a:spcPct val="150000"/>
              </a:lnSpc>
              <a:spcBef>
                <a:spcPts val="550"/>
              </a:spcBef>
              <a:buSzPct val="63043"/>
              <a:buFont typeface="Arial MT"/>
              <a:buChar char="•"/>
              <a:tabLst>
                <a:tab pos="297815" algn="l"/>
              </a:tabLst>
            </a:pPr>
            <a:r>
              <a:rPr dirty="0">
                <a:latin typeface="Times New Roman"/>
              </a:rPr>
              <a:t>Promote</a:t>
            </a:r>
            <a:r>
              <a:rPr spc="-45" dirty="0">
                <a:latin typeface="Times New Roman"/>
              </a:rPr>
              <a:t> </a:t>
            </a:r>
            <a:r>
              <a:rPr dirty="0">
                <a:latin typeface="Times New Roman"/>
              </a:rPr>
              <a:t>Drama</a:t>
            </a:r>
            <a:r>
              <a:rPr spc="-30" dirty="0">
                <a:latin typeface="Times New Roman"/>
              </a:rPr>
              <a:t> </a:t>
            </a:r>
            <a:r>
              <a:rPr dirty="0">
                <a:latin typeface="Times New Roman"/>
              </a:rPr>
              <a:t>for</a:t>
            </a:r>
            <a:r>
              <a:rPr spc="-25" dirty="0">
                <a:latin typeface="Times New Roman"/>
              </a:rPr>
              <a:t> </a:t>
            </a:r>
            <a:r>
              <a:rPr dirty="0">
                <a:latin typeface="Times New Roman"/>
              </a:rPr>
              <a:t>premium</a:t>
            </a:r>
            <a:r>
              <a:rPr spc="-25" dirty="0">
                <a:latin typeface="Times New Roman"/>
              </a:rPr>
              <a:t> </a:t>
            </a:r>
            <a:r>
              <a:rPr dirty="0">
                <a:latin typeface="Times New Roman"/>
              </a:rPr>
              <a:t>audiences</a:t>
            </a:r>
            <a:r>
              <a:rPr spc="-5" dirty="0">
                <a:latin typeface="Times New Roman"/>
              </a:rPr>
              <a:t> </a:t>
            </a:r>
            <a:r>
              <a:rPr dirty="0">
                <a:latin typeface="Times New Roman"/>
              </a:rPr>
              <a:t>and</a:t>
            </a:r>
            <a:r>
              <a:rPr spc="-15" dirty="0">
                <a:latin typeface="Times New Roman"/>
              </a:rPr>
              <a:t> </a:t>
            </a:r>
            <a:r>
              <a:rPr dirty="0">
                <a:latin typeface="Times New Roman"/>
              </a:rPr>
              <a:t>curated</a:t>
            </a:r>
            <a:r>
              <a:rPr spc="-15" dirty="0">
                <a:latin typeface="Times New Roman"/>
              </a:rPr>
              <a:t> </a:t>
            </a:r>
            <a:r>
              <a:rPr spc="-10" dirty="0">
                <a:latin typeface="Times New Roman"/>
              </a:rPr>
              <a:t>lists.</a:t>
            </a:r>
          </a:p>
          <a:p>
            <a:pPr marL="297180" indent="-283210">
              <a:lnSpc>
                <a:spcPct val="150000"/>
              </a:lnSpc>
              <a:spcBef>
                <a:spcPts val="565"/>
              </a:spcBef>
              <a:buSzPct val="63043"/>
              <a:buFont typeface="Arial MT"/>
              <a:buChar char="•"/>
              <a:tabLst>
                <a:tab pos="297815" algn="l"/>
              </a:tabLst>
            </a:pPr>
            <a:r>
              <a:rPr dirty="0">
                <a:latin typeface="Times New Roman"/>
              </a:rPr>
              <a:t>Use</a:t>
            </a:r>
            <a:r>
              <a:rPr spc="5" dirty="0">
                <a:latin typeface="Times New Roman"/>
              </a:rPr>
              <a:t> </a:t>
            </a:r>
            <a:r>
              <a:rPr dirty="0">
                <a:latin typeface="Times New Roman"/>
              </a:rPr>
              <a:t>Action/Sci-Fi</a:t>
            </a:r>
            <a:r>
              <a:rPr spc="-70" dirty="0">
                <a:latin typeface="Times New Roman"/>
              </a:rPr>
              <a:t> </a:t>
            </a:r>
            <a:r>
              <a:rPr dirty="0">
                <a:latin typeface="Times New Roman"/>
              </a:rPr>
              <a:t>for</a:t>
            </a:r>
            <a:r>
              <a:rPr spc="-20" dirty="0">
                <a:latin typeface="Times New Roman"/>
              </a:rPr>
              <a:t> </a:t>
            </a:r>
            <a:r>
              <a:rPr dirty="0">
                <a:latin typeface="Times New Roman"/>
              </a:rPr>
              <a:t>mass engagement</a:t>
            </a:r>
            <a:r>
              <a:rPr spc="-60" dirty="0">
                <a:latin typeface="Times New Roman"/>
              </a:rPr>
              <a:t> </a:t>
            </a:r>
            <a:r>
              <a:rPr dirty="0">
                <a:latin typeface="Times New Roman"/>
              </a:rPr>
              <a:t>and</a:t>
            </a:r>
            <a:r>
              <a:rPr spc="10" dirty="0">
                <a:latin typeface="Times New Roman"/>
              </a:rPr>
              <a:t> </a:t>
            </a:r>
            <a:r>
              <a:rPr dirty="0">
                <a:latin typeface="Times New Roman"/>
              </a:rPr>
              <a:t>homepage</a:t>
            </a:r>
            <a:r>
              <a:rPr spc="-35" dirty="0">
                <a:latin typeface="Times New Roman"/>
              </a:rPr>
              <a:t> </a:t>
            </a:r>
            <a:r>
              <a:rPr spc="-10" dirty="0">
                <a:latin typeface="Times New Roman"/>
              </a:rPr>
              <a:t>visibility.</a:t>
            </a:r>
          </a:p>
          <a:p>
            <a:pPr marL="297180" indent="-283210">
              <a:lnSpc>
                <a:spcPct val="150000"/>
              </a:lnSpc>
              <a:spcBef>
                <a:spcPts val="565"/>
              </a:spcBef>
              <a:buSzPct val="63043"/>
              <a:buFont typeface="Arial MT"/>
              <a:buChar char="•"/>
              <a:tabLst>
                <a:tab pos="297815" algn="l"/>
              </a:tabLst>
            </a:pPr>
            <a:r>
              <a:rPr dirty="0">
                <a:latin typeface="Times New Roman"/>
              </a:rPr>
              <a:t>Leverage</a:t>
            </a:r>
            <a:r>
              <a:rPr spc="-45" dirty="0">
                <a:latin typeface="Times New Roman"/>
              </a:rPr>
              <a:t> </a:t>
            </a:r>
            <a:r>
              <a:rPr dirty="0">
                <a:latin typeface="Times New Roman"/>
              </a:rPr>
              <a:t>classics</a:t>
            </a:r>
            <a:r>
              <a:rPr spc="-5" dirty="0">
                <a:latin typeface="Times New Roman"/>
              </a:rPr>
              <a:t> </a:t>
            </a:r>
            <a:r>
              <a:rPr dirty="0">
                <a:latin typeface="Times New Roman"/>
              </a:rPr>
              <a:t>for</a:t>
            </a:r>
            <a:r>
              <a:rPr spc="-25" dirty="0">
                <a:latin typeface="Times New Roman"/>
              </a:rPr>
              <a:t> </a:t>
            </a:r>
            <a:r>
              <a:rPr dirty="0">
                <a:latin typeface="Times New Roman"/>
              </a:rPr>
              <a:t>long-term</a:t>
            </a:r>
            <a:r>
              <a:rPr spc="-45" dirty="0">
                <a:latin typeface="Times New Roman"/>
              </a:rPr>
              <a:t> </a:t>
            </a:r>
            <a:r>
              <a:rPr dirty="0">
                <a:latin typeface="Times New Roman"/>
              </a:rPr>
              <a:t>library</a:t>
            </a:r>
            <a:r>
              <a:rPr spc="-10" dirty="0">
                <a:latin typeface="Times New Roman"/>
              </a:rPr>
              <a:t> value.</a:t>
            </a:r>
          </a:p>
          <a:p>
            <a:pPr marL="297180" indent="-283210">
              <a:lnSpc>
                <a:spcPct val="150000"/>
              </a:lnSpc>
              <a:spcBef>
                <a:spcPts val="550"/>
              </a:spcBef>
              <a:buSzPct val="63043"/>
              <a:buFont typeface="Arial MT"/>
              <a:buChar char="•"/>
              <a:tabLst>
                <a:tab pos="297815" algn="l"/>
              </a:tabLst>
            </a:pPr>
            <a:r>
              <a:rPr dirty="0">
                <a:latin typeface="Times New Roman"/>
              </a:rPr>
              <a:t>Invest</a:t>
            </a:r>
            <a:r>
              <a:rPr spc="-20" dirty="0">
                <a:latin typeface="Times New Roman"/>
              </a:rPr>
              <a:t> </a:t>
            </a:r>
            <a:r>
              <a:rPr dirty="0">
                <a:latin typeface="Times New Roman"/>
              </a:rPr>
              <a:t>in</a:t>
            </a:r>
            <a:r>
              <a:rPr spc="-15" dirty="0">
                <a:latin typeface="Times New Roman"/>
              </a:rPr>
              <a:t> </a:t>
            </a:r>
            <a:r>
              <a:rPr dirty="0">
                <a:latin typeface="Times New Roman"/>
              </a:rPr>
              <a:t>undervalued</a:t>
            </a:r>
            <a:r>
              <a:rPr spc="-15" dirty="0">
                <a:latin typeface="Times New Roman"/>
              </a:rPr>
              <a:t> </a:t>
            </a:r>
            <a:r>
              <a:rPr dirty="0">
                <a:latin typeface="Times New Roman"/>
              </a:rPr>
              <a:t>high-quality</a:t>
            </a:r>
            <a:r>
              <a:rPr spc="-10" dirty="0">
                <a:latin typeface="Times New Roman"/>
              </a:rPr>
              <a:t> </a:t>
            </a:r>
            <a:r>
              <a:rPr dirty="0">
                <a:latin typeface="Times New Roman"/>
              </a:rPr>
              <a:t>genres</a:t>
            </a:r>
            <a:r>
              <a:rPr spc="-30" dirty="0">
                <a:latin typeface="Times New Roman"/>
              </a:rPr>
              <a:t> </a:t>
            </a:r>
            <a:r>
              <a:rPr dirty="0">
                <a:latin typeface="Times New Roman"/>
              </a:rPr>
              <a:t>(Animation,</a:t>
            </a:r>
            <a:r>
              <a:rPr spc="-50" dirty="0">
                <a:latin typeface="Times New Roman"/>
              </a:rPr>
              <a:t> </a:t>
            </a:r>
            <a:r>
              <a:rPr spc="-10" dirty="0">
                <a:latin typeface="Times New Roman"/>
              </a:rPr>
              <a:t>Mystery).</a:t>
            </a:r>
          </a:p>
          <a:p>
            <a:pPr marL="297180" indent="-283210">
              <a:lnSpc>
                <a:spcPct val="150000"/>
              </a:lnSpc>
              <a:spcBef>
                <a:spcPts val="565"/>
              </a:spcBef>
              <a:buSzPct val="63043"/>
              <a:buFont typeface="Arial MT"/>
              <a:buChar char="•"/>
              <a:tabLst>
                <a:tab pos="297815" algn="l"/>
              </a:tabLst>
            </a:pPr>
            <a:r>
              <a:rPr dirty="0">
                <a:latin typeface="Times New Roman"/>
              </a:rPr>
              <a:t>Boost discovery</a:t>
            </a:r>
            <a:r>
              <a:rPr spc="-15" dirty="0">
                <a:latin typeface="Times New Roman"/>
              </a:rPr>
              <a:t> </a:t>
            </a:r>
            <a:r>
              <a:rPr dirty="0">
                <a:latin typeface="Times New Roman"/>
              </a:rPr>
              <a:t>of</a:t>
            </a:r>
            <a:r>
              <a:rPr spc="5" dirty="0">
                <a:latin typeface="Times New Roman"/>
              </a:rPr>
              <a:t> </a:t>
            </a:r>
            <a:r>
              <a:rPr spc="-10" dirty="0">
                <a:latin typeface="Times New Roman"/>
              </a:rPr>
              <a:t>high-</a:t>
            </a:r>
            <a:r>
              <a:rPr dirty="0">
                <a:latin typeface="Times New Roman"/>
              </a:rPr>
              <a:t>rated</a:t>
            </a:r>
            <a:r>
              <a:rPr spc="5" dirty="0">
                <a:latin typeface="Times New Roman"/>
              </a:rPr>
              <a:t> </a:t>
            </a:r>
            <a:r>
              <a:rPr spc="-10" dirty="0">
                <a:latin typeface="Times New Roman"/>
              </a:rPr>
              <a:t>lesser-</a:t>
            </a:r>
            <a:r>
              <a:rPr dirty="0">
                <a:latin typeface="Times New Roman"/>
              </a:rPr>
              <a:t>known</a:t>
            </a:r>
            <a:r>
              <a:rPr spc="25" dirty="0">
                <a:latin typeface="Times New Roman"/>
              </a:rPr>
              <a:t> </a:t>
            </a:r>
            <a:r>
              <a:rPr spc="-10" dirty="0">
                <a:latin typeface="Times New Roman"/>
              </a:rPr>
              <a:t>movies.</a:t>
            </a:r>
          </a:p>
          <a:p>
            <a:pPr marL="297180" indent="-283210">
              <a:lnSpc>
                <a:spcPct val="150000"/>
              </a:lnSpc>
              <a:spcBef>
                <a:spcPts val="565"/>
              </a:spcBef>
              <a:buSzPct val="63043"/>
              <a:buFont typeface="Arial MT"/>
              <a:buChar char="•"/>
              <a:tabLst>
                <a:tab pos="297815" algn="l"/>
              </a:tabLst>
            </a:pPr>
            <a:r>
              <a:rPr dirty="0">
                <a:latin typeface="Times New Roman"/>
              </a:rPr>
              <a:t>Use</a:t>
            </a:r>
            <a:r>
              <a:rPr spc="-5" dirty="0">
                <a:latin typeface="Times New Roman"/>
              </a:rPr>
              <a:t> </a:t>
            </a:r>
            <a:r>
              <a:rPr spc="-10" dirty="0">
                <a:latin typeface="Times New Roman"/>
              </a:rPr>
              <a:t>year-</a:t>
            </a:r>
            <a:r>
              <a:rPr dirty="0">
                <a:latin typeface="Times New Roman"/>
              </a:rPr>
              <a:t>based</a:t>
            </a:r>
            <a:r>
              <a:rPr spc="-15" dirty="0">
                <a:latin typeface="Times New Roman"/>
              </a:rPr>
              <a:t> </a:t>
            </a:r>
            <a:r>
              <a:rPr dirty="0">
                <a:latin typeface="Times New Roman"/>
              </a:rPr>
              <a:t>analysis</a:t>
            </a:r>
            <a:r>
              <a:rPr spc="10" dirty="0">
                <a:latin typeface="Times New Roman"/>
              </a:rPr>
              <a:t> </a:t>
            </a:r>
            <a:r>
              <a:rPr dirty="0">
                <a:latin typeface="Times New Roman"/>
              </a:rPr>
              <a:t>to</a:t>
            </a:r>
            <a:r>
              <a:rPr spc="-25" dirty="0">
                <a:latin typeface="Times New Roman"/>
              </a:rPr>
              <a:t> </a:t>
            </a:r>
            <a:r>
              <a:rPr dirty="0">
                <a:latin typeface="Times New Roman"/>
              </a:rPr>
              <a:t>create</a:t>
            </a:r>
            <a:r>
              <a:rPr spc="-20" dirty="0">
                <a:latin typeface="Times New Roman"/>
              </a:rPr>
              <a:t> </a:t>
            </a:r>
            <a:r>
              <a:rPr dirty="0">
                <a:latin typeface="Times New Roman"/>
              </a:rPr>
              <a:t>balanced</a:t>
            </a:r>
            <a:r>
              <a:rPr spc="-15" dirty="0">
                <a:latin typeface="Times New Roman"/>
              </a:rPr>
              <a:t> </a:t>
            </a:r>
            <a:r>
              <a:rPr dirty="0">
                <a:latin typeface="Times New Roman"/>
              </a:rPr>
              <a:t>content</a:t>
            </a:r>
            <a:r>
              <a:rPr spc="-20" dirty="0">
                <a:latin typeface="Times New Roman"/>
              </a:rPr>
              <a:t> </a:t>
            </a:r>
            <a:r>
              <a:rPr spc="-10" dirty="0">
                <a:latin typeface="Times New Roman"/>
              </a:rPr>
              <a:t>mixes.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2635" y="691086"/>
            <a:ext cx="8521005" cy="725242"/>
          </a:xfrm>
          <a:prstGeom prst="rect">
            <a:avLst/>
          </a:prstGeom>
        </p:spPr>
        <p:txBody>
          <a:bodyPr vert="horz" wrap="square" lIns="0" tIns="169588" rIns="0" bIns="0" rtlCol="0" anchor="t">
            <a:spAutoFit/>
          </a:bodyPr>
          <a:lstStyle/>
          <a:p>
            <a:pPr marL="33655">
              <a:lnSpc>
                <a:spcPct val="100000"/>
              </a:lnSpc>
              <a:spcBef>
                <a:spcPts val="100"/>
              </a:spcBef>
            </a:pPr>
            <a:r>
              <a:rPr b="1" spc="-10" dirty="0">
                <a:latin typeface="Times New Roman"/>
                <a:cs typeface="Times New Roman"/>
              </a:rPr>
              <a:t>Conclusion:</a:t>
            </a:r>
            <a:endParaRPr lang="en-US" b="1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18177" y="1779389"/>
            <a:ext cx="7979409" cy="3265446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algn="l">
              <a:lnSpc>
                <a:spcPct val="150000"/>
              </a:lnSpc>
              <a:buSzPct val="94871"/>
              <a:buChar char="•"/>
              <a:tabLst>
                <a:tab pos="99695" algn="l"/>
              </a:tabLst>
            </a:pPr>
            <a:r>
              <a:rPr lang="en-US" sz="2000" spc="-10" dirty="0">
                <a:latin typeface="Times New Roman"/>
                <a:cs typeface="Times New Roman"/>
              </a:rPr>
              <a:t>  Movie quality, popularity, and audience reach are driven by</a:t>
            </a:r>
            <a:endParaRPr lang="en-US" sz="2000" spc="-1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algn="l">
              <a:lnSpc>
                <a:spcPct val="150000"/>
              </a:lnSpc>
              <a:spcBef>
                <a:spcPts val="95"/>
              </a:spcBef>
              <a:buSzPct val="94871"/>
              <a:tabLst>
                <a:tab pos="99695" algn="l"/>
              </a:tabLst>
            </a:pPr>
            <a:r>
              <a:rPr lang="en-US" sz="2000" spc="-10" dirty="0">
                <a:latin typeface="Times New Roman"/>
                <a:cs typeface="Times New Roman"/>
              </a:rPr>
              <a:t>   different factors. </a:t>
            </a:r>
            <a:endParaRPr lang="en-US" sz="2000" dirty="0">
              <a:latin typeface="Times New Roman"/>
              <a:cs typeface="Times New Roman"/>
            </a:endParaRPr>
          </a:p>
          <a:p>
            <a:pPr algn="l">
              <a:lnSpc>
                <a:spcPct val="150000"/>
              </a:lnSpc>
              <a:spcBef>
                <a:spcPts val="95"/>
              </a:spcBef>
              <a:buSzPct val="94871"/>
              <a:buChar char="•"/>
              <a:tabLst>
                <a:tab pos="99695" algn="l"/>
              </a:tabLst>
            </a:pPr>
            <a:r>
              <a:rPr lang="en-US" sz="2000" spc="-10" dirty="0">
                <a:latin typeface="Times New Roman"/>
                <a:cs typeface="Times New Roman"/>
              </a:rPr>
              <a:t>  Drama leads in ratings, Action/Sci-Fi lead in engagement, and</a:t>
            </a:r>
            <a:endParaRPr lang="en-US" sz="2000" dirty="0">
              <a:latin typeface="Times New Roman"/>
              <a:cs typeface="Times New Roman"/>
            </a:endParaRPr>
          </a:p>
          <a:p>
            <a:pPr algn="l">
              <a:lnSpc>
                <a:spcPct val="150000"/>
              </a:lnSpc>
              <a:spcBef>
                <a:spcPts val="95"/>
              </a:spcBef>
              <a:buSzPct val="94871"/>
              <a:tabLst>
                <a:tab pos="99695" algn="l"/>
              </a:tabLst>
            </a:pPr>
            <a:r>
              <a:rPr lang="en-US" sz="2000" spc="-10" dirty="0">
                <a:latin typeface="Times New Roman"/>
                <a:cs typeface="Times New Roman"/>
              </a:rPr>
              <a:t>    classics retain long-term value. </a:t>
            </a:r>
            <a:endParaRPr lang="en-US" sz="2000" dirty="0">
              <a:latin typeface="Times New Roman"/>
              <a:cs typeface="Times New Roman"/>
            </a:endParaRPr>
          </a:p>
          <a:p>
            <a:pPr algn="l">
              <a:lnSpc>
                <a:spcPct val="150000"/>
              </a:lnSpc>
              <a:spcBef>
                <a:spcPts val="95"/>
              </a:spcBef>
              <a:buSzPct val="94871"/>
              <a:buChar char="•"/>
              <a:tabLst>
                <a:tab pos="99695" algn="l"/>
              </a:tabLst>
            </a:pPr>
            <a:r>
              <a:rPr lang="en-US" sz="2000" spc="-10" dirty="0">
                <a:latin typeface="Times New Roman"/>
                <a:cs typeface="Times New Roman"/>
              </a:rPr>
              <a:t>  A balanced content strategy combining high-quality films, mass-</a:t>
            </a:r>
            <a:endParaRPr lang="en-US" sz="2000" dirty="0">
              <a:latin typeface="Times New Roman"/>
              <a:cs typeface="Times New Roman"/>
            </a:endParaRPr>
          </a:p>
          <a:p>
            <a:pPr algn="l">
              <a:lnSpc>
                <a:spcPct val="150000"/>
              </a:lnSpc>
              <a:spcBef>
                <a:spcPts val="95"/>
              </a:spcBef>
              <a:buSzPct val="94871"/>
              <a:tabLst>
                <a:tab pos="99695" algn="l"/>
              </a:tabLst>
            </a:pPr>
            <a:r>
              <a:rPr lang="en-US" sz="2000" spc="-10" dirty="0">
                <a:latin typeface="Times New Roman"/>
                <a:cs typeface="Times New Roman"/>
              </a:rPr>
              <a:t>   appeal genres, and hidden gems ensures the best viewer experience. </a:t>
            </a:r>
            <a:endParaRPr lang="en-US" sz="2000" dirty="0">
              <a:latin typeface="Times New Roman"/>
              <a:cs typeface="Times New Roman"/>
            </a:endParaRPr>
          </a:p>
          <a:p>
            <a:pPr marL="12700" marR="314325" indent="-8255">
              <a:lnSpc>
                <a:spcPct val="150000"/>
              </a:lnSpc>
              <a:spcBef>
                <a:spcPts val="95"/>
              </a:spcBef>
              <a:buSzPct val="94871"/>
              <a:buChar char="•"/>
              <a:tabLst>
                <a:tab pos="99695" algn="l"/>
              </a:tabLst>
            </a:pPr>
            <a:endParaRPr lang="en-US" sz="2000" spc="-10" dirty="0">
              <a:latin typeface="Times New Roman"/>
              <a:cs typeface="Arial M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0216" y="192260"/>
            <a:ext cx="8521005" cy="1003564"/>
          </a:xfrm>
          <a:prstGeom prst="rect">
            <a:avLst/>
          </a:prstGeom>
        </p:spPr>
        <p:txBody>
          <a:bodyPr vert="horz" wrap="square" lIns="0" tIns="445218" rIns="0" bIns="0" rtlCol="0" anchor="t">
            <a:spAutoFit/>
          </a:bodyPr>
          <a:lstStyle/>
          <a:p>
            <a:pPr marL="511175">
              <a:lnSpc>
                <a:spcPct val="100000"/>
              </a:lnSpc>
              <a:spcBef>
                <a:spcPts val="135"/>
              </a:spcBef>
            </a:pPr>
            <a:r>
              <a:rPr spc="-20" dirty="0">
                <a:cs typeface="Calibri"/>
              </a:rPr>
              <a:t>Q&amp;A:</a:t>
            </a:r>
            <a:endParaRPr lang="en-US" spc="-20" dirty="0"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5034" y="1189677"/>
            <a:ext cx="8282570" cy="4979761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295910" indent="-283210">
              <a:lnSpc>
                <a:spcPct val="150000"/>
              </a:lnSpc>
              <a:spcBef>
                <a:spcPts val="95"/>
              </a:spcBef>
              <a:buSzPct val="67441"/>
              <a:buFont typeface="Arial MT"/>
              <a:buChar char="•"/>
              <a:tabLst>
                <a:tab pos="295910" algn="l"/>
              </a:tabLst>
            </a:pPr>
            <a:r>
              <a:rPr sz="2150" dirty="0">
                <a:latin typeface="Times New Roman"/>
                <a:cs typeface="Calibri"/>
              </a:rPr>
              <a:t>What</a:t>
            </a:r>
            <a:r>
              <a:rPr sz="2150" spc="-30" dirty="0">
                <a:latin typeface="Times New Roman"/>
                <a:cs typeface="Calibri"/>
              </a:rPr>
              <a:t> </a:t>
            </a:r>
            <a:r>
              <a:rPr sz="2150" dirty="0">
                <a:latin typeface="Times New Roman"/>
                <a:cs typeface="Calibri"/>
              </a:rPr>
              <a:t>is</a:t>
            </a:r>
            <a:r>
              <a:rPr sz="2150" spc="-20" dirty="0">
                <a:latin typeface="Times New Roman"/>
                <a:cs typeface="Calibri"/>
              </a:rPr>
              <a:t> </a:t>
            </a:r>
            <a:r>
              <a:rPr sz="2150" dirty="0">
                <a:latin typeface="Times New Roman"/>
                <a:cs typeface="Calibri"/>
              </a:rPr>
              <a:t>the</a:t>
            </a:r>
            <a:r>
              <a:rPr sz="2150" spc="-30" dirty="0">
                <a:latin typeface="Times New Roman"/>
                <a:cs typeface="Calibri"/>
              </a:rPr>
              <a:t> </a:t>
            </a:r>
            <a:r>
              <a:rPr sz="2150" dirty="0">
                <a:latin typeface="Times New Roman"/>
                <a:cs typeface="Calibri"/>
              </a:rPr>
              <a:t>main</a:t>
            </a:r>
            <a:r>
              <a:rPr sz="2150" spc="-55" dirty="0">
                <a:latin typeface="Times New Roman"/>
                <a:cs typeface="Calibri"/>
              </a:rPr>
              <a:t> </a:t>
            </a:r>
            <a:r>
              <a:rPr sz="2150" dirty="0">
                <a:latin typeface="Times New Roman"/>
                <a:cs typeface="Calibri"/>
              </a:rPr>
              <a:t>insight</a:t>
            </a:r>
            <a:r>
              <a:rPr sz="2150" spc="-25" dirty="0">
                <a:latin typeface="Times New Roman"/>
                <a:cs typeface="Calibri"/>
              </a:rPr>
              <a:t> </a:t>
            </a:r>
            <a:r>
              <a:rPr sz="2150" dirty="0">
                <a:latin typeface="Times New Roman"/>
                <a:cs typeface="Calibri"/>
              </a:rPr>
              <a:t>from</a:t>
            </a:r>
            <a:r>
              <a:rPr sz="2150" spc="-15" dirty="0">
                <a:latin typeface="Times New Roman"/>
                <a:cs typeface="Calibri"/>
              </a:rPr>
              <a:t> </a:t>
            </a:r>
            <a:r>
              <a:rPr sz="2150" dirty="0">
                <a:latin typeface="Times New Roman"/>
                <a:cs typeface="Calibri"/>
              </a:rPr>
              <a:t>your</a:t>
            </a:r>
            <a:r>
              <a:rPr sz="2150" spc="-10" dirty="0">
                <a:latin typeface="Times New Roman"/>
                <a:cs typeface="Calibri"/>
              </a:rPr>
              <a:t> analysis?</a:t>
            </a:r>
            <a:endParaRPr sz="2150" dirty="0">
              <a:latin typeface="Times New Roman"/>
              <a:cs typeface="Calibri"/>
            </a:endParaRPr>
          </a:p>
          <a:p>
            <a:pPr marL="295910" indent="-283210">
              <a:lnSpc>
                <a:spcPct val="150000"/>
              </a:lnSpc>
              <a:spcBef>
                <a:spcPts val="50"/>
              </a:spcBef>
              <a:buSzPct val="67441"/>
              <a:buFont typeface="Arial MT"/>
              <a:buChar char="•"/>
              <a:tabLst>
                <a:tab pos="295910" algn="l"/>
              </a:tabLst>
            </a:pPr>
            <a:r>
              <a:rPr sz="2150" dirty="0">
                <a:latin typeface="Times New Roman"/>
                <a:cs typeface="Calibri"/>
              </a:rPr>
              <a:t>How</a:t>
            </a:r>
            <a:r>
              <a:rPr sz="2150" spc="-40" dirty="0">
                <a:latin typeface="Times New Roman"/>
                <a:cs typeface="Calibri"/>
              </a:rPr>
              <a:t> </a:t>
            </a:r>
            <a:r>
              <a:rPr sz="2150" dirty="0">
                <a:latin typeface="Times New Roman"/>
                <a:cs typeface="Calibri"/>
              </a:rPr>
              <a:t>does</a:t>
            </a:r>
            <a:r>
              <a:rPr sz="2150" spc="-55" dirty="0">
                <a:latin typeface="Times New Roman"/>
                <a:cs typeface="Calibri"/>
              </a:rPr>
              <a:t> </a:t>
            </a:r>
            <a:r>
              <a:rPr sz="2150" dirty="0">
                <a:latin typeface="Times New Roman"/>
                <a:cs typeface="Calibri"/>
              </a:rPr>
              <a:t>this</a:t>
            </a:r>
            <a:r>
              <a:rPr sz="2150" spc="-30" dirty="0">
                <a:latin typeface="Times New Roman"/>
                <a:cs typeface="Calibri"/>
              </a:rPr>
              <a:t> </a:t>
            </a:r>
            <a:r>
              <a:rPr sz="2150" dirty="0">
                <a:latin typeface="Times New Roman"/>
                <a:cs typeface="Calibri"/>
              </a:rPr>
              <a:t>project</a:t>
            </a:r>
            <a:r>
              <a:rPr sz="2150" spc="-20" dirty="0">
                <a:latin typeface="Times New Roman"/>
                <a:cs typeface="Calibri"/>
              </a:rPr>
              <a:t> </a:t>
            </a:r>
            <a:r>
              <a:rPr sz="2150" dirty="0">
                <a:latin typeface="Times New Roman"/>
                <a:cs typeface="Calibri"/>
              </a:rPr>
              <a:t>help</a:t>
            </a:r>
            <a:r>
              <a:rPr sz="2150" spc="-35" dirty="0">
                <a:latin typeface="Times New Roman"/>
                <a:cs typeface="Calibri"/>
              </a:rPr>
              <a:t> </a:t>
            </a:r>
            <a:r>
              <a:rPr sz="2150" dirty="0">
                <a:latin typeface="Times New Roman"/>
                <a:cs typeface="Calibri"/>
              </a:rPr>
              <a:t>OTT</a:t>
            </a:r>
            <a:r>
              <a:rPr sz="2150" spc="-65" dirty="0">
                <a:latin typeface="Times New Roman"/>
                <a:cs typeface="Calibri"/>
              </a:rPr>
              <a:t> </a:t>
            </a:r>
            <a:r>
              <a:rPr sz="2150" dirty="0">
                <a:latin typeface="Times New Roman"/>
                <a:cs typeface="Calibri"/>
              </a:rPr>
              <a:t>platforms</a:t>
            </a:r>
            <a:r>
              <a:rPr sz="2150" spc="-50" dirty="0">
                <a:latin typeface="Times New Roman"/>
                <a:cs typeface="Calibri"/>
              </a:rPr>
              <a:t> </a:t>
            </a:r>
            <a:r>
              <a:rPr sz="2150" dirty="0">
                <a:latin typeface="Times New Roman"/>
                <a:cs typeface="Calibri"/>
              </a:rPr>
              <a:t>or</a:t>
            </a:r>
            <a:r>
              <a:rPr sz="2150" spc="-25" dirty="0">
                <a:latin typeface="Times New Roman"/>
                <a:cs typeface="Calibri"/>
              </a:rPr>
              <a:t> </a:t>
            </a:r>
            <a:r>
              <a:rPr sz="2150" spc="-10" dirty="0">
                <a:latin typeface="Times New Roman"/>
                <a:cs typeface="Calibri"/>
              </a:rPr>
              <a:t>businesses?</a:t>
            </a:r>
            <a:endParaRPr sz="2150" dirty="0">
              <a:latin typeface="Times New Roman"/>
              <a:cs typeface="Calibri"/>
            </a:endParaRPr>
          </a:p>
          <a:p>
            <a:pPr marL="295910" indent="-283210">
              <a:lnSpc>
                <a:spcPct val="150000"/>
              </a:lnSpc>
              <a:spcBef>
                <a:spcPts val="45"/>
              </a:spcBef>
              <a:buSzPct val="67441"/>
              <a:buFont typeface="Arial MT"/>
              <a:buChar char="•"/>
              <a:tabLst>
                <a:tab pos="295910" algn="l"/>
              </a:tabLst>
            </a:pPr>
            <a:r>
              <a:rPr sz="2150" dirty="0">
                <a:latin typeface="Times New Roman"/>
                <a:cs typeface="Calibri"/>
              </a:rPr>
              <a:t>Which</a:t>
            </a:r>
            <a:r>
              <a:rPr sz="2150" spc="-40" dirty="0">
                <a:latin typeface="Times New Roman"/>
                <a:cs typeface="Calibri"/>
              </a:rPr>
              <a:t> </a:t>
            </a:r>
            <a:r>
              <a:rPr sz="2150" dirty="0">
                <a:latin typeface="Times New Roman"/>
                <a:cs typeface="Calibri"/>
              </a:rPr>
              <a:t>genres</a:t>
            </a:r>
            <a:r>
              <a:rPr sz="2150" spc="-50" dirty="0">
                <a:latin typeface="Times New Roman"/>
                <a:cs typeface="Calibri"/>
              </a:rPr>
              <a:t> </a:t>
            </a:r>
            <a:r>
              <a:rPr sz="2150" dirty="0">
                <a:latin typeface="Times New Roman"/>
                <a:cs typeface="Calibri"/>
              </a:rPr>
              <a:t>performed</a:t>
            </a:r>
            <a:r>
              <a:rPr sz="2150" spc="-40" dirty="0">
                <a:latin typeface="Times New Roman"/>
                <a:cs typeface="Calibri"/>
              </a:rPr>
              <a:t> </a:t>
            </a:r>
            <a:r>
              <a:rPr sz="2150" dirty="0">
                <a:latin typeface="Times New Roman"/>
                <a:cs typeface="Calibri"/>
              </a:rPr>
              <a:t>the</a:t>
            </a:r>
            <a:r>
              <a:rPr sz="2150" spc="-40" dirty="0">
                <a:latin typeface="Times New Roman"/>
                <a:cs typeface="Calibri"/>
              </a:rPr>
              <a:t> </a:t>
            </a:r>
            <a:r>
              <a:rPr sz="2150" dirty="0">
                <a:latin typeface="Times New Roman"/>
                <a:cs typeface="Calibri"/>
              </a:rPr>
              <a:t>best</a:t>
            </a:r>
            <a:r>
              <a:rPr sz="2150" spc="-55" dirty="0">
                <a:latin typeface="Times New Roman"/>
                <a:cs typeface="Calibri"/>
              </a:rPr>
              <a:t> </a:t>
            </a:r>
            <a:r>
              <a:rPr sz="2150" dirty="0">
                <a:latin typeface="Times New Roman"/>
                <a:cs typeface="Calibri"/>
              </a:rPr>
              <a:t>in</a:t>
            </a:r>
            <a:r>
              <a:rPr sz="2150" spc="-40" dirty="0">
                <a:latin typeface="Times New Roman"/>
                <a:cs typeface="Calibri"/>
              </a:rPr>
              <a:t> </a:t>
            </a:r>
            <a:r>
              <a:rPr sz="2150" dirty="0">
                <a:latin typeface="Times New Roman"/>
                <a:cs typeface="Calibri"/>
              </a:rPr>
              <a:t>ratings</a:t>
            </a:r>
            <a:r>
              <a:rPr sz="2150" spc="-25" dirty="0">
                <a:latin typeface="Times New Roman"/>
                <a:cs typeface="Calibri"/>
              </a:rPr>
              <a:t> </a:t>
            </a:r>
            <a:r>
              <a:rPr sz="2150" dirty="0">
                <a:latin typeface="Times New Roman"/>
                <a:cs typeface="Calibri"/>
              </a:rPr>
              <a:t>and</a:t>
            </a:r>
            <a:r>
              <a:rPr sz="2150" spc="-40" dirty="0">
                <a:latin typeface="Times New Roman"/>
                <a:cs typeface="Calibri"/>
              </a:rPr>
              <a:t> </a:t>
            </a:r>
            <a:r>
              <a:rPr sz="2150" spc="-10" dirty="0">
                <a:latin typeface="Times New Roman"/>
                <a:cs typeface="Calibri"/>
              </a:rPr>
              <a:t>popularity?</a:t>
            </a:r>
            <a:endParaRPr sz="2150" dirty="0">
              <a:latin typeface="Times New Roman"/>
              <a:cs typeface="Calibri"/>
            </a:endParaRPr>
          </a:p>
          <a:p>
            <a:pPr marL="295910" indent="-283210">
              <a:lnSpc>
                <a:spcPct val="150000"/>
              </a:lnSpc>
              <a:spcBef>
                <a:spcPts val="50"/>
              </a:spcBef>
              <a:buSzPct val="67441"/>
              <a:buFont typeface="Arial MT"/>
              <a:buChar char="•"/>
              <a:tabLst>
                <a:tab pos="295910" algn="l"/>
              </a:tabLst>
            </a:pPr>
            <a:r>
              <a:rPr sz="2150" dirty="0">
                <a:latin typeface="Times New Roman"/>
                <a:cs typeface="Calibri"/>
              </a:rPr>
              <a:t>What</a:t>
            </a:r>
            <a:r>
              <a:rPr sz="2150" spc="-40" dirty="0">
                <a:latin typeface="Times New Roman"/>
                <a:cs typeface="Calibri"/>
              </a:rPr>
              <a:t> </a:t>
            </a:r>
            <a:r>
              <a:rPr sz="2150" dirty="0">
                <a:latin typeface="Times New Roman"/>
                <a:cs typeface="Calibri"/>
              </a:rPr>
              <a:t>trend</a:t>
            </a:r>
            <a:r>
              <a:rPr sz="2150" spc="-65" dirty="0">
                <a:latin typeface="Times New Roman"/>
                <a:cs typeface="Calibri"/>
              </a:rPr>
              <a:t> </a:t>
            </a:r>
            <a:r>
              <a:rPr sz="2150" dirty="0">
                <a:latin typeface="Times New Roman"/>
                <a:cs typeface="Calibri"/>
              </a:rPr>
              <a:t>did</a:t>
            </a:r>
            <a:r>
              <a:rPr sz="2150" spc="-40" dirty="0">
                <a:latin typeface="Times New Roman"/>
                <a:cs typeface="Calibri"/>
              </a:rPr>
              <a:t> </a:t>
            </a:r>
            <a:r>
              <a:rPr sz="2150" dirty="0">
                <a:latin typeface="Times New Roman"/>
                <a:cs typeface="Calibri"/>
              </a:rPr>
              <a:t>you</a:t>
            </a:r>
            <a:r>
              <a:rPr sz="2150" spc="-40" dirty="0">
                <a:latin typeface="Times New Roman"/>
                <a:cs typeface="Calibri"/>
              </a:rPr>
              <a:t> </a:t>
            </a:r>
            <a:r>
              <a:rPr sz="2150" dirty="0">
                <a:latin typeface="Times New Roman"/>
                <a:cs typeface="Calibri"/>
              </a:rPr>
              <a:t>observe</a:t>
            </a:r>
            <a:r>
              <a:rPr sz="2150" spc="-65" dirty="0">
                <a:latin typeface="Times New Roman"/>
                <a:cs typeface="Calibri"/>
              </a:rPr>
              <a:t> </a:t>
            </a:r>
            <a:r>
              <a:rPr sz="2150" dirty="0">
                <a:latin typeface="Times New Roman"/>
                <a:cs typeface="Calibri"/>
              </a:rPr>
              <a:t>across</a:t>
            </a:r>
            <a:r>
              <a:rPr sz="2150" spc="-30" dirty="0">
                <a:latin typeface="Times New Roman"/>
                <a:cs typeface="Calibri"/>
              </a:rPr>
              <a:t> </a:t>
            </a:r>
            <a:r>
              <a:rPr sz="2150" dirty="0">
                <a:latin typeface="Times New Roman"/>
                <a:cs typeface="Calibri"/>
              </a:rPr>
              <a:t>release</a:t>
            </a:r>
            <a:r>
              <a:rPr sz="2150" spc="-45" dirty="0">
                <a:latin typeface="Times New Roman"/>
                <a:cs typeface="Calibri"/>
              </a:rPr>
              <a:t> </a:t>
            </a:r>
            <a:r>
              <a:rPr sz="2150" spc="-10" dirty="0">
                <a:latin typeface="Times New Roman"/>
                <a:cs typeface="Calibri"/>
              </a:rPr>
              <a:t>years?</a:t>
            </a:r>
            <a:endParaRPr sz="2150" dirty="0">
              <a:latin typeface="Times New Roman"/>
              <a:cs typeface="Calibri"/>
            </a:endParaRPr>
          </a:p>
          <a:p>
            <a:pPr marL="295910" indent="-283210">
              <a:lnSpc>
                <a:spcPct val="150000"/>
              </a:lnSpc>
              <a:spcBef>
                <a:spcPts val="50"/>
              </a:spcBef>
              <a:buSzPct val="67441"/>
              <a:buFont typeface="Arial MT"/>
              <a:buChar char="•"/>
              <a:tabLst>
                <a:tab pos="295910" algn="l"/>
              </a:tabLst>
            </a:pPr>
            <a:r>
              <a:rPr sz="2150" dirty="0">
                <a:latin typeface="Times New Roman"/>
                <a:cs typeface="Calibri"/>
              </a:rPr>
              <a:t>What</a:t>
            </a:r>
            <a:r>
              <a:rPr sz="2150" spc="-40" dirty="0">
                <a:latin typeface="Times New Roman"/>
                <a:cs typeface="Calibri"/>
              </a:rPr>
              <a:t> </a:t>
            </a:r>
            <a:r>
              <a:rPr sz="2150" dirty="0">
                <a:latin typeface="Times New Roman"/>
                <a:cs typeface="Calibri"/>
              </a:rPr>
              <a:t>did</a:t>
            </a:r>
            <a:r>
              <a:rPr sz="2150" spc="-40" dirty="0">
                <a:latin typeface="Times New Roman"/>
                <a:cs typeface="Calibri"/>
              </a:rPr>
              <a:t> </a:t>
            </a:r>
            <a:r>
              <a:rPr sz="2150" dirty="0">
                <a:latin typeface="Times New Roman"/>
                <a:cs typeface="Calibri"/>
              </a:rPr>
              <a:t>the</a:t>
            </a:r>
            <a:r>
              <a:rPr sz="2150" spc="-45" dirty="0">
                <a:latin typeface="Times New Roman"/>
                <a:cs typeface="Calibri"/>
              </a:rPr>
              <a:t> </a:t>
            </a:r>
            <a:r>
              <a:rPr sz="2150" dirty="0">
                <a:latin typeface="Times New Roman"/>
                <a:cs typeface="Calibri"/>
              </a:rPr>
              <a:t>correlation</a:t>
            </a:r>
            <a:r>
              <a:rPr sz="2150" spc="-25" dirty="0">
                <a:latin typeface="Times New Roman"/>
                <a:cs typeface="Calibri"/>
              </a:rPr>
              <a:t> </a:t>
            </a:r>
            <a:r>
              <a:rPr sz="2150" dirty="0">
                <a:latin typeface="Times New Roman"/>
                <a:cs typeface="Calibri"/>
              </a:rPr>
              <a:t>heatmap</a:t>
            </a:r>
            <a:r>
              <a:rPr sz="2150" spc="-60" dirty="0">
                <a:latin typeface="Times New Roman"/>
                <a:cs typeface="Calibri"/>
              </a:rPr>
              <a:t> </a:t>
            </a:r>
            <a:r>
              <a:rPr sz="2150" dirty="0">
                <a:latin typeface="Times New Roman"/>
                <a:cs typeface="Calibri"/>
              </a:rPr>
              <a:t>reveal</a:t>
            </a:r>
            <a:r>
              <a:rPr sz="2150" spc="-50" dirty="0">
                <a:latin typeface="Times New Roman"/>
                <a:cs typeface="Calibri"/>
              </a:rPr>
              <a:t> </a:t>
            </a:r>
            <a:r>
              <a:rPr sz="2150" dirty="0">
                <a:latin typeface="Times New Roman"/>
                <a:cs typeface="Calibri"/>
              </a:rPr>
              <a:t>about</a:t>
            </a:r>
            <a:r>
              <a:rPr sz="2150" spc="-40" dirty="0">
                <a:latin typeface="Times New Roman"/>
                <a:cs typeface="Calibri"/>
              </a:rPr>
              <a:t> </a:t>
            </a:r>
            <a:r>
              <a:rPr sz="2150" dirty="0">
                <a:latin typeface="Times New Roman"/>
                <a:cs typeface="Calibri"/>
              </a:rPr>
              <a:t>the</a:t>
            </a:r>
            <a:r>
              <a:rPr sz="2150" spc="-45" dirty="0">
                <a:latin typeface="Times New Roman"/>
                <a:cs typeface="Calibri"/>
              </a:rPr>
              <a:t> </a:t>
            </a:r>
            <a:r>
              <a:rPr sz="2150" spc="-10" dirty="0">
                <a:latin typeface="Times New Roman"/>
                <a:cs typeface="Calibri"/>
              </a:rPr>
              <a:t>dataset?</a:t>
            </a:r>
            <a:endParaRPr sz="2150" dirty="0">
              <a:latin typeface="Times New Roman"/>
              <a:cs typeface="Calibri"/>
            </a:endParaRPr>
          </a:p>
          <a:p>
            <a:pPr marL="295910" indent="-283210">
              <a:lnSpc>
                <a:spcPct val="150000"/>
              </a:lnSpc>
              <a:spcBef>
                <a:spcPts val="45"/>
              </a:spcBef>
              <a:buSzPct val="67441"/>
              <a:buFont typeface="Arial MT"/>
              <a:buChar char="•"/>
              <a:tabLst>
                <a:tab pos="295910" algn="l"/>
              </a:tabLst>
            </a:pPr>
            <a:r>
              <a:rPr sz="2150" dirty="0">
                <a:latin typeface="Times New Roman"/>
                <a:cs typeface="Calibri"/>
              </a:rPr>
              <a:t>Why</a:t>
            </a:r>
            <a:r>
              <a:rPr sz="2150" spc="-35" dirty="0">
                <a:latin typeface="Times New Roman"/>
                <a:cs typeface="Calibri"/>
              </a:rPr>
              <a:t> </a:t>
            </a:r>
            <a:r>
              <a:rPr sz="2150" dirty="0">
                <a:latin typeface="Times New Roman"/>
                <a:cs typeface="Calibri"/>
              </a:rPr>
              <a:t>did</a:t>
            </a:r>
            <a:r>
              <a:rPr sz="2150" spc="-40" dirty="0">
                <a:latin typeface="Times New Roman"/>
                <a:cs typeface="Calibri"/>
              </a:rPr>
              <a:t> </a:t>
            </a:r>
            <a:r>
              <a:rPr sz="2150" dirty="0">
                <a:latin typeface="Times New Roman"/>
                <a:cs typeface="Calibri"/>
              </a:rPr>
              <a:t>you</a:t>
            </a:r>
            <a:r>
              <a:rPr sz="2150" spc="-40" dirty="0">
                <a:latin typeface="Times New Roman"/>
                <a:cs typeface="Calibri"/>
              </a:rPr>
              <a:t> </a:t>
            </a:r>
            <a:r>
              <a:rPr sz="2150" dirty="0">
                <a:latin typeface="Times New Roman"/>
                <a:cs typeface="Calibri"/>
              </a:rPr>
              <a:t>retain</a:t>
            </a:r>
            <a:r>
              <a:rPr sz="2150" spc="-35" dirty="0">
                <a:latin typeface="Times New Roman"/>
                <a:cs typeface="Calibri"/>
              </a:rPr>
              <a:t> </a:t>
            </a:r>
            <a:r>
              <a:rPr sz="2150" dirty="0">
                <a:latin typeface="Times New Roman"/>
                <a:cs typeface="Calibri"/>
              </a:rPr>
              <a:t>outliers</a:t>
            </a:r>
            <a:r>
              <a:rPr sz="2150" spc="-30" dirty="0">
                <a:latin typeface="Times New Roman"/>
                <a:cs typeface="Calibri"/>
              </a:rPr>
              <a:t> </a:t>
            </a:r>
            <a:r>
              <a:rPr sz="2150" dirty="0">
                <a:latin typeface="Times New Roman"/>
                <a:cs typeface="Calibri"/>
              </a:rPr>
              <a:t>instead</a:t>
            </a:r>
            <a:r>
              <a:rPr sz="2150" spc="-60" dirty="0">
                <a:latin typeface="Times New Roman"/>
                <a:cs typeface="Calibri"/>
              </a:rPr>
              <a:t> </a:t>
            </a:r>
            <a:r>
              <a:rPr sz="2150" dirty="0">
                <a:latin typeface="Times New Roman"/>
                <a:cs typeface="Calibri"/>
              </a:rPr>
              <a:t>of</a:t>
            </a:r>
            <a:r>
              <a:rPr sz="2150" spc="-40" dirty="0">
                <a:latin typeface="Times New Roman"/>
                <a:cs typeface="Calibri"/>
              </a:rPr>
              <a:t> </a:t>
            </a:r>
            <a:r>
              <a:rPr sz="2150" dirty="0">
                <a:latin typeface="Times New Roman"/>
                <a:cs typeface="Calibri"/>
              </a:rPr>
              <a:t>removing</a:t>
            </a:r>
            <a:r>
              <a:rPr sz="2150" spc="-30" dirty="0">
                <a:latin typeface="Times New Roman"/>
                <a:cs typeface="Calibri"/>
              </a:rPr>
              <a:t> </a:t>
            </a:r>
            <a:r>
              <a:rPr sz="2150" spc="-10" dirty="0">
                <a:latin typeface="Times New Roman"/>
                <a:cs typeface="Calibri"/>
              </a:rPr>
              <a:t>them?</a:t>
            </a:r>
            <a:endParaRPr sz="2150" dirty="0">
              <a:latin typeface="Times New Roman"/>
              <a:cs typeface="Calibri"/>
            </a:endParaRPr>
          </a:p>
          <a:p>
            <a:pPr marL="295910" indent="-283210">
              <a:lnSpc>
                <a:spcPct val="150000"/>
              </a:lnSpc>
              <a:spcBef>
                <a:spcPts val="50"/>
              </a:spcBef>
              <a:buSzPct val="67441"/>
              <a:buFont typeface="Arial MT"/>
              <a:buChar char="•"/>
              <a:tabLst>
                <a:tab pos="295910" algn="l"/>
              </a:tabLst>
            </a:pPr>
            <a:r>
              <a:rPr sz="2150" dirty="0">
                <a:latin typeface="Times New Roman"/>
                <a:cs typeface="Calibri"/>
              </a:rPr>
              <a:t>What</a:t>
            </a:r>
            <a:r>
              <a:rPr sz="2150" spc="-35" dirty="0">
                <a:latin typeface="Times New Roman"/>
                <a:cs typeface="Calibri"/>
              </a:rPr>
              <a:t> </a:t>
            </a:r>
            <a:r>
              <a:rPr sz="2150" dirty="0">
                <a:latin typeface="Times New Roman"/>
                <a:cs typeface="Calibri"/>
              </a:rPr>
              <a:t>challenges</a:t>
            </a:r>
            <a:r>
              <a:rPr sz="2150" spc="-40" dirty="0">
                <a:latin typeface="Times New Roman"/>
                <a:cs typeface="Calibri"/>
              </a:rPr>
              <a:t> </a:t>
            </a:r>
            <a:r>
              <a:rPr sz="2150" dirty="0">
                <a:latin typeface="Times New Roman"/>
                <a:cs typeface="Calibri"/>
              </a:rPr>
              <a:t>did</a:t>
            </a:r>
            <a:r>
              <a:rPr sz="2150" spc="-30" dirty="0">
                <a:latin typeface="Times New Roman"/>
                <a:cs typeface="Calibri"/>
              </a:rPr>
              <a:t> </a:t>
            </a:r>
            <a:r>
              <a:rPr sz="2150" dirty="0">
                <a:latin typeface="Times New Roman"/>
                <a:cs typeface="Calibri"/>
              </a:rPr>
              <a:t>you</a:t>
            </a:r>
            <a:r>
              <a:rPr sz="2150" spc="-35" dirty="0">
                <a:latin typeface="Times New Roman"/>
                <a:cs typeface="Calibri"/>
              </a:rPr>
              <a:t> </a:t>
            </a:r>
            <a:r>
              <a:rPr sz="2150" dirty="0">
                <a:latin typeface="Times New Roman"/>
                <a:cs typeface="Calibri"/>
              </a:rPr>
              <a:t>face</a:t>
            </a:r>
            <a:r>
              <a:rPr sz="2150" spc="-50" dirty="0">
                <a:latin typeface="Times New Roman"/>
                <a:cs typeface="Calibri"/>
              </a:rPr>
              <a:t> </a:t>
            </a:r>
            <a:r>
              <a:rPr sz="2150" dirty="0">
                <a:latin typeface="Times New Roman"/>
                <a:cs typeface="Calibri"/>
              </a:rPr>
              <a:t>during</a:t>
            </a:r>
            <a:r>
              <a:rPr sz="2150" spc="-40" dirty="0">
                <a:latin typeface="Times New Roman"/>
                <a:cs typeface="Calibri"/>
              </a:rPr>
              <a:t> </a:t>
            </a:r>
            <a:r>
              <a:rPr sz="2150" dirty="0">
                <a:latin typeface="Times New Roman"/>
                <a:cs typeface="Calibri"/>
              </a:rPr>
              <a:t>data</a:t>
            </a:r>
            <a:r>
              <a:rPr sz="2150" spc="-40" dirty="0">
                <a:latin typeface="Times New Roman"/>
                <a:cs typeface="Calibri"/>
              </a:rPr>
              <a:t> </a:t>
            </a:r>
            <a:r>
              <a:rPr sz="2150" spc="-10" dirty="0">
                <a:latin typeface="Times New Roman"/>
                <a:cs typeface="Calibri"/>
              </a:rPr>
              <a:t>cleaning?</a:t>
            </a:r>
            <a:endParaRPr sz="2150" dirty="0">
              <a:latin typeface="Times New Roman"/>
              <a:cs typeface="Calibri"/>
            </a:endParaRPr>
          </a:p>
          <a:p>
            <a:pPr marL="295910" indent="-283210">
              <a:lnSpc>
                <a:spcPct val="150000"/>
              </a:lnSpc>
              <a:spcBef>
                <a:spcPts val="45"/>
              </a:spcBef>
              <a:buSzPct val="67441"/>
              <a:buFont typeface="Arial MT"/>
              <a:buChar char="•"/>
              <a:tabLst>
                <a:tab pos="295910" algn="l"/>
              </a:tabLst>
            </a:pPr>
            <a:r>
              <a:rPr sz="2150" dirty="0">
                <a:latin typeface="Times New Roman"/>
                <a:cs typeface="Calibri"/>
              </a:rPr>
              <a:t>What</a:t>
            </a:r>
            <a:r>
              <a:rPr sz="2150" spc="-40" dirty="0">
                <a:latin typeface="Times New Roman"/>
                <a:cs typeface="Calibri"/>
              </a:rPr>
              <a:t> </a:t>
            </a:r>
            <a:r>
              <a:rPr sz="2150" dirty="0">
                <a:latin typeface="Times New Roman"/>
                <a:cs typeface="Calibri"/>
              </a:rPr>
              <a:t>key</a:t>
            </a:r>
            <a:r>
              <a:rPr sz="2150" spc="-30" dirty="0">
                <a:latin typeface="Times New Roman"/>
                <a:cs typeface="Calibri"/>
              </a:rPr>
              <a:t> </a:t>
            </a:r>
            <a:r>
              <a:rPr sz="2150" dirty="0">
                <a:latin typeface="Times New Roman"/>
                <a:cs typeface="Calibri"/>
              </a:rPr>
              <a:t>steps</a:t>
            </a:r>
            <a:r>
              <a:rPr sz="2150" spc="-50" dirty="0">
                <a:latin typeface="Times New Roman"/>
                <a:cs typeface="Calibri"/>
              </a:rPr>
              <a:t> </a:t>
            </a:r>
            <a:r>
              <a:rPr sz="2150" dirty="0">
                <a:latin typeface="Times New Roman"/>
                <a:cs typeface="Calibri"/>
              </a:rPr>
              <a:t>did</a:t>
            </a:r>
            <a:r>
              <a:rPr sz="2150" spc="-35" dirty="0">
                <a:latin typeface="Times New Roman"/>
                <a:cs typeface="Calibri"/>
              </a:rPr>
              <a:t> </a:t>
            </a:r>
            <a:r>
              <a:rPr sz="2150" dirty="0">
                <a:latin typeface="Times New Roman"/>
                <a:cs typeface="Calibri"/>
              </a:rPr>
              <a:t>you</a:t>
            </a:r>
            <a:r>
              <a:rPr sz="2150" spc="-35" dirty="0">
                <a:latin typeface="Times New Roman"/>
                <a:cs typeface="Calibri"/>
              </a:rPr>
              <a:t> </a:t>
            </a:r>
            <a:r>
              <a:rPr sz="2150" dirty="0">
                <a:latin typeface="Times New Roman"/>
                <a:cs typeface="Calibri"/>
              </a:rPr>
              <a:t>take</a:t>
            </a:r>
            <a:r>
              <a:rPr sz="2150" spc="-45" dirty="0">
                <a:latin typeface="Times New Roman"/>
                <a:cs typeface="Calibri"/>
              </a:rPr>
              <a:t> </a:t>
            </a:r>
            <a:r>
              <a:rPr sz="2150" dirty="0">
                <a:latin typeface="Times New Roman"/>
                <a:cs typeface="Calibri"/>
              </a:rPr>
              <a:t>to</a:t>
            </a:r>
            <a:r>
              <a:rPr sz="2150" spc="-20" dirty="0">
                <a:latin typeface="Times New Roman"/>
                <a:cs typeface="Calibri"/>
              </a:rPr>
              <a:t> </a:t>
            </a:r>
            <a:r>
              <a:rPr sz="2150" dirty="0">
                <a:latin typeface="Times New Roman"/>
                <a:cs typeface="Calibri"/>
              </a:rPr>
              <a:t>prepare</a:t>
            </a:r>
            <a:r>
              <a:rPr sz="2150" spc="-20" dirty="0">
                <a:latin typeface="Times New Roman"/>
                <a:cs typeface="Calibri"/>
              </a:rPr>
              <a:t> </a:t>
            </a:r>
            <a:r>
              <a:rPr sz="2150" dirty="0">
                <a:latin typeface="Times New Roman"/>
                <a:cs typeface="Calibri"/>
              </a:rPr>
              <a:t>the</a:t>
            </a:r>
            <a:r>
              <a:rPr sz="2150" spc="-60" dirty="0">
                <a:latin typeface="Times New Roman"/>
                <a:cs typeface="Calibri"/>
              </a:rPr>
              <a:t> </a:t>
            </a:r>
            <a:r>
              <a:rPr sz="2150" dirty="0">
                <a:latin typeface="Times New Roman"/>
                <a:cs typeface="Calibri"/>
              </a:rPr>
              <a:t>dataset</a:t>
            </a:r>
            <a:r>
              <a:rPr sz="2150" spc="-35" dirty="0">
                <a:latin typeface="Times New Roman"/>
                <a:cs typeface="Calibri"/>
              </a:rPr>
              <a:t> </a:t>
            </a:r>
            <a:r>
              <a:rPr sz="2150" dirty="0">
                <a:latin typeface="Times New Roman"/>
                <a:cs typeface="Calibri"/>
              </a:rPr>
              <a:t>for</a:t>
            </a:r>
            <a:r>
              <a:rPr sz="2150" spc="-25" dirty="0">
                <a:latin typeface="Times New Roman"/>
                <a:cs typeface="Calibri"/>
              </a:rPr>
              <a:t> </a:t>
            </a:r>
            <a:r>
              <a:rPr sz="2150" spc="-20" dirty="0">
                <a:latin typeface="Times New Roman"/>
                <a:cs typeface="Calibri"/>
              </a:rPr>
              <a:t>EDA?</a:t>
            </a:r>
            <a:endParaRPr sz="2150" dirty="0">
              <a:latin typeface="Times New Roman"/>
              <a:cs typeface="Calibri"/>
            </a:endParaRPr>
          </a:p>
          <a:p>
            <a:pPr marL="295910" indent="-283210">
              <a:lnSpc>
                <a:spcPct val="150000"/>
              </a:lnSpc>
              <a:spcBef>
                <a:spcPts val="50"/>
              </a:spcBef>
              <a:buSzPct val="67441"/>
              <a:buFont typeface="Arial MT"/>
              <a:buChar char="•"/>
              <a:tabLst>
                <a:tab pos="295910" algn="l"/>
              </a:tabLst>
            </a:pPr>
            <a:r>
              <a:rPr sz="2150" dirty="0">
                <a:latin typeface="Times New Roman"/>
                <a:cs typeface="Calibri"/>
              </a:rPr>
              <a:t>How</a:t>
            </a:r>
            <a:r>
              <a:rPr sz="2150" spc="-35" dirty="0">
                <a:latin typeface="Times New Roman"/>
                <a:cs typeface="Calibri"/>
              </a:rPr>
              <a:t> </a:t>
            </a:r>
            <a:r>
              <a:rPr sz="2150" dirty="0">
                <a:latin typeface="Times New Roman"/>
                <a:cs typeface="Calibri"/>
              </a:rPr>
              <a:t>do</a:t>
            </a:r>
            <a:r>
              <a:rPr sz="2150" spc="-35" dirty="0">
                <a:latin typeface="Times New Roman"/>
                <a:cs typeface="Calibri"/>
              </a:rPr>
              <a:t> </a:t>
            </a:r>
            <a:r>
              <a:rPr sz="2150" dirty="0">
                <a:latin typeface="Times New Roman"/>
                <a:cs typeface="Calibri"/>
              </a:rPr>
              <a:t>ratings</a:t>
            </a:r>
            <a:r>
              <a:rPr sz="2150" spc="-25" dirty="0">
                <a:latin typeface="Times New Roman"/>
                <a:cs typeface="Calibri"/>
              </a:rPr>
              <a:t> </a:t>
            </a:r>
            <a:r>
              <a:rPr sz="2150" dirty="0">
                <a:latin typeface="Times New Roman"/>
                <a:cs typeface="Calibri"/>
              </a:rPr>
              <a:t>differ</a:t>
            </a:r>
            <a:r>
              <a:rPr sz="2150" spc="-60" dirty="0">
                <a:latin typeface="Times New Roman"/>
                <a:cs typeface="Calibri"/>
              </a:rPr>
              <a:t> </a:t>
            </a:r>
            <a:r>
              <a:rPr sz="2150" dirty="0">
                <a:latin typeface="Times New Roman"/>
                <a:cs typeface="Calibri"/>
              </a:rPr>
              <a:t>from</a:t>
            </a:r>
            <a:r>
              <a:rPr sz="2150" spc="-20" dirty="0">
                <a:latin typeface="Times New Roman"/>
                <a:cs typeface="Calibri"/>
              </a:rPr>
              <a:t> </a:t>
            </a:r>
            <a:r>
              <a:rPr sz="2150" spc="-10" dirty="0">
                <a:latin typeface="Times New Roman"/>
                <a:cs typeface="Calibri"/>
              </a:rPr>
              <a:t>popularity?</a:t>
            </a:r>
            <a:endParaRPr sz="2150" dirty="0">
              <a:latin typeface="Times New Roman"/>
              <a:cs typeface="Calibri"/>
            </a:endParaRPr>
          </a:p>
          <a:p>
            <a:pPr marL="295910" indent="-283210">
              <a:lnSpc>
                <a:spcPct val="150000"/>
              </a:lnSpc>
              <a:spcBef>
                <a:spcPts val="35"/>
              </a:spcBef>
              <a:buSzPct val="67441"/>
              <a:buFont typeface="Arial MT"/>
              <a:buChar char="•"/>
              <a:tabLst>
                <a:tab pos="295910" algn="l"/>
              </a:tabLst>
            </a:pPr>
            <a:r>
              <a:rPr sz="2150" dirty="0">
                <a:latin typeface="Times New Roman"/>
                <a:cs typeface="Calibri"/>
              </a:rPr>
              <a:t>What</a:t>
            </a:r>
            <a:r>
              <a:rPr sz="2150" spc="-40" dirty="0">
                <a:latin typeface="Times New Roman"/>
                <a:cs typeface="Calibri"/>
              </a:rPr>
              <a:t> </a:t>
            </a:r>
            <a:r>
              <a:rPr sz="2150" dirty="0">
                <a:latin typeface="Times New Roman"/>
                <a:cs typeface="Calibri"/>
              </a:rPr>
              <a:t>future</a:t>
            </a:r>
            <a:r>
              <a:rPr sz="2150" spc="-45" dirty="0">
                <a:latin typeface="Times New Roman"/>
                <a:cs typeface="Calibri"/>
              </a:rPr>
              <a:t> </a:t>
            </a:r>
            <a:r>
              <a:rPr sz="2150" dirty="0">
                <a:latin typeface="Times New Roman"/>
                <a:cs typeface="Calibri"/>
              </a:rPr>
              <a:t>improvements</a:t>
            </a:r>
            <a:r>
              <a:rPr sz="2150" spc="-55" dirty="0">
                <a:latin typeface="Times New Roman"/>
                <a:cs typeface="Calibri"/>
              </a:rPr>
              <a:t> </a:t>
            </a:r>
            <a:r>
              <a:rPr sz="2150" dirty="0">
                <a:latin typeface="Times New Roman"/>
                <a:cs typeface="Calibri"/>
              </a:rPr>
              <a:t>can</a:t>
            </a:r>
            <a:r>
              <a:rPr sz="2150" spc="-60" dirty="0">
                <a:latin typeface="Times New Roman"/>
                <a:cs typeface="Calibri"/>
              </a:rPr>
              <a:t> </a:t>
            </a:r>
            <a:r>
              <a:rPr sz="2150" dirty="0">
                <a:latin typeface="Times New Roman"/>
                <a:cs typeface="Calibri"/>
              </a:rPr>
              <a:t>be</a:t>
            </a:r>
            <a:r>
              <a:rPr sz="2150" spc="-25" dirty="0">
                <a:latin typeface="Times New Roman"/>
                <a:cs typeface="Calibri"/>
              </a:rPr>
              <a:t> </a:t>
            </a:r>
            <a:r>
              <a:rPr sz="2150" dirty="0">
                <a:latin typeface="Times New Roman"/>
                <a:cs typeface="Calibri"/>
              </a:rPr>
              <a:t>added</a:t>
            </a:r>
            <a:r>
              <a:rPr sz="2150" spc="-40" dirty="0">
                <a:latin typeface="Times New Roman"/>
                <a:cs typeface="Calibri"/>
              </a:rPr>
              <a:t> </a:t>
            </a:r>
            <a:r>
              <a:rPr sz="2150" dirty="0">
                <a:latin typeface="Times New Roman"/>
                <a:cs typeface="Calibri"/>
              </a:rPr>
              <a:t>to</a:t>
            </a:r>
            <a:r>
              <a:rPr sz="2150" spc="-25" dirty="0">
                <a:latin typeface="Times New Roman"/>
                <a:cs typeface="Calibri"/>
              </a:rPr>
              <a:t> </a:t>
            </a:r>
            <a:r>
              <a:rPr sz="2150" dirty="0">
                <a:latin typeface="Times New Roman"/>
                <a:cs typeface="Calibri"/>
              </a:rPr>
              <a:t>this</a:t>
            </a:r>
            <a:r>
              <a:rPr sz="2150" spc="-55" dirty="0">
                <a:latin typeface="Times New Roman"/>
                <a:cs typeface="Calibri"/>
              </a:rPr>
              <a:t> </a:t>
            </a:r>
            <a:r>
              <a:rPr sz="2150" spc="-10" dirty="0">
                <a:latin typeface="Times New Roman"/>
                <a:cs typeface="Calibri"/>
              </a:rPr>
              <a:t>project?</a:t>
            </a:r>
            <a:endParaRPr sz="2150">
              <a:latin typeface="Times New Roman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4202" y="470675"/>
            <a:ext cx="8521005" cy="1055177"/>
          </a:xfrm>
          <a:prstGeom prst="rect">
            <a:avLst/>
          </a:prstGeom>
        </p:spPr>
        <p:txBody>
          <a:bodyPr vert="horz" wrap="square" lIns="0" tIns="361567" rIns="0" bIns="0" rtlCol="0">
            <a:spAutoFit/>
          </a:bodyPr>
          <a:lstStyle/>
          <a:p>
            <a:pPr marL="53340">
              <a:lnSpc>
                <a:spcPct val="100000"/>
              </a:lnSpc>
              <a:spcBef>
                <a:spcPts val="135"/>
              </a:spcBef>
            </a:pPr>
            <a:r>
              <a:rPr dirty="0"/>
              <a:t>Experience–</a:t>
            </a:r>
            <a:r>
              <a:rPr spc="-30" dirty="0"/>
              <a:t> </a:t>
            </a:r>
            <a:r>
              <a:rPr dirty="0"/>
              <a:t>Web</a:t>
            </a:r>
            <a:r>
              <a:rPr spc="50" dirty="0"/>
              <a:t> </a:t>
            </a:r>
            <a:r>
              <a:rPr dirty="0"/>
              <a:t>Scraping</a:t>
            </a:r>
            <a:r>
              <a:rPr spc="10" dirty="0"/>
              <a:t> </a:t>
            </a:r>
            <a:r>
              <a:rPr dirty="0"/>
              <a:t>&amp;</a:t>
            </a:r>
            <a:r>
              <a:rPr spc="20" dirty="0"/>
              <a:t> </a:t>
            </a:r>
            <a:r>
              <a:rPr dirty="0"/>
              <a:t>Data</a:t>
            </a:r>
            <a:r>
              <a:rPr spc="75" dirty="0"/>
              <a:t> </a:t>
            </a:r>
            <a:r>
              <a:rPr spc="-10" dirty="0"/>
              <a:t>Analysis: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5979" y="1651283"/>
            <a:ext cx="6570345" cy="3122458"/>
          </a:xfrm>
          <a:prstGeom prst="rect">
            <a:avLst/>
          </a:prstGeom>
        </p:spPr>
        <p:txBody>
          <a:bodyPr vert="horz" wrap="square" lIns="0" tIns="137160" rIns="0" bIns="0" rtlCol="0" anchor="t">
            <a:spAutoFit/>
          </a:bodyPr>
          <a:lstStyle/>
          <a:p>
            <a:pPr marL="295910" indent="-283210">
              <a:lnSpc>
                <a:spcPct val="150000"/>
              </a:lnSpc>
              <a:spcBef>
                <a:spcPts val="1080"/>
              </a:spcBef>
              <a:buFont typeface="Arial MT"/>
              <a:buChar char="•"/>
              <a:tabLst>
                <a:tab pos="295910" algn="l"/>
              </a:tabLst>
            </a:pPr>
            <a:r>
              <a:rPr sz="2000" dirty="0">
                <a:latin typeface="Times New Roman"/>
                <a:cs typeface="Times New Roman"/>
              </a:rPr>
              <a:t>Scraped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TMDB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multiple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websites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using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Python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(Api’s,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pandas).</a:t>
            </a:r>
            <a:endParaRPr sz="2000" dirty="0">
              <a:latin typeface="Times New Roman"/>
              <a:cs typeface="Times New Roman"/>
            </a:endParaRPr>
          </a:p>
          <a:p>
            <a:pPr marL="295910" indent="-283210">
              <a:lnSpc>
                <a:spcPct val="150000"/>
              </a:lnSpc>
              <a:spcBef>
                <a:spcPts val="985"/>
              </a:spcBef>
              <a:buFont typeface="Arial MT"/>
              <a:buChar char="•"/>
              <a:tabLst>
                <a:tab pos="295910" algn="l"/>
              </a:tabLst>
            </a:pPr>
            <a:r>
              <a:rPr sz="2000" dirty="0">
                <a:latin typeface="Times New Roman"/>
                <a:cs typeface="Times New Roman"/>
              </a:rPr>
              <a:t>Cleaned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standardized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.</a:t>
            </a:r>
            <a:endParaRPr sz="2000" dirty="0">
              <a:latin typeface="Times New Roman"/>
              <a:cs typeface="Times New Roman"/>
            </a:endParaRPr>
          </a:p>
          <a:p>
            <a:pPr marL="295910" indent="-283210">
              <a:lnSpc>
                <a:spcPct val="150000"/>
              </a:lnSpc>
              <a:spcBef>
                <a:spcPts val="994"/>
              </a:spcBef>
              <a:buFont typeface="Arial MT"/>
              <a:buChar char="•"/>
              <a:tabLst>
                <a:tab pos="295910" algn="l"/>
              </a:tabLst>
            </a:pPr>
            <a:r>
              <a:rPr sz="2000" dirty="0">
                <a:latin typeface="Times New Roman"/>
                <a:cs typeface="Times New Roman"/>
              </a:rPr>
              <a:t>Created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visualizations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showing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trends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top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10</a:t>
            </a:r>
            <a:r>
              <a:rPr sz="2000" spc="-10" dirty="0">
                <a:latin typeface="Times New Roman"/>
                <a:cs typeface="Times New Roman"/>
              </a:rPr>
              <a:t> movies.</a:t>
            </a:r>
            <a:endParaRPr sz="2000" dirty="0">
              <a:latin typeface="Times New Roman"/>
              <a:cs typeface="Times New Roman"/>
            </a:endParaRPr>
          </a:p>
          <a:p>
            <a:pPr marL="295910" marR="130810" indent="-283845">
              <a:lnSpc>
                <a:spcPct val="150000"/>
              </a:lnSpc>
              <a:spcBef>
                <a:spcPts val="85"/>
              </a:spcBef>
              <a:buFont typeface="Arial MT"/>
              <a:buChar char="•"/>
              <a:tabLst>
                <a:tab pos="295910" algn="l"/>
              </a:tabLst>
            </a:pPr>
            <a:r>
              <a:rPr sz="2000" dirty="0">
                <a:latin typeface="Times New Roman"/>
                <a:cs typeface="Times New Roman"/>
              </a:rPr>
              <a:t>Learned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end-to-</a:t>
            </a:r>
            <a:r>
              <a:rPr sz="2000" dirty="0">
                <a:latin typeface="Times New Roman"/>
                <a:cs typeface="Times New Roman"/>
              </a:rPr>
              <a:t>end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workflow: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scraping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→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cleaning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→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analysis</a:t>
            </a:r>
            <a:r>
              <a:rPr sz="2000" b="1" spc="-50" dirty="0">
                <a:latin typeface="Times New Roman"/>
                <a:cs typeface="Times New Roman"/>
              </a:rPr>
              <a:t> → </a:t>
            </a:r>
            <a:r>
              <a:rPr sz="2000" b="1" spc="-10" dirty="0">
                <a:latin typeface="Times New Roman"/>
                <a:cs typeface="Times New Roman"/>
              </a:rPr>
              <a:t>visualization.</a:t>
            </a:r>
            <a:endParaRPr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5412" y="540279"/>
            <a:ext cx="8521005" cy="1055177"/>
          </a:xfrm>
          <a:prstGeom prst="rect">
            <a:avLst/>
          </a:prstGeom>
        </p:spPr>
        <p:txBody>
          <a:bodyPr vert="horz" wrap="square" lIns="0" tIns="492567" rIns="0" bIns="0" rtlCol="0">
            <a:spAutoFit/>
          </a:bodyPr>
          <a:lstStyle/>
          <a:p>
            <a:pPr marL="53340">
              <a:lnSpc>
                <a:spcPct val="100000"/>
              </a:lnSpc>
              <a:spcBef>
                <a:spcPts val="135"/>
              </a:spcBef>
            </a:pPr>
            <a:r>
              <a:rPr dirty="0"/>
              <a:t>Challenges</a:t>
            </a:r>
            <a:r>
              <a:rPr spc="25" dirty="0"/>
              <a:t> </a:t>
            </a:r>
            <a:r>
              <a:rPr dirty="0"/>
              <a:t>–</a:t>
            </a:r>
            <a:r>
              <a:rPr spc="35" dirty="0"/>
              <a:t> </a:t>
            </a:r>
            <a:r>
              <a:rPr dirty="0"/>
              <a:t>Web</a:t>
            </a:r>
            <a:r>
              <a:rPr spc="30" dirty="0"/>
              <a:t> </a:t>
            </a:r>
            <a:r>
              <a:rPr dirty="0"/>
              <a:t>Scraping</a:t>
            </a:r>
            <a:r>
              <a:rPr spc="35" dirty="0"/>
              <a:t> </a:t>
            </a:r>
            <a:r>
              <a:rPr dirty="0"/>
              <a:t>&amp;</a:t>
            </a:r>
            <a:r>
              <a:rPr spc="5" dirty="0"/>
              <a:t> </a:t>
            </a:r>
            <a:r>
              <a:rPr dirty="0"/>
              <a:t>Data</a:t>
            </a:r>
            <a:r>
              <a:rPr spc="25" dirty="0"/>
              <a:t> </a:t>
            </a:r>
            <a:r>
              <a:rPr spc="-10" dirty="0"/>
              <a:t>Analysis: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25024" y="1948251"/>
            <a:ext cx="4283710" cy="2288540"/>
          </a:xfrm>
          <a:prstGeom prst="rect">
            <a:avLst/>
          </a:prstGeom>
        </p:spPr>
        <p:txBody>
          <a:bodyPr vert="horz" wrap="square" lIns="0" tIns="167005" rIns="0" bIns="0" rtlCol="0" anchor="t">
            <a:spAutoFit/>
          </a:bodyPr>
          <a:lstStyle/>
          <a:p>
            <a:pPr marL="295910" indent="-283210">
              <a:lnSpc>
                <a:spcPct val="100000"/>
              </a:lnSpc>
              <a:spcBef>
                <a:spcPts val="1315"/>
              </a:spcBef>
              <a:buFont typeface="Arial MT"/>
              <a:buChar char="•"/>
              <a:tabLst>
                <a:tab pos="295910" algn="l"/>
              </a:tabLst>
            </a:pPr>
            <a:r>
              <a:rPr sz="1950" dirty="0">
                <a:latin typeface="Times New Roman"/>
                <a:cs typeface="Calibri"/>
              </a:rPr>
              <a:t>JSON</a:t>
            </a:r>
            <a:r>
              <a:rPr sz="1950" spc="60" dirty="0">
                <a:latin typeface="Times New Roman"/>
                <a:cs typeface="Calibri"/>
              </a:rPr>
              <a:t> </a:t>
            </a:r>
            <a:r>
              <a:rPr sz="1950" dirty="0">
                <a:latin typeface="Times New Roman"/>
                <a:cs typeface="Calibri"/>
              </a:rPr>
              <a:t>nested</a:t>
            </a:r>
            <a:r>
              <a:rPr sz="1950" spc="65" dirty="0">
                <a:latin typeface="Times New Roman"/>
                <a:cs typeface="Calibri"/>
              </a:rPr>
              <a:t> </a:t>
            </a:r>
            <a:r>
              <a:rPr sz="1950" dirty="0">
                <a:latin typeface="Times New Roman"/>
                <a:cs typeface="Calibri"/>
              </a:rPr>
              <a:t>structure</a:t>
            </a:r>
            <a:r>
              <a:rPr sz="1950" spc="35" dirty="0">
                <a:latin typeface="Times New Roman"/>
                <a:cs typeface="Calibri"/>
              </a:rPr>
              <a:t> </a:t>
            </a:r>
            <a:r>
              <a:rPr sz="1950" spc="-10" dirty="0">
                <a:latin typeface="Times New Roman"/>
                <a:cs typeface="Calibri"/>
              </a:rPr>
              <a:t>parsing</a:t>
            </a:r>
            <a:endParaRPr sz="1950" dirty="0">
              <a:latin typeface="Times New Roman"/>
              <a:cs typeface="Calibri"/>
            </a:endParaRPr>
          </a:p>
          <a:p>
            <a:pPr marL="295910" indent="-283210">
              <a:lnSpc>
                <a:spcPct val="100000"/>
              </a:lnSpc>
              <a:spcBef>
                <a:spcPts val="1225"/>
              </a:spcBef>
              <a:buFont typeface="Arial MT"/>
              <a:buChar char="•"/>
              <a:tabLst>
                <a:tab pos="295910" algn="l"/>
              </a:tabLst>
            </a:pPr>
            <a:r>
              <a:rPr sz="1950" dirty="0">
                <a:latin typeface="Times New Roman"/>
                <a:cs typeface="Calibri"/>
              </a:rPr>
              <a:t>Genre</a:t>
            </a:r>
            <a:r>
              <a:rPr sz="1950" spc="30" dirty="0">
                <a:latin typeface="Times New Roman"/>
                <a:cs typeface="Calibri"/>
              </a:rPr>
              <a:t> </a:t>
            </a:r>
            <a:r>
              <a:rPr sz="1950" dirty="0">
                <a:latin typeface="Times New Roman"/>
                <a:cs typeface="Calibri"/>
              </a:rPr>
              <a:t>list</a:t>
            </a:r>
            <a:r>
              <a:rPr sz="1950" spc="20" dirty="0">
                <a:latin typeface="Times New Roman"/>
                <a:cs typeface="Calibri"/>
              </a:rPr>
              <a:t> </a:t>
            </a:r>
            <a:r>
              <a:rPr sz="1950" dirty="0">
                <a:latin typeface="Times New Roman"/>
                <a:cs typeface="Calibri"/>
              </a:rPr>
              <a:t>exploded</a:t>
            </a:r>
            <a:r>
              <a:rPr sz="1950" spc="60" dirty="0">
                <a:latin typeface="Times New Roman"/>
                <a:cs typeface="Calibri"/>
              </a:rPr>
              <a:t> </a:t>
            </a:r>
            <a:r>
              <a:rPr sz="1950" spc="-10" dirty="0">
                <a:latin typeface="Times New Roman"/>
                <a:cs typeface="Calibri"/>
              </a:rPr>
              <a:t>mapping</a:t>
            </a:r>
            <a:endParaRPr sz="1950" dirty="0">
              <a:latin typeface="Times New Roman"/>
              <a:cs typeface="Calibri"/>
            </a:endParaRPr>
          </a:p>
          <a:p>
            <a:pPr marL="295910" indent="-283210">
              <a:lnSpc>
                <a:spcPct val="100000"/>
              </a:lnSpc>
              <a:spcBef>
                <a:spcPts val="1225"/>
              </a:spcBef>
              <a:buFont typeface="Arial MT"/>
              <a:buChar char="•"/>
              <a:tabLst>
                <a:tab pos="295910" algn="l"/>
              </a:tabLst>
            </a:pPr>
            <a:r>
              <a:rPr sz="1950" dirty="0">
                <a:latin typeface="Times New Roman"/>
                <a:cs typeface="Calibri"/>
              </a:rPr>
              <a:t>Handling</a:t>
            </a:r>
            <a:r>
              <a:rPr sz="1950" spc="35" dirty="0">
                <a:latin typeface="Times New Roman"/>
                <a:cs typeface="Calibri"/>
              </a:rPr>
              <a:t> </a:t>
            </a:r>
            <a:r>
              <a:rPr sz="1950" dirty="0">
                <a:latin typeface="Times New Roman"/>
                <a:cs typeface="Calibri"/>
              </a:rPr>
              <a:t>API</a:t>
            </a:r>
            <a:r>
              <a:rPr sz="1950" spc="35" dirty="0">
                <a:latin typeface="Times New Roman"/>
                <a:cs typeface="Calibri"/>
              </a:rPr>
              <a:t> </a:t>
            </a:r>
            <a:r>
              <a:rPr sz="1950" spc="-10" dirty="0">
                <a:latin typeface="Times New Roman"/>
                <a:cs typeface="Calibri"/>
              </a:rPr>
              <a:t>pagination</a:t>
            </a:r>
            <a:endParaRPr sz="1950" dirty="0">
              <a:latin typeface="Times New Roman"/>
              <a:cs typeface="Calibri"/>
            </a:endParaRPr>
          </a:p>
          <a:p>
            <a:pPr marL="295910" indent="-283210">
              <a:lnSpc>
                <a:spcPct val="100000"/>
              </a:lnSpc>
              <a:spcBef>
                <a:spcPts val="1225"/>
              </a:spcBef>
              <a:buFont typeface="Arial MT"/>
              <a:buChar char="•"/>
              <a:tabLst>
                <a:tab pos="295910" algn="l"/>
              </a:tabLst>
            </a:pPr>
            <a:r>
              <a:rPr sz="1950" dirty="0">
                <a:latin typeface="Times New Roman"/>
                <a:cs typeface="Calibri"/>
              </a:rPr>
              <a:t>Duplicate</a:t>
            </a:r>
            <a:r>
              <a:rPr sz="1950" spc="15" dirty="0">
                <a:latin typeface="Times New Roman"/>
                <a:cs typeface="Calibri"/>
              </a:rPr>
              <a:t> </a:t>
            </a:r>
            <a:r>
              <a:rPr sz="1950" dirty="0">
                <a:latin typeface="Times New Roman"/>
                <a:cs typeface="Calibri"/>
              </a:rPr>
              <a:t>titles</a:t>
            </a:r>
            <a:r>
              <a:rPr sz="1950" spc="35" dirty="0">
                <a:latin typeface="Times New Roman"/>
                <a:cs typeface="Calibri"/>
              </a:rPr>
              <a:t> </a:t>
            </a:r>
            <a:r>
              <a:rPr sz="1950" dirty="0">
                <a:latin typeface="Times New Roman"/>
                <a:cs typeface="Calibri"/>
              </a:rPr>
              <a:t>in</a:t>
            </a:r>
            <a:r>
              <a:rPr sz="1950" spc="45" dirty="0">
                <a:latin typeface="Times New Roman"/>
                <a:cs typeface="Calibri"/>
              </a:rPr>
              <a:t> </a:t>
            </a:r>
            <a:r>
              <a:rPr sz="1950" dirty="0">
                <a:latin typeface="Times New Roman"/>
                <a:cs typeface="Calibri"/>
              </a:rPr>
              <a:t>different</a:t>
            </a:r>
            <a:r>
              <a:rPr sz="1950" spc="45" dirty="0">
                <a:latin typeface="Times New Roman"/>
                <a:cs typeface="Calibri"/>
              </a:rPr>
              <a:t> </a:t>
            </a:r>
            <a:r>
              <a:rPr sz="1950" spc="-10" dirty="0">
                <a:latin typeface="Times New Roman"/>
                <a:cs typeface="Calibri"/>
              </a:rPr>
              <a:t>languages</a:t>
            </a:r>
            <a:endParaRPr sz="1950" dirty="0">
              <a:latin typeface="Times New Roman"/>
              <a:cs typeface="Calibri"/>
            </a:endParaRPr>
          </a:p>
          <a:p>
            <a:pPr marL="295910" indent="-283210">
              <a:lnSpc>
                <a:spcPct val="100000"/>
              </a:lnSpc>
              <a:spcBef>
                <a:spcPts val="1220"/>
              </a:spcBef>
              <a:buFont typeface="Arial MT"/>
              <a:buChar char="•"/>
              <a:tabLst>
                <a:tab pos="295910" algn="l"/>
              </a:tabLst>
            </a:pPr>
            <a:r>
              <a:rPr sz="1950" dirty="0">
                <a:latin typeface="Times New Roman"/>
                <a:cs typeface="Calibri"/>
              </a:rPr>
              <a:t>Ensuring</a:t>
            </a:r>
            <a:r>
              <a:rPr sz="1950" spc="15" dirty="0">
                <a:latin typeface="Times New Roman"/>
                <a:cs typeface="Calibri"/>
              </a:rPr>
              <a:t> </a:t>
            </a:r>
            <a:r>
              <a:rPr sz="1950" dirty="0">
                <a:latin typeface="Times New Roman"/>
                <a:cs typeface="Calibri"/>
              </a:rPr>
              <a:t>visuals</a:t>
            </a:r>
            <a:r>
              <a:rPr sz="1950" spc="40" dirty="0">
                <a:latin typeface="Times New Roman"/>
                <a:cs typeface="Calibri"/>
              </a:rPr>
              <a:t> </a:t>
            </a:r>
            <a:r>
              <a:rPr sz="1950" dirty="0">
                <a:latin typeface="Times New Roman"/>
                <a:cs typeface="Calibri"/>
              </a:rPr>
              <a:t>were</a:t>
            </a:r>
            <a:r>
              <a:rPr sz="1950" spc="65" dirty="0">
                <a:latin typeface="Times New Roman"/>
                <a:cs typeface="Calibri"/>
              </a:rPr>
              <a:t> </a:t>
            </a:r>
            <a:r>
              <a:rPr sz="1950" dirty="0">
                <a:latin typeface="Times New Roman"/>
                <a:cs typeface="Calibri"/>
              </a:rPr>
              <a:t>readable</a:t>
            </a:r>
            <a:r>
              <a:rPr sz="1950" spc="45" dirty="0">
                <a:latin typeface="Times New Roman"/>
                <a:cs typeface="Calibri"/>
              </a:rPr>
              <a:t> </a:t>
            </a:r>
            <a:r>
              <a:rPr sz="1950" dirty="0">
                <a:latin typeface="Times New Roman"/>
                <a:cs typeface="Calibri"/>
              </a:rPr>
              <a:t>&amp;</a:t>
            </a:r>
            <a:r>
              <a:rPr sz="1950" spc="40" dirty="0">
                <a:latin typeface="Times New Roman"/>
                <a:cs typeface="Calibri"/>
              </a:rPr>
              <a:t> </a:t>
            </a:r>
            <a:r>
              <a:rPr sz="1950" spc="-10" dirty="0">
                <a:latin typeface="Times New Roman"/>
                <a:cs typeface="Calibri"/>
              </a:rPr>
              <a:t>clean</a:t>
            </a:r>
            <a:endParaRPr sz="1950">
              <a:latin typeface="Times New Roman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5172" y="1629155"/>
            <a:ext cx="8229599" cy="452627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Custom</PresentationFormat>
  <Slides>31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Office Theme</vt:lpstr>
      <vt:lpstr>PowerPoint Presentation</vt:lpstr>
      <vt:lpstr>About Us:</vt:lpstr>
      <vt:lpstr>Introduction: </vt:lpstr>
      <vt:lpstr>Problem Statement:</vt:lpstr>
      <vt:lpstr>Objectives:</vt:lpstr>
      <vt:lpstr>Web Scraping:</vt:lpstr>
      <vt:lpstr>DATA OVERVIEW:</vt:lpstr>
      <vt:lpstr>PowerPoint Presentation</vt:lpstr>
      <vt:lpstr>Tools Used:</vt:lpstr>
      <vt:lpstr>Data Cleaning Steps:</vt:lpstr>
      <vt:lpstr>Univariate Analysis: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Bivariate Analysis </vt:lpstr>
      <vt:lpstr>PowerPoint Presentation</vt:lpstr>
      <vt:lpstr>PowerPoint Presentation</vt:lpstr>
      <vt:lpstr>PowerPoint Presentation</vt:lpstr>
      <vt:lpstr>PowerPoint Presentation</vt:lpstr>
      <vt:lpstr>Multivariate Analysis </vt:lpstr>
      <vt:lpstr>PowerPoint Presentation</vt:lpstr>
      <vt:lpstr>Key Business Insights</vt:lpstr>
      <vt:lpstr>Recommendations:</vt:lpstr>
      <vt:lpstr>Conclusion:</vt:lpstr>
      <vt:lpstr>Q&amp;A:</vt:lpstr>
      <vt:lpstr>Experience– Web Scraping &amp; Data Analysis:</vt:lpstr>
      <vt:lpstr>Challenges – Web Scraping &amp; Data Analysis: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Web_Scrap_Proj_tmdb_Presentation[1].pptx_[Read-Only][1]</dc:title>
  <cp:revision>474</cp:revision>
  <dcterms:created xsi:type="dcterms:W3CDTF">2025-11-20T17:14:56Z</dcterms:created>
  <dcterms:modified xsi:type="dcterms:W3CDTF">2025-11-20T19:22:07Z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2025-11-10T00:00:00Z</vt:filetime>
  </property>
  <property fmtid="{D5CDD505-2E9C-101B-9397-08002B2CF9AE}" pid="3" name="LastSaved">
    <vt:filetime>2025-11-20T00:00:00Z</vt:filetime>
  </property>
  <property fmtid="{D5CDD505-2E9C-101B-9397-08002B2CF9AE}" pid="4" name="Producer">
    <vt:lpwstr>www.ilovepdf.com</vt:lpwstr>
  </property>
</Properties>
</file>